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如何重新定义软件开发》。报告会以 BitFun 的一段真实开发经验为入口，但重点不是复盘项目细节，也不是比较哪个工具更强。真正想讨论的是：当 AI 已经能显著放大代码产出以后，软件工程需要怎样升级，才能把这份速度变成稳定的交付能力。今天的主线可以概括成一句话：从代码产能，到可治理 Agentic SDLC。后面会围绕一组工程控制面关键构件展开：任务契约、隔离执行、验证矩阵、Artifact 包和反馈记忆。AI 不只是帮人写代码，而是逐步进入需求理解、设计、实现、测试、评审、发布和复盘这些环节；软件工程要做的，是用这些构件把概率性的执行过程收敛成可判断、可追责、可复用的工程结果。
转场：先看今天的四个主题，后面每一页都围绕这条主线展开。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讲述目标：用四个与页面章节一致的模块组织全篇：现实观察、行业信号、工程治理、开发者角色。
可选提问：AI 研发的收益，应该看代码量、局部速度，还是端到端风险可控？
讲稿：今天分四个部分。第一，现实观察：从 BitFun 的高吞吐开发经验出发，看 AI 放大代码产出后，验证、评审和维护压力如何变化。第二，行业信号：看主流工具和研究为什么都在从“会不会写代码”转向“能不能进入工程系统”。第三，工程治理：用 BitFun/ADE 的全链路范围做承接，再按需求到任务、实现到验证、评审到交付、发布到运维四个节点展开；这几页会对应任务契约、隔离执行、验证矩阵、Artifact 包和反馈记忆。第四，开发者角色：讨论团队和个人在这个系统里分别需要做什么，尤其是刚进入职场的同学，哪些能力会变得更关键。
转场：先从 BitFun 的实际开发经验进入。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统计把问题落到真实场景：代码增长后，净收益要看端到端周期、评审等待、返工率、失败重跑和线上风险。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行代码，但数字本身不是重点，它更像一个工程压力测试。AI 确实让想法更快变成原型，让个人可以承担过去需要多人探索的工作；但代码更快进入仓库以后，真正的问题会转移到验证覆盖、评审等待、返工闭环和长期维护。换句话说，高吞吐不是净收益的证明，只说明生产环节已经被放大。更合理的净收益口径应该包括端到端周期、评审等待、返工率、失败重跑、线上缺陷与回滚，以及维护者理解成本。团队真正要问的是：这些变更凭什么可以合并，证据是否足够，风险能否回滚，后续维护是否还能看懂。AI 放大的不是单个键盘速度，而是从想法到反馈的回路；如果后面的工程承接没有同步升级，速度也可能变成新的压力。
转场：这个判断不能只靠单个项目经验，接下来先看行业里正在出现的工作方式变化。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则是一个更有趣的工程文化信号：它不是让工程师无原则答应需求，而是要求工程师设计一条能安全说 Yes/Go 的路径。放在一起看，未来 IDE 的边界正在从写代码入口，扩展到 Agent 的身份、运行、协作、审批和证据平台；人的角色也从“我来写”更多转向“我来定义边界、证据和放行条件”。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的产品演进方向：任务委托、治理护栏和证据复盘三类能力最值得优先产品化，并明确 BitFun/ADE 的本地工程上下文定位。
可选提问：如果 IDE 边界已经外扩，BitFun/ADE 后续应该补的是哪些系统能力？
讲稿：如果把这些行业信号拆成产品能力，三个方向最清楚。第一是入口与委托：GitHub Agent HQ、Copilot coding agent 和 Codex Cloud 都把任务从 issue、聊天、CLI 或 IDE 交给独立环境执行，再把结果回到分支和 PR。第二是治理与护栏：GitHub 的 model picker、自检、安全扫描、自定义 agent，以及 Claude Code 的 subagent、权限、hooks、worktree 隔离，都在把自动执行变成可选择、可拦截、可恢复的流程。第三是证据与复盘：session logs、规则上下文、trace、evals 和失败样本库，正在成为团队判断 AI 变更能否合并的依据。AIDev 把几十万级 Agentic PR 作为研究对象，也说明未来竞争点会落在 PR、评审、失败和协作数据。对 BitFun/ADE 来说，重点不是再做一个云端 Agent，而是在 IDE 和本地工程上下文里组织规则、权限、执行证据和协作边界。
转场：有了这些产品化参照，再回到 BitFun/ADE 的研发全链路。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页：ADE 范围
建议时长：约 1.2 分钟
讲述目标：说明 BitFun/ADE 不只是更强 IDE，而是覆盖研发链路的工程控制面：任务说明、隔离执行、验证矩阵、Artifact 证据包、反馈记忆。
可选提问：如果 ADE 不只是更强 IDE，它应该覆盖研发链路中的哪些节点？
讲稿：回到 BitFun，可以把 ADE 理解成一条覆盖研发全过程的工作台，也可以更具体地说成 Agentic SDLC 控制面。它不是只在编辑器里补代码，而是从需求与场景开始，进入任务契约，再到实现与验证，随后是评审、合并、发布，最后回到运维反馈和下一轮演进。这里可以拆成五类关键控制点：任务契约定义输入、目标、非目标、验收和风险；隔离执行保证探索不污染主线；验证矩阵按风险选择最小但足够的检查；Artifact 包把变更、测试、影响、Owner 和回滚路径组织成评审对象；反馈记忆把线上问题和复盘沉淀回下一轮规则。个人原型更关注快速验证和可回滚；开源仓库更关注 PR 质量和维护者信任；企业工程更关注权限、合规、跨团队协作和线上稳定。沿着这条链路看，AI 研发系统真正要解决的问题会变得更具体：需求如何变成可执行任务，实现如何留下确定性证据，评审如何治理海量变更，运维反馈如何沉淀成下一轮上下文和规则。
转场：先从第一个节点开始：需求不是直接丢给 AI，而要先变成可执行、可验收的任务契约。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讲述目标：用研发链路第一个节点讲清：AI 不是从“写代码”开始，而是从可执行任务说明开始。
可选提问：一个需求什么时候才适合交给 Agent 执行？
讲稿：第一步不是让 AI 直接写代码，而是把需求转成任务契约。这里的任务契约可以简单理解成一份可执行、可验收的任务说明。传统流程里，产品、设计、开发、测试之间会通过 PRD、设计稿、技术方案、测试用例来反复对齐；Agent 进来以后，这些材料不能消失，反而要更结构化。一个适合交给 Agent 的任务，至少要有四类内容：输入是什么，目标和非目标是什么，验收标准是什么，风险边界在哪里。人的职责是做取舍和定义成功，例如这次是否需要兼容旧数据、是否允许改变交互、是否影响远程工作区。AI 可以辅助做需求拆解、影响面初筛、上下文检索和计划草稿，但不能替人决定产品取舍。这个节点的产物不是代码，而是任务契约；它决定后面实现、验证、评审到底拿什么判断对错。
转场：任务契约明确以后，下一步才是让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讲述目标：把原来抽象的概率性和确定性问题落到开发节点：Agent 可以探索，放行必须靠验证证据。
可选提问：如果实现过程是概率性的，团队靠什么判断它真的完成了？
讲稿：第二个节点是实现到验证，对应工程控制面的执行与验证层。这里要处理一个核心矛盾：模型生成代码的过程可以是概率性的，但软件工程最后要的是确定性的运行结果。解决办法不是要求模型每一步都完全可预测，而是要求每轮实现都产生可复现证据。Agent 可以改代码、补测试、改文档、重跑命令，也可以尝试不同路径；但每一轮结束时要能说明改了什么、跑了哪些检查、失败在哪里、下一步怎么修。BitFun 这类工具应该承接三类能力：隔离执行，避免探索污染主线；验证矩阵，按前端、核心逻辑、桌面集成等风险选择最小验证；证据包，把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讲述目标：把开源质量责任、企业复杂协作和代码评审问题统一到评审交付节点，减少抽象重复。
可选提问：维护者或团队负责人如何验证陌生的大量 AI 变更是否值得合并？
讲稿：第三个节点是评审到交付，对应工程控制面的交付判断层，也就是 Artifact 包。这里的 Artifact 包可以理解成让维护者敢判断、敢合并、敢回滚的一组证据。AI 带来的真实压力不是多了几行代码，而是维护者要在更短时间里判断更大的变更是否可信。这里评审对象要从最终 diff 扩展成 Artifact 包：任务契约、关键设计差异、变更摘要、测试结果、安全和性能检查、影响范围、剩余风险和回滚路径。更具体地说，Artifact 不应该靠开发者手工整理，也不应该要求人回看每一步操作；它应该由平台从任务契约、diff、测试日志、风险说明、Owner 审批和回滚路径自动生成，与 PR 或发布记录绑定。人看到的是可读摘要和风险索引，系统保留原始证据，发布后再按价值进入复盘记忆或过期清理。开源项目里，这能帮助维护者建立对陌生贡献的信任；企业项目里，它能帮助跨团队角色对齐责任。AI 可以辅助预评审、生成说明、比对规则、提示高风险文件；但人要做风险仲裁，判断质量例外是否可接受，是否需要架构 Owner、测试 Owner 或发布 Owner 介入。
转场：代码合并或发布以后，工程链路还没有结束，线上反馈必须回到下一轮研发系统。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讲述目标：把原来的能力演进与架构稳定性放到运维反馈节点，形成从发布到学习的闭环。
可选提问：AI 参与交付后，线上问题和长期维护经验如何变成下一轮能力？
讲稿：第四个节点是发布到运维，对应工程控制面的反馈学习层。AI 时代很容易把注意力放在生成和合并之前，但真正的长期质量要看发布以后。上线后会出现日志、指标、错误报告、用户反馈、性能变化和事故复盘，这些都应该回到下一轮任务契约、测试用例、规则上下文和架构边界里。BitFun/ADE 在这里可以做两件事：第一，把运行证据组织成 Agent 可用的上下文，例如哪类异常反复出现、哪些模块经常被改坏、哪些测试缺口导致返工。第二，把架构和能力边界沉淀成演进协议，例如先锁产品能力，再迁移 owner；先证明接口、权限、远程场景和日志行为等价，再扩大改造范围。这样，运维不是开发之后的尾巴，而是让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讲稿：最后看开发者角色。团队层面，未来的重点不是追求全自动，而是建设可治理交付系统：把任务契约、隔离执行、验证矩阵、Artifact 包和反馈记忆做成平台能力；用净时间、返工率、评审压力和线上风险判断真实收益。个人层面，变化不是远离代码，而是判断位置前移：开发者要会定义问题，说明目标、非目标和风险边界；要会核验事实，判断上下文是否可信；要会解释风险，判断什么可以自动推进、什么需要补证据；还要能承接责任，出问题能回滚、复盘和沉淀。对刚进入职场的同学，技术成长方向会更宽：不仅要写代码，还要理解需求、用户场景、产品定位、架构约束和运行证据。AI 会降低实现门槛，但会提高对系统理解和工程判断的要求。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量化？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的未来不是让软件工程消失，而是迫使软件工程升级；真正值得建设的是能承接任务契约、隔离执行、验证矩阵、Artifact 包和反馈记忆的 ADE。谢谢大家。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1-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77876"/>
            <a:ext cx="205607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BitFun / AI 软件工程报告</a:t>
            </a:r>
            <a:endParaRPr lang="en-US" sz="1150" dirty="0"/>
          </a:p>
        </p:txBody>
      </p:sp>
      <p:sp>
        <p:nvSpPr>
          <p:cNvPr id="4" name="Text 1"/>
          <p:cNvSpPr/>
          <p:nvPr/>
        </p:nvSpPr>
        <p:spPr>
          <a:xfrm>
            <a:off x="609585" y="1523962"/>
            <a:ext cx="4742061"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AI 如何重新定义软件开发</a:t>
            </a:r>
            <a:endParaRPr lang="en-US" sz="3000" dirty="0"/>
          </a:p>
        </p:txBody>
      </p:sp>
      <p:sp>
        <p:nvSpPr>
          <p:cNvPr id="5" name="Text 2"/>
          <p:cNvSpPr/>
          <p:nvPr/>
        </p:nvSpPr>
        <p:spPr>
          <a:xfrm>
            <a:off x="634984" y="2285943"/>
            <a:ext cx="3680368"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从代码产能，到可治理 Agentic SDLC</a:t>
            </a:r>
            <a:endParaRPr lang="en-US" sz="1550" dirty="0"/>
          </a:p>
        </p:txBody>
      </p:sp>
      <p:sp>
        <p:nvSpPr>
          <p:cNvPr id="6" name="Text 3"/>
          <p:cNvSpPr/>
          <p:nvPr/>
        </p:nvSpPr>
        <p:spPr>
          <a:xfrm>
            <a:off x="977876" y="3987700"/>
            <a:ext cx="87653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Microsoft YaHei" pitchFamily="34" charset="0"/>
                <a:ea typeface="Microsoft YaHei" pitchFamily="34" charset="-122"/>
                <a:cs typeface="Microsoft YaHei" pitchFamily="34" charset="-120"/>
              </a:rPr>
              <a:t>颜仲南</a:t>
            </a:r>
            <a:endParaRPr lang="en-US" sz="1700" dirty="0"/>
          </a:p>
        </p:txBody>
      </p:sp>
      <p:sp>
        <p:nvSpPr>
          <p:cNvPr id="7" name="Text 4"/>
          <p:cNvSpPr/>
          <p:nvPr/>
        </p:nvSpPr>
        <p:spPr>
          <a:xfrm>
            <a:off x="977876" y="4343291"/>
            <a:ext cx="196527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华为 软件IDE实验室</a:t>
            </a:r>
            <a:endParaRPr lang="en-US" sz="1450" dirty="0"/>
          </a:p>
        </p:txBody>
      </p:sp>
      <p:sp>
        <p:nvSpPr>
          <p:cNvPr id="8" name="Text 5"/>
          <p:cNvSpPr/>
          <p:nvPr/>
        </p:nvSpPr>
        <p:spPr>
          <a:xfrm>
            <a:off x="977876" y="4698883"/>
            <a:ext cx="981939" cy="239389"/>
          </a:xfrm>
          <a:prstGeom prst="rect">
            <a:avLst/>
          </a:prstGeom>
          <a:noFill/>
          <a:ln/>
        </p:spPr>
        <p:txBody>
          <a:bodyPr wrap="square" lIns="0" tIns="0" rIns="0" bIns="0" rtlCol="0" anchor="t">
            <a:normAutofit/>
          </a:bodyPr>
          <a:lstStyle/>
          <a:p>
            <a:pPr algn="l" indent="0" marL="0">
              <a:buNone/>
            </a:pPr>
            <a:r>
              <a:rPr lang="en-US" sz="1300" b="1" dirty="0">
                <a:solidFill>
                  <a:srgbClr val="5F6670"/>
                </a:solidFill>
                <a:latin typeface="Microsoft YaHei" pitchFamily="34" charset="0"/>
                <a:ea typeface="Microsoft YaHei" pitchFamily="34" charset="-122"/>
                <a:cs typeface="Microsoft YaHei" pitchFamily="34" charset="-120"/>
              </a:rPr>
              <a:t>2026.05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2-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99311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目录</a:t>
            </a:r>
            <a:endParaRPr lang="en-US" sz="3000" dirty="0"/>
          </a:p>
        </p:txBody>
      </p:sp>
      <p:sp>
        <p:nvSpPr>
          <p:cNvPr id="4" name="Text 1"/>
          <p:cNvSpPr/>
          <p:nvPr/>
        </p:nvSpPr>
        <p:spPr>
          <a:xfrm>
            <a:off x="1562061" y="1917652"/>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01</a:t>
            </a:r>
            <a:endParaRPr lang="en-US" sz="2000" dirty="0"/>
          </a:p>
        </p:txBody>
      </p:sp>
      <p:sp>
        <p:nvSpPr>
          <p:cNvPr id="5" name="Text 2"/>
          <p:cNvSpPr/>
          <p:nvPr/>
        </p:nvSpPr>
        <p:spPr>
          <a:xfrm>
            <a:off x="2070048" y="1904952"/>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现实观察</a:t>
            </a:r>
            <a:endParaRPr lang="en-US" sz="1500" dirty="0"/>
          </a:p>
        </p:txBody>
      </p:sp>
      <p:sp>
        <p:nvSpPr>
          <p:cNvPr id="6" name="Text 3"/>
          <p:cNvSpPr/>
          <p:nvPr/>
        </p:nvSpPr>
        <p:spPr>
          <a:xfrm>
            <a:off x="2070048" y="2171646"/>
            <a:ext cx="2685475"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从 BitFun 高吞吐经验看工程压力变化。</a:t>
            </a:r>
            <a:endParaRPr lang="en-US" sz="1050" dirty="0"/>
          </a:p>
        </p:txBody>
      </p:sp>
      <p:sp>
        <p:nvSpPr>
          <p:cNvPr id="7" name="Text 4"/>
          <p:cNvSpPr/>
          <p:nvPr/>
        </p:nvSpPr>
        <p:spPr>
          <a:xfrm>
            <a:off x="6222844" y="1993850"/>
            <a:ext cx="507987"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03</a:t>
            </a:r>
            <a:endParaRPr lang="en-US" sz="1050" dirty="0"/>
          </a:p>
        </p:txBody>
      </p:sp>
      <p:sp>
        <p:nvSpPr>
          <p:cNvPr id="8" name="Text 5"/>
          <p:cNvSpPr/>
          <p:nvPr/>
        </p:nvSpPr>
        <p:spPr>
          <a:xfrm>
            <a:off x="2362141" y="2870128"/>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02</a:t>
            </a:r>
            <a:endParaRPr lang="en-US" sz="2000" dirty="0"/>
          </a:p>
        </p:txBody>
      </p:sp>
      <p:sp>
        <p:nvSpPr>
          <p:cNvPr id="9" name="Text 6"/>
          <p:cNvSpPr/>
          <p:nvPr/>
        </p:nvSpPr>
        <p:spPr>
          <a:xfrm>
            <a:off x="2870128" y="2857429"/>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行业信号</a:t>
            </a:r>
            <a:endParaRPr lang="en-US" sz="1500" dirty="0"/>
          </a:p>
        </p:txBody>
      </p:sp>
      <p:sp>
        <p:nvSpPr>
          <p:cNvPr id="10" name="Text 7"/>
          <p:cNvSpPr/>
          <p:nvPr/>
        </p:nvSpPr>
        <p:spPr>
          <a:xfrm>
            <a:off x="2870128" y="3124122"/>
            <a:ext cx="2392112"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主流工具和研究都指向系统化承接。</a:t>
            </a:r>
            <a:endParaRPr lang="en-US" sz="1050" dirty="0"/>
          </a:p>
        </p:txBody>
      </p:sp>
      <p:sp>
        <p:nvSpPr>
          <p:cNvPr id="11" name="Text 8"/>
          <p:cNvSpPr/>
          <p:nvPr/>
        </p:nvSpPr>
        <p:spPr>
          <a:xfrm>
            <a:off x="6877640" y="2946326"/>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04-05</a:t>
            </a:r>
            <a:endParaRPr lang="en-US" sz="1050" dirty="0"/>
          </a:p>
        </p:txBody>
      </p:sp>
      <p:sp>
        <p:nvSpPr>
          <p:cNvPr id="12" name="Text 9"/>
          <p:cNvSpPr/>
          <p:nvPr/>
        </p:nvSpPr>
        <p:spPr>
          <a:xfrm>
            <a:off x="1562061" y="3822604"/>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03</a:t>
            </a:r>
            <a:endParaRPr lang="en-US" sz="2000" dirty="0"/>
          </a:p>
        </p:txBody>
      </p:sp>
      <p:sp>
        <p:nvSpPr>
          <p:cNvPr id="13" name="Text 10"/>
          <p:cNvSpPr/>
          <p:nvPr/>
        </p:nvSpPr>
        <p:spPr>
          <a:xfrm>
            <a:off x="2070048" y="3809905"/>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工程治理</a:t>
            </a:r>
            <a:endParaRPr lang="en-US" sz="1500" dirty="0"/>
          </a:p>
        </p:txBody>
      </p:sp>
      <p:sp>
        <p:nvSpPr>
          <p:cNvPr id="14" name="Text 11"/>
          <p:cNvSpPr/>
          <p:nvPr/>
        </p:nvSpPr>
        <p:spPr>
          <a:xfrm>
            <a:off x="2070048" y="4076598"/>
            <a:ext cx="2205427"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从 ADE 范围到研发全过程节点。</a:t>
            </a:r>
            <a:endParaRPr lang="en-US" sz="1050" dirty="0"/>
          </a:p>
        </p:txBody>
      </p:sp>
      <p:sp>
        <p:nvSpPr>
          <p:cNvPr id="15" name="Text 12"/>
          <p:cNvSpPr/>
          <p:nvPr/>
        </p:nvSpPr>
        <p:spPr>
          <a:xfrm>
            <a:off x="6077560" y="3898803"/>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06-10</a:t>
            </a:r>
            <a:endParaRPr lang="en-US" sz="1050" dirty="0"/>
          </a:p>
        </p:txBody>
      </p:sp>
      <p:sp>
        <p:nvSpPr>
          <p:cNvPr id="16" name="Text 13"/>
          <p:cNvSpPr/>
          <p:nvPr/>
        </p:nvSpPr>
        <p:spPr>
          <a:xfrm>
            <a:off x="2362141" y="4775081"/>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04</a:t>
            </a:r>
            <a:endParaRPr lang="en-US" sz="2000" dirty="0"/>
          </a:p>
        </p:txBody>
      </p:sp>
      <p:sp>
        <p:nvSpPr>
          <p:cNvPr id="17" name="Text 14"/>
          <p:cNvSpPr/>
          <p:nvPr/>
        </p:nvSpPr>
        <p:spPr>
          <a:xfrm>
            <a:off x="2870128" y="4762381"/>
            <a:ext cx="1187420"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开发者角色</a:t>
            </a:r>
            <a:endParaRPr lang="en-US" sz="1500" dirty="0"/>
          </a:p>
        </p:txBody>
      </p:sp>
      <p:sp>
        <p:nvSpPr>
          <p:cNvPr id="18" name="Text 15"/>
          <p:cNvSpPr/>
          <p:nvPr/>
        </p:nvSpPr>
        <p:spPr>
          <a:xfrm>
            <a:off x="2870128" y="5029074"/>
            <a:ext cx="2800153"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团队建设系统，个人承担关键判断和责任。</a:t>
            </a:r>
            <a:endParaRPr lang="en-US" sz="1050" dirty="0"/>
          </a:p>
        </p:txBody>
      </p:sp>
      <p:sp>
        <p:nvSpPr>
          <p:cNvPr id="19" name="Text 16"/>
          <p:cNvSpPr/>
          <p:nvPr/>
        </p:nvSpPr>
        <p:spPr>
          <a:xfrm>
            <a:off x="6877640" y="4851279"/>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11-12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3-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速度的背后</a:t>
            </a:r>
            <a:endParaRPr lang="en-US" sz="3000" dirty="0"/>
          </a:p>
        </p:txBody>
      </p:sp>
      <p:sp>
        <p:nvSpPr>
          <p:cNvPr id="4" name="Text 1"/>
          <p:cNvSpPr/>
          <p:nvPr/>
        </p:nvSpPr>
        <p:spPr>
          <a:xfrm>
            <a:off x="634984" y="1549361"/>
            <a:ext cx="5806295"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BitFun 的高吞吐经验不是结论，而是对工程系统的压力测试。</a:t>
            </a:r>
            <a:endParaRPr lang="en-US" sz="1550" dirty="0"/>
          </a:p>
        </p:txBody>
      </p:sp>
      <p:sp>
        <p:nvSpPr>
          <p:cNvPr id="5" name="Text 2"/>
          <p:cNvSpPr/>
          <p:nvPr/>
        </p:nvSpPr>
        <p:spPr>
          <a:xfrm>
            <a:off x="1028674" y="2489138"/>
            <a:ext cx="1435064"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BitFun 开发经验</a:t>
            </a:r>
            <a:endParaRPr lang="en-US" sz="1200" dirty="0"/>
          </a:p>
        </p:txBody>
      </p:sp>
      <p:sp>
        <p:nvSpPr>
          <p:cNvPr id="6" name="Text 3"/>
          <p:cNvSpPr/>
          <p:nvPr/>
        </p:nvSpPr>
        <p:spPr>
          <a:xfrm>
            <a:off x="1028674" y="2755831"/>
            <a:ext cx="2863778" cy="460363"/>
          </a:xfrm>
          <a:prstGeom prst="rect">
            <a:avLst/>
          </a:prstGeom>
          <a:noFill/>
          <a:ln/>
        </p:spPr>
        <p:txBody>
          <a:bodyPr wrap="square" lIns="0" tIns="0" rIns="0" bIns="0" rtlCol="0" anchor="t">
            <a:normAutofit/>
          </a:bodyPr>
          <a:lstStyle/>
          <a:p>
            <a:pPr algn="l" indent="0" marL="0">
              <a:buNone/>
            </a:pPr>
            <a:r>
              <a:rPr lang="en-US" sz="2500" b="1" dirty="0">
                <a:solidFill>
                  <a:srgbClr val="050608"/>
                </a:solidFill>
                <a:latin typeface="Arial" pitchFamily="34" charset="0"/>
                <a:ea typeface="Arial" pitchFamily="34" charset="-122"/>
                <a:cs typeface="Arial" pitchFamily="34" charset="-120"/>
              </a:rPr>
              <a:t>单月 10W+ 行代码</a:t>
            </a:r>
            <a:endParaRPr lang="en-US" sz="2500" dirty="0"/>
          </a:p>
        </p:txBody>
      </p:sp>
      <p:sp>
        <p:nvSpPr>
          <p:cNvPr id="7" name="Text 4"/>
          <p:cNvSpPr/>
          <p:nvPr/>
        </p:nvSpPr>
        <p:spPr>
          <a:xfrm>
            <a:off x="1028674" y="3086023"/>
            <a:ext cx="3616235"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入口不是代码量本身，而是验证、评审和维护如何接住。</a:t>
            </a:r>
            <a:endParaRPr lang="en-US" sz="1050" dirty="0"/>
          </a:p>
        </p:txBody>
      </p:sp>
      <p:sp>
        <p:nvSpPr>
          <p:cNvPr id="8" name="Text 5"/>
          <p:cNvSpPr/>
          <p:nvPr/>
        </p:nvSpPr>
        <p:spPr>
          <a:xfrm>
            <a:off x="7721407" y="2190695"/>
            <a:ext cx="2353251" cy="177796"/>
          </a:xfrm>
          <a:prstGeom prst="rect">
            <a:avLst/>
          </a:prstGeom>
          <a:noFill/>
          <a:ln/>
        </p:spPr>
        <p:txBody>
          <a:bodyPr wrap="square" lIns="0" tIns="0" rIns="0" bIns="0" rtlCol="0" anchor="t">
            <a:normAutofit/>
          </a:bodyPr>
          <a:lstStyle/>
          <a:p>
            <a:pPr algn="l" indent="0" marL="0">
              <a:buNone/>
            </a:pPr>
            <a:r>
              <a:rPr lang="en-US" sz="850" b="1" dirty="0">
                <a:solidFill>
                  <a:srgbClr val="D1D5DB"/>
                </a:solidFill>
                <a:latin typeface="Microsoft YaHei" pitchFamily="34" charset="0"/>
                <a:ea typeface="Microsoft YaHei" pitchFamily="34" charset="-122"/>
                <a:cs typeface="Microsoft YaHei" pitchFamily="34" charset="-120"/>
              </a:rPr>
              <a:t>GCWing/BitFun · git history snapshot</a:t>
            </a:r>
            <a:endParaRPr lang="en-US" sz="850" dirty="0"/>
          </a:p>
        </p:txBody>
      </p:sp>
      <p:sp>
        <p:nvSpPr>
          <p:cNvPr id="9" name="Text 6"/>
          <p:cNvSpPr/>
          <p:nvPr/>
        </p:nvSpPr>
        <p:spPr>
          <a:xfrm>
            <a:off x="7276918" y="2489138"/>
            <a:ext cx="2332678" cy="177796"/>
          </a:xfrm>
          <a:prstGeom prst="rect">
            <a:avLst/>
          </a:prstGeom>
          <a:noFill/>
          <a:ln/>
        </p:spPr>
        <p:txBody>
          <a:bodyPr wrap="square" lIns="0" tIns="0" rIns="0" bIns="0" rtlCol="0" anchor="t">
            <a:normAutofit/>
          </a:bodyPr>
          <a:lstStyle/>
          <a:p>
            <a:pPr algn="l" indent="0" marL="0">
              <a:buNone/>
            </a:pPr>
            <a:r>
              <a:rPr lang="en-US" sz="900" b="1" dirty="0">
                <a:solidFill>
                  <a:srgbClr val="93C5FD"/>
                </a:solidFill>
                <a:latin typeface="Microsoft YaHei" pitchFamily="34" charset="0"/>
                <a:ea typeface="Microsoft YaHei" pitchFamily="34" charset="-122"/>
                <a:cs typeface="Microsoft YaHei" pitchFamily="34" charset="-120"/>
              </a:rPr>
              <a:t>https://github.com/GCWing/BitFun</a:t>
            </a:r>
            <a:endParaRPr lang="en-US" sz="900" dirty="0"/>
          </a:p>
        </p:txBody>
      </p:sp>
      <p:sp>
        <p:nvSpPr>
          <p:cNvPr id="10" name="Text 7"/>
          <p:cNvSpPr/>
          <p:nvPr/>
        </p:nvSpPr>
        <p:spPr>
          <a:xfrm>
            <a:off x="7276918" y="2692333"/>
            <a:ext cx="3379640" cy="177796"/>
          </a:xfrm>
          <a:prstGeom prst="rect">
            <a:avLst/>
          </a:prstGeom>
          <a:noFill/>
          <a:ln/>
        </p:spPr>
        <p:txBody>
          <a:bodyPr wrap="square" lIns="0" tIns="0" rIns="0" bIns="0" rtlCol="0" anchor="t">
            <a:normAutofit/>
          </a:bodyPr>
          <a:lstStyle/>
          <a:p>
            <a:pPr algn="l" indent="0" marL="0">
              <a:buNone/>
            </a:pPr>
            <a:r>
              <a:rPr lang="en-US" sz="900" b="1" dirty="0">
                <a:solidFill>
                  <a:srgbClr val="E5E7EB"/>
                </a:solidFill>
                <a:latin typeface="Microsoft YaHei" pitchFamily="34" charset="0"/>
                <a:ea typeface="Microsoft YaHei" pitchFamily="34" charset="-122"/>
                <a:cs typeface="Microsoft YaHei" pitchFamily="34" charset="-120"/>
              </a:rPr>
              <a:t>range: 2026-04-22 ~ 2026-05-22   author: limityan</a:t>
            </a:r>
            <a:endParaRPr lang="en-US" sz="900" dirty="0"/>
          </a:p>
        </p:txBody>
      </p:sp>
      <p:sp>
        <p:nvSpPr>
          <p:cNvPr id="11" name="Text 8"/>
          <p:cNvSpPr/>
          <p:nvPr/>
        </p:nvSpPr>
        <p:spPr>
          <a:xfrm>
            <a:off x="7276918" y="3047924"/>
            <a:ext cx="682227" cy="331462"/>
          </a:xfrm>
          <a:prstGeom prst="rect">
            <a:avLst/>
          </a:prstGeom>
          <a:noFill/>
          <a:ln/>
        </p:spPr>
        <p:txBody>
          <a:bodyPr wrap="square" lIns="0" tIns="0" rIns="0" bIns="0" rtlCol="0" anchor="t">
            <a:normAutofit/>
          </a:bodyPr>
          <a:lstStyle/>
          <a:p>
            <a:pPr algn="l" indent="0" marL="0">
              <a:buNone/>
            </a:pPr>
            <a:r>
              <a:rPr lang="en-US" sz="1800" b="1" dirty="0">
                <a:solidFill>
                  <a:srgbClr val="60A5FA"/>
                </a:solidFill>
                <a:latin typeface="Arial" pitchFamily="34" charset="0"/>
                <a:ea typeface="Arial" pitchFamily="34" charset="-122"/>
                <a:cs typeface="Arial" pitchFamily="34" charset="-120"/>
              </a:rPr>
              <a:t>241</a:t>
            </a:r>
            <a:endParaRPr lang="en-US" sz="1800" dirty="0"/>
          </a:p>
        </p:txBody>
      </p:sp>
      <p:sp>
        <p:nvSpPr>
          <p:cNvPr id="12" name="Text 9"/>
          <p:cNvSpPr/>
          <p:nvPr/>
        </p:nvSpPr>
        <p:spPr>
          <a:xfrm>
            <a:off x="7797605" y="3073323"/>
            <a:ext cx="663939"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commits</a:t>
            </a:r>
            <a:endParaRPr lang="en-US" sz="900" dirty="0"/>
          </a:p>
        </p:txBody>
      </p:sp>
      <p:sp>
        <p:nvSpPr>
          <p:cNvPr id="13" name="Text 10"/>
          <p:cNvSpPr/>
          <p:nvPr/>
        </p:nvSpPr>
        <p:spPr>
          <a:xfrm>
            <a:off x="8559586" y="3047924"/>
            <a:ext cx="1404585" cy="331462"/>
          </a:xfrm>
          <a:prstGeom prst="rect">
            <a:avLst/>
          </a:prstGeom>
          <a:noFill/>
          <a:ln/>
        </p:spPr>
        <p:txBody>
          <a:bodyPr wrap="square" lIns="0" tIns="0" rIns="0" bIns="0" rtlCol="0" anchor="t">
            <a:normAutofit/>
          </a:bodyPr>
          <a:lstStyle/>
          <a:p>
            <a:pPr algn="l" indent="0" marL="0">
              <a:buNone/>
            </a:pPr>
            <a:r>
              <a:rPr lang="en-US" sz="1800" b="1" dirty="0">
                <a:solidFill>
                  <a:srgbClr val="34D399"/>
                </a:solidFill>
                <a:latin typeface="Arial" pitchFamily="34" charset="0"/>
                <a:ea typeface="Arial" pitchFamily="34" charset="-122"/>
                <a:cs typeface="Arial" pitchFamily="34" charset="-120"/>
              </a:rPr>
              <a:t>+185,533</a:t>
            </a:r>
            <a:endParaRPr lang="en-US" sz="1800" dirty="0"/>
          </a:p>
        </p:txBody>
      </p:sp>
      <p:sp>
        <p:nvSpPr>
          <p:cNvPr id="14" name="Text 11"/>
          <p:cNvSpPr/>
          <p:nvPr/>
        </p:nvSpPr>
        <p:spPr>
          <a:xfrm>
            <a:off x="9804155" y="3073323"/>
            <a:ext cx="855959"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insertions</a:t>
            </a:r>
            <a:endParaRPr lang="en-US" sz="900" dirty="0"/>
          </a:p>
        </p:txBody>
      </p:sp>
      <p:sp>
        <p:nvSpPr>
          <p:cNvPr id="15" name="Text 12"/>
          <p:cNvSpPr/>
          <p:nvPr/>
        </p:nvSpPr>
        <p:spPr>
          <a:xfrm>
            <a:off x="7276918" y="3263818"/>
            <a:ext cx="1345150" cy="177796"/>
          </a:xfrm>
          <a:prstGeom prst="rect">
            <a:avLst/>
          </a:prstGeom>
          <a:noFill/>
          <a:ln/>
        </p:spPr>
        <p:txBody>
          <a:bodyPr wrap="square" lIns="0" tIns="0" rIns="0" bIns="0" rtlCol="0" anchor="t">
            <a:normAutofit/>
          </a:bodyPr>
          <a:lstStyle/>
          <a:p>
            <a:pPr algn="l" indent="0" marL="0">
              <a:buNone/>
            </a:pPr>
            <a:r>
              <a:rPr lang="en-US" sz="900" b="1" dirty="0">
                <a:solidFill>
                  <a:srgbClr val="FCA5A5"/>
                </a:solidFill>
                <a:latin typeface="Microsoft YaHei" pitchFamily="34" charset="0"/>
                <a:ea typeface="Microsoft YaHei" pitchFamily="34" charset="-122"/>
                <a:cs typeface="Microsoft YaHei" pitchFamily="34" charset="-120"/>
              </a:rPr>
              <a:t>-46,479 deletions</a:t>
            </a:r>
            <a:endParaRPr lang="en-US" sz="900" dirty="0"/>
          </a:p>
        </p:txBody>
      </p:sp>
      <p:sp>
        <p:nvSpPr>
          <p:cNvPr id="16" name="Text 13"/>
          <p:cNvSpPr/>
          <p:nvPr/>
        </p:nvSpPr>
        <p:spPr>
          <a:xfrm>
            <a:off x="8559586" y="3263818"/>
            <a:ext cx="1523454"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churn: 232,012 lines</a:t>
            </a:r>
            <a:endParaRPr lang="en-US" sz="900" dirty="0"/>
          </a:p>
        </p:txBody>
      </p:sp>
      <p:sp>
        <p:nvSpPr>
          <p:cNvPr id="17" name="Text 14"/>
          <p:cNvSpPr/>
          <p:nvPr/>
        </p:nvSpPr>
        <p:spPr>
          <a:xfrm>
            <a:off x="1549361"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106BEF"/>
                </a:solidFill>
                <a:latin typeface="Arial" pitchFamily="34" charset="0"/>
                <a:ea typeface="Arial" pitchFamily="34" charset="-122"/>
                <a:cs typeface="Arial" pitchFamily="34" charset="-120"/>
              </a:rPr>
              <a:t>01</a:t>
            </a:r>
            <a:endParaRPr lang="en-US" sz="1700" dirty="0"/>
          </a:p>
        </p:txBody>
      </p:sp>
      <p:sp>
        <p:nvSpPr>
          <p:cNvPr id="18" name="Text 15"/>
          <p:cNvSpPr/>
          <p:nvPr/>
        </p:nvSpPr>
        <p:spPr>
          <a:xfrm>
            <a:off x="1955751" y="4184545"/>
            <a:ext cx="1576031"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生产环节被放大</a:t>
            </a:r>
            <a:endParaRPr lang="en-US" sz="1500" dirty="0"/>
          </a:p>
        </p:txBody>
      </p:sp>
      <p:sp>
        <p:nvSpPr>
          <p:cNvPr id="19" name="Text 16"/>
          <p:cNvSpPr/>
          <p:nvPr/>
        </p:nvSpPr>
        <p:spPr>
          <a:xfrm>
            <a:off x="1320767" y="4863978"/>
            <a:ext cx="12133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想法更快变原型</a:t>
            </a:r>
            <a:endParaRPr lang="en-US" sz="1100" dirty="0"/>
          </a:p>
        </p:txBody>
      </p:sp>
      <p:sp>
        <p:nvSpPr>
          <p:cNvPr id="20" name="Text 17"/>
          <p:cNvSpPr/>
          <p:nvPr/>
        </p:nvSpPr>
        <p:spPr>
          <a:xfrm>
            <a:off x="1320767" y="5130672"/>
            <a:ext cx="135581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探索更快进入仓库</a:t>
            </a:r>
            <a:endParaRPr lang="en-US" sz="1100" dirty="0"/>
          </a:p>
        </p:txBody>
      </p:sp>
      <p:sp>
        <p:nvSpPr>
          <p:cNvPr id="21" name="Text 18"/>
          <p:cNvSpPr/>
          <p:nvPr/>
        </p:nvSpPr>
        <p:spPr>
          <a:xfrm>
            <a:off x="5308467"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FF5A1F"/>
                </a:solidFill>
                <a:latin typeface="Arial" pitchFamily="34" charset="0"/>
                <a:ea typeface="Arial" pitchFamily="34" charset="-122"/>
                <a:cs typeface="Arial" pitchFamily="34" charset="-120"/>
              </a:rPr>
              <a:t>02</a:t>
            </a:r>
            <a:endParaRPr lang="en-US" sz="1700" dirty="0"/>
          </a:p>
        </p:txBody>
      </p:sp>
      <p:sp>
        <p:nvSpPr>
          <p:cNvPr id="22" name="Text 19"/>
          <p:cNvSpPr/>
          <p:nvPr/>
        </p:nvSpPr>
        <p:spPr>
          <a:xfrm>
            <a:off x="5714857" y="4184545"/>
            <a:ext cx="138172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瓶颈向后移动</a:t>
            </a:r>
            <a:endParaRPr lang="en-US" sz="1500" dirty="0"/>
          </a:p>
        </p:txBody>
      </p:sp>
      <p:sp>
        <p:nvSpPr>
          <p:cNvPr id="23" name="Text 20"/>
          <p:cNvSpPr/>
          <p:nvPr/>
        </p:nvSpPr>
        <p:spPr>
          <a:xfrm>
            <a:off x="5079873" y="4863978"/>
            <a:ext cx="12133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评审等待与返工</a:t>
            </a:r>
            <a:endParaRPr lang="en-US" sz="1100" dirty="0"/>
          </a:p>
        </p:txBody>
      </p:sp>
      <p:sp>
        <p:nvSpPr>
          <p:cNvPr id="24" name="Text 21"/>
          <p:cNvSpPr/>
          <p:nvPr/>
        </p:nvSpPr>
        <p:spPr>
          <a:xfrm>
            <a:off x="5079873" y="5130672"/>
            <a:ext cx="1545805"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CI、回滚、维护压力</a:t>
            </a:r>
            <a:endParaRPr lang="en-US" sz="1100" dirty="0"/>
          </a:p>
        </p:txBody>
      </p:sp>
      <p:sp>
        <p:nvSpPr>
          <p:cNvPr id="25" name="Text 22"/>
          <p:cNvSpPr/>
          <p:nvPr/>
        </p:nvSpPr>
        <p:spPr>
          <a:xfrm>
            <a:off x="9067573"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106BEF"/>
                </a:solidFill>
                <a:latin typeface="Arial" pitchFamily="34" charset="0"/>
                <a:ea typeface="Arial" pitchFamily="34" charset="-122"/>
                <a:cs typeface="Arial" pitchFamily="34" charset="-120"/>
              </a:rPr>
              <a:t>03</a:t>
            </a:r>
            <a:endParaRPr lang="en-US" sz="1700" dirty="0"/>
          </a:p>
        </p:txBody>
      </p:sp>
      <p:sp>
        <p:nvSpPr>
          <p:cNvPr id="26" name="Text 23"/>
          <p:cNvSpPr/>
          <p:nvPr/>
        </p:nvSpPr>
        <p:spPr>
          <a:xfrm>
            <a:off x="9473963" y="4184545"/>
            <a:ext cx="1770336"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净收益要重新衡量</a:t>
            </a:r>
            <a:endParaRPr lang="en-US" sz="1500" dirty="0"/>
          </a:p>
        </p:txBody>
      </p:sp>
      <p:sp>
        <p:nvSpPr>
          <p:cNvPr id="27" name="Text 24"/>
          <p:cNvSpPr/>
          <p:nvPr/>
        </p:nvSpPr>
        <p:spPr>
          <a:xfrm>
            <a:off x="8838979" y="4863978"/>
            <a:ext cx="140610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周期 / 返工 / 等待</a:t>
            </a:r>
            <a:endParaRPr lang="en-US" sz="1100" dirty="0"/>
          </a:p>
        </p:txBody>
      </p:sp>
      <p:sp>
        <p:nvSpPr>
          <p:cNvPr id="28" name="Text 25"/>
          <p:cNvSpPr/>
          <p:nvPr/>
        </p:nvSpPr>
        <p:spPr>
          <a:xfrm>
            <a:off x="8838979" y="5130672"/>
            <a:ext cx="1691090"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缺陷 / 回滚 / 理解成本</a:t>
            </a:r>
            <a:endParaRPr lang="en-US" sz="1100" dirty="0"/>
          </a:p>
        </p:txBody>
      </p:sp>
      <p:sp>
        <p:nvSpPr>
          <p:cNvPr id="29" name="Text 26"/>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净收益口径：端到端周期、评审等待、返工率、失败重跑与线上风险。</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4-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280863"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IDE 的边界</a:t>
            </a:r>
            <a:endParaRPr lang="en-US" sz="3000" dirty="0"/>
          </a:p>
        </p:txBody>
      </p:sp>
      <p:sp>
        <p:nvSpPr>
          <p:cNvPr id="4" name="Text 1"/>
          <p:cNvSpPr/>
          <p:nvPr/>
        </p:nvSpPr>
        <p:spPr>
          <a:xfrm>
            <a:off x="634984" y="1549361"/>
            <a:ext cx="3507144"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从 Agent 运行面到 Yes Engineer。</a:t>
            </a:r>
            <a:endParaRPr lang="en-US" sz="1550" dirty="0"/>
          </a:p>
        </p:txBody>
      </p:sp>
      <p:sp>
        <p:nvSpPr>
          <p:cNvPr id="5" name="Text 2"/>
          <p:cNvSpPr/>
          <p:nvPr/>
        </p:nvSpPr>
        <p:spPr>
          <a:xfrm>
            <a:off x="1777956" y="2654234"/>
            <a:ext cx="1051280"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Agentic OS</a:t>
            </a:r>
            <a:endParaRPr lang="en-US" sz="1150" dirty="0"/>
          </a:p>
        </p:txBody>
      </p:sp>
      <p:sp>
        <p:nvSpPr>
          <p:cNvPr id="6" name="Text 3"/>
          <p:cNvSpPr/>
          <p:nvPr/>
        </p:nvSpPr>
        <p:spPr>
          <a:xfrm>
            <a:off x="1777956" y="2997125"/>
            <a:ext cx="1004545" cy="423534"/>
          </a:xfrm>
          <a:prstGeom prst="rect">
            <a:avLst/>
          </a:prstGeom>
          <a:noFill/>
          <a:ln/>
        </p:spPr>
        <p:txBody>
          <a:bodyPr wrap="square" lIns="0" tIns="0" rIns="0" bIns="0" rtlCol="0" anchor="t">
            <a:normAutofit/>
          </a:bodyPr>
          <a:lstStyle/>
          <a:p>
            <a:pPr algn="l" indent="0" marL="0">
              <a:buNone/>
            </a:pPr>
            <a:r>
              <a:rPr lang="en-US" sz="2300" b="1" dirty="0">
                <a:solidFill>
                  <a:srgbClr val="106BEF"/>
                </a:solidFill>
                <a:latin typeface="Arial" pitchFamily="34" charset="0"/>
                <a:ea typeface="Arial" pitchFamily="34" charset="-122"/>
                <a:cs typeface="Arial" pitchFamily="34" charset="-120"/>
              </a:rPr>
              <a:t>OS 化</a:t>
            </a:r>
            <a:endParaRPr lang="en-US" sz="2300" dirty="0"/>
          </a:p>
        </p:txBody>
      </p:sp>
      <p:sp>
        <p:nvSpPr>
          <p:cNvPr id="7" name="Text 4"/>
          <p:cNvSpPr/>
          <p:nvPr/>
        </p:nvSpPr>
        <p:spPr>
          <a:xfrm>
            <a:off x="3695608" y="3047924"/>
            <a:ext cx="1731475"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运行边界进入系统层</a:t>
            </a:r>
            <a:endParaRPr lang="en-US" sz="1300" dirty="0"/>
          </a:p>
        </p:txBody>
      </p:sp>
      <p:sp>
        <p:nvSpPr>
          <p:cNvPr id="8" name="Text 5"/>
          <p:cNvSpPr/>
          <p:nvPr/>
        </p:nvSpPr>
        <p:spPr>
          <a:xfrm>
            <a:off x="1473163" y="3555911"/>
            <a:ext cx="1352008"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身份 / 权限 / 隔离</a:t>
            </a:r>
            <a:endParaRPr lang="en-US" sz="1050" dirty="0"/>
          </a:p>
        </p:txBody>
      </p:sp>
      <p:sp>
        <p:nvSpPr>
          <p:cNvPr id="9" name="Text 6"/>
          <p:cNvSpPr/>
          <p:nvPr/>
        </p:nvSpPr>
        <p:spPr>
          <a:xfrm>
            <a:off x="3759106" y="3555911"/>
            <a:ext cx="15066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可审计 Agent 工作区</a:t>
            </a:r>
            <a:endParaRPr lang="en-US" sz="1050" dirty="0"/>
          </a:p>
        </p:txBody>
      </p:sp>
      <p:sp>
        <p:nvSpPr>
          <p:cNvPr id="10" name="Text 7"/>
          <p:cNvSpPr/>
          <p:nvPr/>
        </p:nvSpPr>
        <p:spPr>
          <a:xfrm>
            <a:off x="7137222" y="2654234"/>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ADE</a:t>
            </a:r>
            <a:endParaRPr lang="en-US" sz="1150" dirty="0"/>
          </a:p>
        </p:txBody>
      </p:sp>
      <p:sp>
        <p:nvSpPr>
          <p:cNvPr id="11" name="Text 8"/>
          <p:cNvSpPr/>
          <p:nvPr/>
        </p:nvSpPr>
        <p:spPr>
          <a:xfrm>
            <a:off x="7137222" y="2997125"/>
            <a:ext cx="1109698" cy="423534"/>
          </a:xfrm>
          <a:prstGeom prst="rect">
            <a:avLst/>
          </a:prstGeom>
          <a:noFill/>
          <a:ln/>
        </p:spPr>
        <p:txBody>
          <a:bodyPr wrap="square" lIns="0" tIns="0" rIns="0" bIns="0" rtlCol="0" anchor="t">
            <a:normAutofit/>
          </a:bodyPr>
          <a:lstStyle/>
          <a:p>
            <a:pPr algn="l" indent="0" marL="0">
              <a:buNone/>
            </a:pPr>
            <a:r>
              <a:rPr lang="en-US" sz="2300" b="1" dirty="0">
                <a:solidFill>
                  <a:srgbClr val="FF5A1F"/>
                </a:solidFill>
                <a:latin typeface="Arial" pitchFamily="34" charset="0"/>
                <a:ea typeface="Arial" pitchFamily="34" charset="-122"/>
                <a:cs typeface="Arial" pitchFamily="34" charset="-120"/>
              </a:rPr>
              <a:t>开发台</a:t>
            </a:r>
            <a:endParaRPr lang="en-US" sz="2300" dirty="0"/>
          </a:p>
        </p:txBody>
      </p:sp>
      <p:sp>
        <p:nvSpPr>
          <p:cNvPr id="12" name="Text 9"/>
          <p:cNvSpPr/>
          <p:nvPr/>
        </p:nvSpPr>
        <p:spPr>
          <a:xfrm>
            <a:off x="9054874" y="3047924"/>
            <a:ext cx="1731475"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编辑器变成控制平面</a:t>
            </a:r>
            <a:endParaRPr lang="en-US" sz="1300" dirty="0"/>
          </a:p>
        </p:txBody>
      </p:sp>
      <p:sp>
        <p:nvSpPr>
          <p:cNvPr id="13" name="Text 10"/>
          <p:cNvSpPr/>
          <p:nvPr/>
        </p:nvSpPr>
        <p:spPr>
          <a:xfrm>
            <a:off x="6832429" y="3555911"/>
            <a:ext cx="1370677"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多 Agent 任务编排</a:t>
            </a:r>
            <a:endParaRPr lang="en-US" sz="1050" dirty="0"/>
          </a:p>
        </p:txBody>
      </p:sp>
      <p:sp>
        <p:nvSpPr>
          <p:cNvPr id="14" name="Text 11"/>
          <p:cNvSpPr/>
          <p:nvPr/>
        </p:nvSpPr>
        <p:spPr>
          <a:xfrm>
            <a:off x="9118372" y="3555911"/>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进度 / 成本 / 风险可见</a:t>
            </a:r>
            <a:endParaRPr lang="en-US" sz="1050" dirty="0"/>
          </a:p>
        </p:txBody>
      </p:sp>
      <p:sp>
        <p:nvSpPr>
          <p:cNvPr id="15" name="Text 12"/>
          <p:cNvSpPr/>
          <p:nvPr/>
        </p:nvSpPr>
        <p:spPr>
          <a:xfrm>
            <a:off x="1777956" y="4381390"/>
            <a:ext cx="1232377"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龙虾 Workflow</a:t>
            </a:r>
            <a:endParaRPr lang="en-US" sz="1150" dirty="0"/>
          </a:p>
        </p:txBody>
      </p:sp>
      <p:sp>
        <p:nvSpPr>
          <p:cNvPr id="16" name="Text 13"/>
          <p:cNvSpPr/>
          <p:nvPr/>
        </p:nvSpPr>
        <p:spPr>
          <a:xfrm>
            <a:off x="1777956" y="4724282"/>
            <a:ext cx="1109698" cy="423534"/>
          </a:xfrm>
          <a:prstGeom prst="rect">
            <a:avLst/>
          </a:prstGeom>
          <a:noFill/>
          <a:ln/>
        </p:spPr>
        <p:txBody>
          <a:bodyPr wrap="square" lIns="0" tIns="0" rIns="0" bIns="0" rtlCol="0" anchor="t">
            <a:normAutofit/>
          </a:bodyPr>
          <a:lstStyle/>
          <a:p>
            <a:pPr algn="l" indent="0" marL="0">
              <a:buNone/>
            </a:pPr>
            <a:r>
              <a:rPr lang="en-US" sz="2300" b="1" dirty="0">
                <a:solidFill>
                  <a:srgbClr val="106BEF"/>
                </a:solidFill>
                <a:latin typeface="Arial" pitchFamily="34" charset="0"/>
                <a:ea typeface="Arial" pitchFamily="34" charset="-122"/>
                <a:cs typeface="Arial" pitchFamily="34" charset="-120"/>
              </a:rPr>
              <a:t>流程壳</a:t>
            </a:r>
            <a:endParaRPr lang="en-US" sz="2300" dirty="0"/>
          </a:p>
        </p:txBody>
      </p:sp>
      <p:sp>
        <p:nvSpPr>
          <p:cNvPr id="17" name="Text 14"/>
          <p:cNvSpPr/>
          <p:nvPr/>
        </p:nvSpPr>
        <p:spPr>
          <a:xfrm>
            <a:off x="3695608" y="4775081"/>
            <a:ext cx="1899873"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自由对话外接确定流程</a:t>
            </a:r>
            <a:endParaRPr lang="en-US" sz="1300" dirty="0"/>
          </a:p>
        </p:txBody>
      </p:sp>
      <p:sp>
        <p:nvSpPr>
          <p:cNvPr id="18" name="Text 15"/>
          <p:cNvSpPr/>
          <p:nvPr/>
        </p:nvSpPr>
        <p:spPr>
          <a:xfrm>
            <a:off x="1473163" y="5283068"/>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类型化流水线</a:t>
            </a:r>
            <a:endParaRPr lang="en-US" sz="1050" dirty="0"/>
          </a:p>
        </p:txBody>
      </p:sp>
      <p:sp>
        <p:nvSpPr>
          <p:cNvPr id="19" name="Text 16"/>
          <p:cNvSpPr/>
          <p:nvPr/>
        </p:nvSpPr>
        <p:spPr>
          <a:xfrm>
            <a:off x="3759106" y="5283068"/>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审批 / 恢复 / 结构结果</a:t>
            </a:r>
            <a:endParaRPr lang="en-US" sz="1050" dirty="0"/>
          </a:p>
        </p:txBody>
      </p:sp>
      <p:sp>
        <p:nvSpPr>
          <p:cNvPr id="20" name="Text 17"/>
          <p:cNvSpPr/>
          <p:nvPr/>
        </p:nvSpPr>
        <p:spPr>
          <a:xfrm>
            <a:off x="7137222" y="4381390"/>
            <a:ext cx="1197326"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Yes Engineer</a:t>
            </a:r>
            <a:endParaRPr lang="en-US" sz="1150" dirty="0"/>
          </a:p>
        </p:txBody>
      </p:sp>
      <p:sp>
        <p:nvSpPr>
          <p:cNvPr id="21" name="Text 18"/>
          <p:cNvSpPr/>
          <p:nvPr/>
        </p:nvSpPr>
        <p:spPr>
          <a:xfrm>
            <a:off x="7137222" y="4724282"/>
            <a:ext cx="1267428" cy="423534"/>
          </a:xfrm>
          <a:prstGeom prst="rect">
            <a:avLst/>
          </a:prstGeom>
          <a:noFill/>
          <a:ln/>
        </p:spPr>
        <p:txBody>
          <a:bodyPr wrap="square" lIns="0" tIns="0" rIns="0" bIns="0" rtlCol="0" anchor="t">
            <a:normAutofit/>
          </a:bodyPr>
          <a:lstStyle/>
          <a:p>
            <a:pPr algn="l" indent="0" marL="0">
              <a:buNone/>
            </a:pPr>
            <a:r>
              <a:rPr lang="en-US" sz="2300" b="1" dirty="0">
                <a:solidFill>
                  <a:srgbClr val="FF5A1F"/>
                </a:solidFill>
                <a:latin typeface="Arial" pitchFamily="34" charset="0"/>
                <a:ea typeface="Arial" pitchFamily="34" charset="-122"/>
                <a:cs typeface="Arial" pitchFamily="34" charset="-120"/>
              </a:rPr>
              <a:t>Yes/Go</a:t>
            </a:r>
            <a:endParaRPr lang="en-US" sz="2300" dirty="0"/>
          </a:p>
        </p:txBody>
      </p:sp>
      <p:sp>
        <p:nvSpPr>
          <p:cNvPr id="22" name="Text 19"/>
          <p:cNvSpPr/>
          <p:nvPr/>
        </p:nvSpPr>
        <p:spPr>
          <a:xfrm>
            <a:off x="9054874" y="4775081"/>
            <a:ext cx="1899873"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从阻断风险到设计护栏</a:t>
            </a:r>
            <a:endParaRPr lang="en-US" sz="1300" dirty="0"/>
          </a:p>
        </p:txBody>
      </p:sp>
      <p:sp>
        <p:nvSpPr>
          <p:cNvPr id="23" name="Text 20"/>
          <p:cNvSpPr/>
          <p:nvPr/>
        </p:nvSpPr>
        <p:spPr>
          <a:xfrm>
            <a:off x="6832429" y="5283068"/>
            <a:ext cx="11679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不是无原则放行</a:t>
            </a:r>
            <a:endParaRPr lang="en-US" sz="1050" dirty="0"/>
          </a:p>
        </p:txBody>
      </p:sp>
      <p:sp>
        <p:nvSpPr>
          <p:cNvPr id="24" name="Text 21"/>
          <p:cNvSpPr/>
          <p:nvPr/>
        </p:nvSpPr>
        <p:spPr>
          <a:xfrm>
            <a:off x="9118372" y="5283068"/>
            <a:ext cx="1464019"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而是可验证 / 可回滚</a:t>
            </a:r>
            <a:endParaRPr lang="en-US" sz="1050" dirty="0"/>
          </a:p>
        </p:txBody>
      </p:sp>
      <p:sp>
        <p:nvSpPr>
          <p:cNvPr id="25" name="Text 22"/>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IDE 边界从编辑入口扩展为 Agent 身份、运行、审批与证据控制面。</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5-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138172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产品化</a:t>
            </a:r>
            <a:endParaRPr lang="en-US" sz="3000" dirty="0"/>
          </a:p>
        </p:txBody>
      </p:sp>
      <p:sp>
        <p:nvSpPr>
          <p:cNvPr id="4" name="Text 1"/>
          <p:cNvSpPr/>
          <p:nvPr/>
        </p:nvSpPr>
        <p:spPr>
          <a:xfrm>
            <a:off x="634984" y="1549361"/>
            <a:ext cx="5058284"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主流工具正在把 Agent 能力收敛为 ADE 的工程基座。</a:t>
            </a:r>
            <a:endParaRPr lang="en-US" sz="1550" dirty="0"/>
          </a:p>
        </p:txBody>
      </p:sp>
      <p:sp>
        <p:nvSpPr>
          <p:cNvPr id="5" name="Text 2"/>
          <p:cNvSpPr/>
          <p:nvPr/>
        </p:nvSpPr>
        <p:spPr>
          <a:xfrm>
            <a:off x="2374841" y="2400240"/>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106BEF"/>
                </a:solidFill>
                <a:latin typeface="Arial" pitchFamily="34" charset="0"/>
                <a:ea typeface="Arial" pitchFamily="34" charset="-122"/>
                <a:cs typeface="Arial" pitchFamily="34" charset="-120"/>
              </a:rPr>
              <a:t>01</a:t>
            </a:r>
            <a:endParaRPr lang="en-US" sz="1600" dirty="0"/>
          </a:p>
        </p:txBody>
      </p:sp>
      <p:sp>
        <p:nvSpPr>
          <p:cNvPr id="6" name="Text 3"/>
          <p:cNvSpPr/>
          <p:nvPr/>
        </p:nvSpPr>
        <p:spPr>
          <a:xfrm>
            <a:off x="2755831" y="2406590"/>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入口与委托</a:t>
            </a:r>
            <a:endParaRPr lang="en-US" sz="1550" dirty="0"/>
          </a:p>
        </p:txBody>
      </p:sp>
      <p:sp>
        <p:nvSpPr>
          <p:cNvPr id="7" name="Text 4"/>
          <p:cNvSpPr/>
          <p:nvPr/>
        </p:nvSpPr>
        <p:spPr>
          <a:xfrm>
            <a:off x="8155228" y="2304484"/>
            <a:ext cx="1761192" cy="177796"/>
          </a:xfrm>
          <a:prstGeom prst="rect">
            <a:avLst/>
          </a:prstGeom>
          <a:noFill/>
          <a:ln/>
        </p:spPr>
        <p:txBody>
          <a:bodyPr wrap="square" lIns="0" tIns="0" rIns="0" bIns="0" rtlCol="0" anchor="t">
            <a:normAutofit/>
          </a:bodyPr>
          <a:lstStyle/>
          <a:p>
            <a:pPr algn="ctr" indent="0" marL="0">
              <a:buNone/>
            </a:pPr>
            <a:r>
              <a:rPr lang="en-US" sz="900" b="1" dirty="0">
                <a:solidFill>
                  <a:srgbClr val="106BEF"/>
                </a:solidFill>
                <a:latin typeface="Microsoft YaHei" pitchFamily="34" charset="0"/>
                <a:ea typeface="Microsoft YaHei" pitchFamily="34" charset="-122"/>
                <a:cs typeface="Microsoft YaHei" pitchFamily="34" charset="-120"/>
              </a:rPr>
              <a:t>GitHub / Codex / Agent HQ</a:t>
            </a:r>
            <a:endParaRPr lang="en-US" sz="900" dirty="0"/>
          </a:p>
        </p:txBody>
      </p:sp>
      <p:sp>
        <p:nvSpPr>
          <p:cNvPr id="8" name="Text 5"/>
          <p:cNvSpPr/>
          <p:nvPr/>
        </p:nvSpPr>
        <p:spPr>
          <a:xfrm>
            <a:off x="3111422" y="2730432"/>
            <a:ext cx="19034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Issue / Chat / CLI 触发</a:t>
            </a:r>
            <a:endParaRPr lang="en-US" sz="1100" dirty="0"/>
          </a:p>
        </p:txBody>
      </p:sp>
      <p:sp>
        <p:nvSpPr>
          <p:cNvPr id="9" name="Text 6"/>
          <p:cNvSpPr/>
          <p:nvPr/>
        </p:nvSpPr>
        <p:spPr>
          <a:xfrm>
            <a:off x="5727557" y="2730432"/>
            <a:ext cx="135581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隔离环境承接执行</a:t>
            </a:r>
            <a:endParaRPr lang="en-US" sz="1100" dirty="0"/>
          </a:p>
        </p:txBody>
      </p:sp>
      <p:sp>
        <p:nvSpPr>
          <p:cNvPr id="10" name="Text 7"/>
          <p:cNvSpPr/>
          <p:nvPr/>
        </p:nvSpPr>
        <p:spPr>
          <a:xfrm>
            <a:off x="8407190" y="2730432"/>
            <a:ext cx="1428460"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结果回到分支 / PR</a:t>
            </a:r>
            <a:endParaRPr lang="en-US" sz="1100" dirty="0"/>
          </a:p>
        </p:txBody>
      </p:sp>
      <p:sp>
        <p:nvSpPr>
          <p:cNvPr id="11" name="Text 8"/>
          <p:cNvSpPr/>
          <p:nvPr/>
        </p:nvSpPr>
        <p:spPr>
          <a:xfrm>
            <a:off x="2374841" y="3670208"/>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FF5A1F"/>
                </a:solidFill>
                <a:latin typeface="Arial" pitchFamily="34" charset="0"/>
                <a:ea typeface="Arial" pitchFamily="34" charset="-122"/>
                <a:cs typeface="Arial" pitchFamily="34" charset="-120"/>
              </a:rPr>
              <a:t>02</a:t>
            </a:r>
            <a:endParaRPr lang="en-US" sz="1600" dirty="0"/>
          </a:p>
        </p:txBody>
      </p:sp>
      <p:sp>
        <p:nvSpPr>
          <p:cNvPr id="12" name="Text 9"/>
          <p:cNvSpPr/>
          <p:nvPr/>
        </p:nvSpPr>
        <p:spPr>
          <a:xfrm>
            <a:off x="2755831" y="3676558"/>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治理与护栏</a:t>
            </a:r>
            <a:endParaRPr lang="en-US" sz="1550" dirty="0"/>
          </a:p>
        </p:txBody>
      </p:sp>
      <p:sp>
        <p:nvSpPr>
          <p:cNvPr id="13" name="Text 10"/>
          <p:cNvSpPr/>
          <p:nvPr/>
        </p:nvSpPr>
        <p:spPr>
          <a:xfrm>
            <a:off x="8130083" y="3574453"/>
            <a:ext cx="1811483" cy="177796"/>
          </a:xfrm>
          <a:prstGeom prst="rect">
            <a:avLst/>
          </a:prstGeom>
          <a:noFill/>
          <a:ln/>
        </p:spPr>
        <p:txBody>
          <a:bodyPr wrap="square" lIns="0" tIns="0" rIns="0" bIns="0" rtlCol="0" anchor="t">
            <a:normAutofit/>
          </a:bodyPr>
          <a:lstStyle/>
          <a:p>
            <a:pPr algn="ctr" indent="0" marL="0">
              <a:buNone/>
            </a:pPr>
            <a:r>
              <a:rPr lang="en-US" sz="900" b="1" dirty="0">
                <a:solidFill>
                  <a:srgbClr val="FF5A1F"/>
                </a:solidFill>
                <a:latin typeface="Microsoft YaHei" pitchFamily="34" charset="0"/>
                <a:ea typeface="Microsoft YaHei" pitchFamily="34" charset="-122"/>
                <a:cs typeface="Microsoft YaHei" pitchFamily="34" charset="-120"/>
              </a:rPr>
              <a:t>Copilot / Claude / Lobster</a:t>
            </a:r>
            <a:endParaRPr lang="en-US" sz="900" dirty="0"/>
          </a:p>
        </p:txBody>
      </p:sp>
      <p:sp>
        <p:nvSpPr>
          <p:cNvPr id="14" name="Text 11"/>
          <p:cNvSpPr/>
          <p:nvPr/>
        </p:nvSpPr>
        <p:spPr>
          <a:xfrm>
            <a:off x="3111422" y="4000400"/>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模型与角色按任务选择</a:t>
            </a:r>
            <a:endParaRPr lang="en-US" sz="1100" dirty="0"/>
          </a:p>
        </p:txBody>
      </p:sp>
      <p:sp>
        <p:nvSpPr>
          <p:cNvPr id="15" name="Text 12"/>
          <p:cNvSpPr/>
          <p:nvPr/>
        </p:nvSpPr>
        <p:spPr>
          <a:xfrm>
            <a:off x="5727557" y="4000400"/>
            <a:ext cx="1763732"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权限、Hooks、审批拦截</a:t>
            </a:r>
            <a:endParaRPr lang="en-US" sz="1100" dirty="0"/>
          </a:p>
        </p:txBody>
      </p:sp>
      <p:sp>
        <p:nvSpPr>
          <p:cNvPr id="16" name="Text 13"/>
          <p:cNvSpPr/>
          <p:nvPr/>
        </p:nvSpPr>
        <p:spPr>
          <a:xfrm>
            <a:off x="8407190" y="4000400"/>
            <a:ext cx="149830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隔离与恢复并入流程</a:t>
            </a:r>
            <a:endParaRPr lang="en-US" sz="1100" dirty="0"/>
          </a:p>
        </p:txBody>
      </p:sp>
      <p:sp>
        <p:nvSpPr>
          <p:cNvPr id="17" name="Text 14"/>
          <p:cNvSpPr/>
          <p:nvPr/>
        </p:nvSpPr>
        <p:spPr>
          <a:xfrm>
            <a:off x="2374841" y="4940176"/>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106BEF"/>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2755831" y="4946526"/>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证据与复盘</a:t>
            </a:r>
            <a:endParaRPr lang="en-US" sz="1550" dirty="0"/>
          </a:p>
        </p:txBody>
      </p:sp>
      <p:sp>
        <p:nvSpPr>
          <p:cNvPr id="19" name="Text 16"/>
          <p:cNvSpPr/>
          <p:nvPr/>
        </p:nvSpPr>
        <p:spPr>
          <a:xfrm>
            <a:off x="8276383" y="4844421"/>
            <a:ext cx="1518882" cy="177796"/>
          </a:xfrm>
          <a:prstGeom prst="rect">
            <a:avLst/>
          </a:prstGeom>
          <a:noFill/>
          <a:ln/>
        </p:spPr>
        <p:txBody>
          <a:bodyPr wrap="square" lIns="0" tIns="0" rIns="0" bIns="0" rtlCol="0" anchor="t">
            <a:normAutofit/>
          </a:bodyPr>
          <a:lstStyle/>
          <a:p>
            <a:pPr algn="ctr" indent="0" marL="0">
              <a:buNone/>
            </a:pPr>
            <a:r>
              <a:rPr lang="en-US" sz="900" b="1" dirty="0">
                <a:solidFill>
                  <a:srgbClr val="106BEF"/>
                </a:solidFill>
                <a:latin typeface="Microsoft YaHei" pitchFamily="34" charset="0"/>
                <a:ea typeface="Microsoft YaHei" pitchFamily="34" charset="-122"/>
                <a:cs typeface="Microsoft YaHei" pitchFamily="34" charset="-120"/>
              </a:rPr>
              <a:t>Trace / Evals / AIDev</a:t>
            </a:r>
            <a:endParaRPr lang="en-US" sz="900" dirty="0"/>
          </a:p>
        </p:txBody>
      </p:sp>
      <p:sp>
        <p:nvSpPr>
          <p:cNvPr id="20" name="Text 17"/>
          <p:cNvSpPr/>
          <p:nvPr/>
        </p:nvSpPr>
        <p:spPr>
          <a:xfrm>
            <a:off x="3111422" y="5270368"/>
            <a:ext cx="178328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规则上下文随仓库版本化</a:t>
            </a:r>
            <a:endParaRPr lang="en-US" sz="1100" dirty="0"/>
          </a:p>
        </p:txBody>
      </p:sp>
      <p:sp>
        <p:nvSpPr>
          <p:cNvPr id="21" name="Text 18"/>
          <p:cNvSpPr/>
          <p:nvPr/>
        </p:nvSpPr>
        <p:spPr>
          <a:xfrm>
            <a:off x="5727557" y="5270368"/>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日志、评审、自检前置</a:t>
            </a:r>
            <a:endParaRPr lang="en-US" sz="1100" dirty="0"/>
          </a:p>
        </p:txBody>
      </p:sp>
      <p:sp>
        <p:nvSpPr>
          <p:cNvPr id="22" name="Text 19"/>
          <p:cNvSpPr/>
          <p:nvPr/>
        </p:nvSpPr>
        <p:spPr>
          <a:xfrm>
            <a:off x="8407190" y="5270368"/>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失败样本变成评估资产</a:t>
            </a:r>
            <a:endParaRPr lang="en-US" sz="1100" dirty="0"/>
          </a:p>
        </p:txBody>
      </p:sp>
      <p:sp>
        <p:nvSpPr>
          <p:cNvPr id="23" name="Text 20"/>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BitFun/ADE：在 IDE 与本地工程上下文中组织规则、权限、证据和协作边界。</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6-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1892253"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ADE 范围</a:t>
            </a:r>
            <a:endParaRPr lang="en-US" sz="3000" dirty="0"/>
          </a:p>
        </p:txBody>
      </p:sp>
      <p:sp>
        <p:nvSpPr>
          <p:cNvPr id="4" name="Text 1"/>
          <p:cNvSpPr/>
          <p:nvPr/>
        </p:nvSpPr>
        <p:spPr>
          <a:xfrm>
            <a:off x="634984" y="1549361"/>
            <a:ext cx="4833880"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把需求、实现、评审、发布和反馈连成可验证链路。</a:t>
            </a:r>
            <a:endParaRPr lang="en-US" sz="1550" dirty="0"/>
          </a:p>
        </p:txBody>
      </p:sp>
      <p:sp>
        <p:nvSpPr>
          <p:cNvPr id="5" name="Text 2"/>
          <p:cNvSpPr/>
          <p:nvPr/>
        </p:nvSpPr>
        <p:spPr>
          <a:xfrm>
            <a:off x="1396965"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01</a:t>
            </a:r>
            <a:endParaRPr lang="en-US" sz="1300" dirty="0"/>
          </a:p>
        </p:txBody>
      </p:sp>
      <p:sp>
        <p:nvSpPr>
          <p:cNvPr id="6" name="Text 3"/>
          <p:cNvSpPr/>
          <p:nvPr/>
        </p:nvSpPr>
        <p:spPr>
          <a:xfrm>
            <a:off x="1105825" y="3327317"/>
            <a:ext cx="1090268"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需求与场景</a:t>
            </a:r>
            <a:endParaRPr lang="en-US" sz="1350" dirty="0"/>
          </a:p>
        </p:txBody>
      </p:sp>
      <p:sp>
        <p:nvSpPr>
          <p:cNvPr id="7" name="Text 4"/>
          <p:cNvSpPr/>
          <p:nvPr/>
        </p:nvSpPr>
        <p:spPr>
          <a:xfrm>
            <a:off x="1078203" y="3695608"/>
            <a:ext cx="1145511"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PRD / 用户目标</a:t>
            </a:r>
            <a:endParaRPr lang="en-US" sz="1000" dirty="0"/>
          </a:p>
        </p:txBody>
      </p:sp>
      <p:sp>
        <p:nvSpPr>
          <p:cNvPr id="8" name="Text 5"/>
          <p:cNvSpPr/>
          <p:nvPr/>
        </p:nvSpPr>
        <p:spPr>
          <a:xfrm>
            <a:off x="1112302"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产品取舍与约束</a:t>
            </a:r>
            <a:endParaRPr lang="en-US" sz="950" dirty="0"/>
          </a:p>
        </p:txBody>
      </p:sp>
      <p:sp>
        <p:nvSpPr>
          <p:cNvPr id="9" name="Text 6"/>
          <p:cNvSpPr/>
          <p:nvPr/>
        </p:nvSpPr>
        <p:spPr>
          <a:xfrm>
            <a:off x="3670208"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02</a:t>
            </a:r>
            <a:endParaRPr lang="en-US" sz="1300" dirty="0"/>
          </a:p>
        </p:txBody>
      </p:sp>
      <p:sp>
        <p:nvSpPr>
          <p:cNvPr id="10" name="Text 7"/>
          <p:cNvSpPr/>
          <p:nvPr/>
        </p:nvSpPr>
        <p:spPr>
          <a:xfrm>
            <a:off x="3466505"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任务说明</a:t>
            </a:r>
            <a:endParaRPr lang="en-US" sz="1350" dirty="0"/>
          </a:p>
        </p:txBody>
      </p:sp>
      <p:sp>
        <p:nvSpPr>
          <p:cNvPr id="11" name="Text 8"/>
          <p:cNvSpPr/>
          <p:nvPr/>
        </p:nvSpPr>
        <p:spPr>
          <a:xfrm>
            <a:off x="3416215" y="3695608"/>
            <a:ext cx="1015975"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目标 / 非目标</a:t>
            </a:r>
            <a:endParaRPr lang="en-US" sz="1000" dirty="0"/>
          </a:p>
        </p:txBody>
      </p:sp>
      <p:sp>
        <p:nvSpPr>
          <p:cNvPr id="12" name="Text 9"/>
          <p:cNvSpPr/>
          <p:nvPr/>
        </p:nvSpPr>
        <p:spPr>
          <a:xfrm>
            <a:off x="3385545"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验收与风险边界</a:t>
            </a:r>
            <a:endParaRPr lang="en-US" sz="950" dirty="0"/>
          </a:p>
        </p:txBody>
      </p:sp>
      <p:sp>
        <p:nvSpPr>
          <p:cNvPr id="13" name="Text 10"/>
          <p:cNvSpPr/>
          <p:nvPr/>
        </p:nvSpPr>
        <p:spPr>
          <a:xfrm>
            <a:off x="5943451"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FF5A1F"/>
                </a:solidFill>
                <a:latin typeface="Arial" pitchFamily="34" charset="0"/>
                <a:ea typeface="Arial" pitchFamily="34" charset="-122"/>
                <a:cs typeface="Arial" pitchFamily="34" charset="-120"/>
              </a:rPr>
              <a:t>03</a:t>
            </a:r>
            <a:endParaRPr lang="en-US" sz="1300" dirty="0"/>
          </a:p>
        </p:txBody>
      </p:sp>
      <p:sp>
        <p:nvSpPr>
          <p:cNvPr id="14" name="Text 11"/>
          <p:cNvSpPr/>
          <p:nvPr/>
        </p:nvSpPr>
        <p:spPr>
          <a:xfrm>
            <a:off x="5739749"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实现验证</a:t>
            </a:r>
            <a:endParaRPr lang="en-US" sz="1350" dirty="0"/>
          </a:p>
        </p:txBody>
      </p:sp>
      <p:sp>
        <p:nvSpPr>
          <p:cNvPr id="15" name="Text 12"/>
          <p:cNvSpPr/>
          <p:nvPr/>
        </p:nvSpPr>
        <p:spPr>
          <a:xfrm>
            <a:off x="5548491" y="3695608"/>
            <a:ext cx="1297908"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代码 / 测试 / 日志</a:t>
            </a:r>
            <a:endParaRPr lang="en-US" sz="1000" dirty="0"/>
          </a:p>
        </p:txBody>
      </p:sp>
      <p:sp>
        <p:nvSpPr>
          <p:cNvPr id="16" name="Text 13"/>
          <p:cNvSpPr/>
          <p:nvPr/>
        </p:nvSpPr>
        <p:spPr>
          <a:xfrm>
            <a:off x="5658788"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隔离执行与证据</a:t>
            </a:r>
            <a:endParaRPr lang="en-US" sz="950" dirty="0"/>
          </a:p>
        </p:txBody>
      </p:sp>
      <p:sp>
        <p:nvSpPr>
          <p:cNvPr id="17" name="Text 14"/>
          <p:cNvSpPr/>
          <p:nvPr/>
        </p:nvSpPr>
        <p:spPr>
          <a:xfrm>
            <a:off x="8216695"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FF5A1F"/>
                </a:solidFill>
                <a:latin typeface="Arial" pitchFamily="34" charset="0"/>
                <a:ea typeface="Arial" pitchFamily="34" charset="-122"/>
                <a:cs typeface="Arial" pitchFamily="34" charset="-120"/>
              </a:rPr>
              <a:t>04</a:t>
            </a:r>
            <a:endParaRPr lang="en-US" sz="1300" dirty="0"/>
          </a:p>
        </p:txBody>
      </p:sp>
      <p:sp>
        <p:nvSpPr>
          <p:cNvPr id="18" name="Text 15"/>
          <p:cNvSpPr/>
          <p:nvPr/>
        </p:nvSpPr>
        <p:spPr>
          <a:xfrm>
            <a:off x="8012992"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评审交付</a:t>
            </a:r>
            <a:endParaRPr lang="en-US" sz="1350" dirty="0"/>
          </a:p>
        </p:txBody>
      </p:sp>
      <p:sp>
        <p:nvSpPr>
          <p:cNvPr id="19" name="Text 16"/>
          <p:cNvSpPr/>
          <p:nvPr/>
        </p:nvSpPr>
        <p:spPr>
          <a:xfrm>
            <a:off x="7908092" y="3695608"/>
            <a:ext cx="1125192"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PR / Artifact</a:t>
            </a:r>
            <a:endParaRPr lang="en-US" sz="1000" dirty="0"/>
          </a:p>
        </p:txBody>
      </p:sp>
      <p:sp>
        <p:nvSpPr>
          <p:cNvPr id="20" name="Text 17"/>
          <p:cNvSpPr/>
          <p:nvPr/>
        </p:nvSpPr>
        <p:spPr>
          <a:xfrm>
            <a:off x="7932031"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责任与放行判断</a:t>
            </a:r>
            <a:endParaRPr lang="en-US" sz="950" dirty="0"/>
          </a:p>
        </p:txBody>
      </p:sp>
      <p:sp>
        <p:nvSpPr>
          <p:cNvPr id="21" name="Text 18"/>
          <p:cNvSpPr/>
          <p:nvPr/>
        </p:nvSpPr>
        <p:spPr>
          <a:xfrm>
            <a:off x="10489938"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05</a:t>
            </a:r>
            <a:endParaRPr lang="en-US" sz="1300" dirty="0"/>
          </a:p>
        </p:txBody>
      </p:sp>
      <p:sp>
        <p:nvSpPr>
          <p:cNvPr id="22" name="Text 19"/>
          <p:cNvSpPr/>
          <p:nvPr/>
        </p:nvSpPr>
        <p:spPr>
          <a:xfrm>
            <a:off x="10286235"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运维演进</a:t>
            </a:r>
            <a:endParaRPr lang="en-US" sz="1350" dirty="0"/>
          </a:p>
        </p:txBody>
      </p:sp>
      <p:sp>
        <p:nvSpPr>
          <p:cNvPr id="23" name="Text 20"/>
          <p:cNvSpPr/>
          <p:nvPr/>
        </p:nvSpPr>
        <p:spPr>
          <a:xfrm>
            <a:off x="10300712" y="3695608"/>
            <a:ext cx="886438"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反馈 / 复盘</a:t>
            </a:r>
            <a:endParaRPr lang="en-US" sz="1000" dirty="0"/>
          </a:p>
        </p:txBody>
      </p:sp>
      <p:sp>
        <p:nvSpPr>
          <p:cNvPr id="24" name="Text 21"/>
          <p:cNvSpPr/>
          <p:nvPr/>
        </p:nvSpPr>
        <p:spPr>
          <a:xfrm>
            <a:off x="10205274"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沉淀规则和架构</a:t>
            </a:r>
            <a:endParaRPr lang="en-US" sz="950" dirty="0"/>
          </a:p>
        </p:txBody>
      </p:sp>
      <p:sp>
        <p:nvSpPr>
          <p:cNvPr id="25" name="Text 22"/>
          <p:cNvSpPr/>
          <p:nvPr/>
        </p:nvSpPr>
        <p:spPr>
          <a:xfrm>
            <a:off x="1917652"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个人原型</a:t>
            </a:r>
            <a:endParaRPr lang="en-US" sz="1200" dirty="0"/>
          </a:p>
        </p:txBody>
      </p:sp>
      <p:sp>
        <p:nvSpPr>
          <p:cNvPr id="26" name="Text 23"/>
          <p:cNvSpPr/>
          <p:nvPr/>
        </p:nvSpPr>
        <p:spPr>
          <a:xfrm>
            <a:off x="1917652" y="4946526"/>
            <a:ext cx="21680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快速验证 / 可回滚 / 低协作成本</a:t>
            </a:r>
            <a:endParaRPr lang="en-US" sz="1050" dirty="0"/>
          </a:p>
        </p:txBody>
      </p:sp>
      <p:sp>
        <p:nvSpPr>
          <p:cNvPr id="27" name="Text 24"/>
          <p:cNvSpPr/>
          <p:nvPr/>
        </p:nvSpPr>
        <p:spPr>
          <a:xfrm>
            <a:off x="5092573"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FF5A1F"/>
                </a:solidFill>
                <a:latin typeface="Microsoft YaHei" pitchFamily="34" charset="0"/>
                <a:ea typeface="Microsoft YaHei" pitchFamily="34" charset="-122"/>
                <a:cs typeface="Microsoft YaHei" pitchFamily="34" charset="-120"/>
              </a:rPr>
              <a:t>开源仓库</a:t>
            </a:r>
            <a:endParaRPr lang="en-US" sz="1200" dirty="0"/>
          </a:p>
        </p:txBody>
      </p:sp>
      <p:sp>
        <p:nvSpPr>
          <p:cNvPr id="28" name="Text 25"/>
          <p:cNvSpPr/>
          <p:nvPr/>
        </p:nvSpPr>
        <p:spPr>
          <a:xfrm>
            <a:off x="5092573" y="4946526"/>
            <a:ext cx="2256099"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PR 质量 / 维护者信任 / 公共责任</a:t>
            </a:r>
            <a:endParaRPr lang="en-US" sz="1050" dirty="0"/>
          </a:p>
        </p:txBody>
      </p:sp>
      <p:sp>
        <p:nvSpPr>
          <p:cNvPr id="29" name="Text 26"/>
          <p:cNvSpPr/>
          <p:nvPr/>
        </p:nvSpPr>
        <p:spPr>
          <a:xfrm>
            <a:off x="8267493"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企业工程</a:t>
            </a:r>
            <a:endParaRPr lang="en-US" sz="1200" dirty="0"/>
          </a:p>
        </p:txBody>
      </p:sp>
      <p:sp>
        <p:nvSpPr>
          <p:cNvPr id="30" name="Text 27"/>
          <p:cNvSpPr/>
          <p:nvPr/>
        </p:nvSpPr>
        <p:spPr>
          <a:xfrm>
            <a:off x="8267493" y="4946526"/>
            <a:ext cx="230410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权限合规 / 跨团队协作 / 线上稳定</a:t>
            </a:r>
            <a:endParaRPr lang="en-US" sz="1050" dirty="0"/>
          </a:p>
        </p:txBody>
      </p:sp>
      <p:sp>
        <p:nvSpPr>
          <p:cNvPr id="31" name="Text 28"/>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ADE 的价值：让 Agent 能力沿研发链路沉淀为可验证、可放行、可复盘的交付过程。</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7-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需求到任务</a:t>
            </a:r>
            <a:endParaRPr lang="en-US" sz="3000" dirty="0"/>
          </a:p>
        </p:txBody>
      </p:sp>
      <p:sp>
        <p:nvSpPr>
          <p:cNvPr id="4" name="Text 1"/>
          <p:cNvSpPr/>
          <p:nvPr/>
        </p:nvSpPr>
        <p:spPr>
          <a:xfrm>
            <a:off x="634984" y="1549361"/>
            <a:ext cx="6038572"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把模糊需求转成可执行任务说明：先定义目标、验收和风险边界。</a:t>
            </a:r>
            <a:endParaRPr lang="en-US" sz="1550" dirty="0"/>
          </a:p>
        </p:txBody>
      </p:sp>
      <p:sp>
        <p:nvSpPr>
          <p:cNvPr id="5" name="Text 2"/>
          <p:cNvSpPr/>
          <p:nvPr/>
        </p:nvSpPr>
        <p:spPr>
          <a:xfrm>
            <a:off x="1587460" y="2819330"/>
            <a:ext cx="507987"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输入</a:t>
            </a:r>
            <a:endParaRPr lang="en-US" sz="1100" dirty="0"/>
          </a:p>
        </p:txBody>
      </p:sp>
      <p:sp>
        <p:nvSpPr>
          <p:cNvPr id="6" name="Text 3"/>
          <p:cNvSpPr/>
          <p:nvPr/>
        </p:nvSpPr>
        <p:spPr>
          <a:xfrm>
            <a:off x="1587460"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产品材料</a:t>
            </a:r>
            <a:endParaRPr lang="en-US" sz="1550" dirty="0"/>
          </a:p>
        </p:txBody>
      </p:sp>
      <p:sp>
        <p:nvSpPr>
          <p:cNvPr id="7" name="Text 4"/>
          <p:cNvSpPr/>
          <p:nvPr/>
        </p:nvSpPr>
        <p:spPr>
          <a:xfrm>
            <a:off x="1295368" y="3670208"/>
            <a:ext cx="158288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用户场景 / 业务目标</a:t>
            </a:r>
            <a:endParaRPr lang="en-US" sz="1150" dirty="0"/>
          </a:p>
        </p:txBody>
      </p:sp>
      <p:sp>
        <p:nvSpPr>
          <p:cNvPr id="8" name="Text 5"/>
          <p:cNvSpPr/>
          <p:nvPr/>
        </p:nvSpPr>
        <p:spPr>
          <a:xfrm>
            <a:off x="1295368" y="4013100"/>
            <a:ext cx="158288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设计约束 / 历史决策</a:t>
            </a:r>
            <a:endParaRPr lang="en-US" sz="1150" dirty="0"/>
          </a:p>
        </p:txBody>
      </p:sp>
      <p:sp>
        <p:nvSpPr>
          <p:cNvPr id="9" name="Text 6"/>
          <p:cNvSpPr/>
          <p:nvPr/>
        </p:nvSpPr>
        <p:spPr>
          <a:xfrm>
            <a:off x="1295368" y="4355991"/>
            <a:ext cx="1407633"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非目标与风险来源</a:t>
            </a:r>
            <a:endParaRPr lang="en-US" sz="1150" dirty="0"/>
          </a:p>
        </p:txBody>
      </p:sp>
      <p:sp>
        <p:nvSpPr>
          <p:cNvPr id="10" name="Text 7"/>
          <p:cNvSpPr/>
          <p:nvPr/>
        </p:nvSpPr>
        <p:spPr>
          <a:xfrm>
            <a:off x="5581510" y="2819330"/>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阶段产物</a:t>
            </a:r>
            <a:endParaRPr lang="en-US" sz="1100" dirty="0"/>
          </a:p>
        </p:txBody>
      </p:sp>
      <p:sp>
        <p:nvSpPr>
          <p:cNvPr id="11" name="Text 8"/>
          <p:cNvSpPr/>
          <p:nvPr/>
        </p:nvSpPr>
        <p:spPr>
          <a:xfrm>
            <a:off x="5581510"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任务说明</a:t>
            </a:r>
            <a:endParaRPr lang="en-US" sz="1550" dirty="0"/>
          </a:p>
        </p:txBody>
      </p:sp>
      <p:sp>
        <p:nvSpPr>
          <p:cNvPr id="12" name="Text 9"/>
          <p:cNvSpPr/>
          <p:nvPr/>
        </p:nvSpPr>
        <p:spPr>
          <a:xfrm>
            <a:off x="5314817" y="3574961"/>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目标</a:t>
            </a:r>
            <a:endParaRPr lang="en-US" sz="1150" dirty="0"/>
          </a:p>
        </p:txBody>
      </p:sp>
      <p:sp>
        <p:nvSpPr>
          <p:cNvPr id="13" name="Text 10"/>
          <p:cNvSpPr/>
          <p:nvPr/>
        </p:nvSpPr>
        <p:spPr>
          <a:xfrm>
            <a:off x="5886303" y="3581310"/>
            <a:ext cx="89596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要解决什么</a:t>
            </a:r>
            <a:endParaRPr lang="en-US" sz="1050" dirty="0"/>
          </a:p>
        </p:txBody>
      </p:sp>
      <p:sp>
        <p:nvSpPr>
          <p:cNvPr id="14" name="Text 11"/>
          <p:cNvSpPr/>
          <p:nvPr/>
        </p:nvSpPr>
        <p:spPr>
          <a:xfrm>
            <a:off x="5314817" y="3867053"/>
            <a:ext cx="662796"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非目标</a:t>
            </a:r>
            <a:endParaRPr lang="en-US" sz="1150" dirty="0"/>
          </a:p>
        </p:txBody>
      </p:sp>
      <p:sp>
        <p:nvSpPr>
          <p:cNvPr id="15" name="Text 12"/>
          <p:cNvSpPr/>
          <p:nvPr/>
        </p:nvSpPr>
        <p:spPr>
          <a:xfrm>
            <a:off x="5886303" y="3873403"/>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本轮不做什么</a:t>
            </a:r>
            <a:endParaRPr lang="en-US" sz="1050" dirty="0"/>
          </a:p>
        </p:txBody>
      </p:sp>
      <p:sp>
        <p:nvSpPr>
          <p:cNvPr id="16" name="Text 13"/>
          <p:cNvSpPr/>
          <p:nvPr/>
        </p:nvSpPr>
        <p:spPr>
          <a:xfrm>
            <a:off x="5314817" y="4159146"/>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验收</a:t>
            </a:r>
            <a:endParaRPr lang="en-US" sz="1150" dirty="0"/>
          </a:p>
        </p:txBody>
      </p:sp>
      <p:sp>
        <p:nvSpPr>
          <p:cNvPr id="17" name="Text 14"/>
          <p:cNvSpPr/>
          <p:nvPr/>
        </p:nvSpPr>
        <p:spPr>
          <a:xfrm>
            <a:off x="5886303" y="4165496"/>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如何判断完成</a:t>
            </a:r>
            <a:endParaRPr lang="en-US" sz="1050" dirty="0"/>
          </a:p>
        </p:txBody>
      </p:sp>
      <p:sp>
        <p:nvSpPr>
          <p:cNvPr id="18" name="Text 15"/>
          <p:cNvSpPr/>
          <p:nvPr/>
        </p:nvSpPr>
        <p:spPr>
          <a:xfrm>
            <a:off x="5314817" y="4451239"/>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风险</a:t>
            </a:r>
            <a:endParaRPr lang="en-US" sz="1150" dirty="0"/>
          </a:p>
        </p:txBody>
      </p:sp>
      <p:sp>
        <p:nvSpPr>
          <p:cNvPr id="19" name="Text 16"/>
          <p:cNvSpPr/>
          <p:nvPr/>
        </p:nvSpPr>
        <p:spPr>
          <a:xfrm>
            <a:off x="5886303" y="4457589"/>
            <a:ext cx="11679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哪些边界要守住</a:t>
            </a:r>
            <a:endParaRPr lang="en-US" sz="1050" dirty="0"/>
          </a:p>
        </p:txBody>
      </p:sp>
      <p:sp>
        <p:nvSpPr>
          <p:cNvPr id="20" name="Text 17"/>
          <p:cNvSpPr/>
          <p:nvPr/>
        </p:nvSpPr>
        <p:spPr>
          <a:xfrm>
            <a:off x="9575561" y="2819330"/>
            <a:ext cx="507987" cy="202560"/>
          </a:xfrm>
          <a:prstGeom prst="rect">
            <a:avLst/>
          </a:prstGeom>
          <a:noFill/>
          <a:ln/>
        </p:spPr>
        <p:txBody>
          <a:bodyPr wrap="square" lIns="0" tIns="0" rIns="0" bIns="0" rtlCol="0" anchor="t">
            <a:normAutofit/>
          </a:bodyPr>
          <a:lstStyle/>
          <a:p>
            <a:pPr algn="l" indent="0" marL="0">
              <a:buNone/>
            </a:pPr>
            <a:r>
              <a:rPr lang="en-US" sz="1100" b="1" dirty="0">
                <a:solidFill>
                  <a:srgbClr val="FF5A1F"/>
                </a:solidFill>
                <a:latin typeface="Microsoft YaHei" pitchFamily="34" charset="0"/>
                <a:ea typeface="Microsoft YaHei" pitchFamily="34" charset="-122"/>
                <a:cs typeface="Microsoft YaHei" pitchFamily="34" charset="-120"/>
              </a:rPr>
              <a:t>判断</a:t>
            </a:r>
            <a:endParaRPr lang="en-US" sz="1100" dirty="0"/>
          </a:p>
        </p:txBody>
      </p:sp>
      <p:sp>
        <p:nvSpPr>
          <p:cNvPr id="21" name="Text 18"/>
          <p:cNvSpPr/>
          <p:nvPr/>
        </p:nvSpPr>
        <p:spPr>
          <a:xfrm>
            <a:off x="9575561"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人机分工</a:t>
            </a:r>
            <a:endParaRPr lang="en-US" sz="1550" dirty="0"/>
          </a:p>
        </p:txBody>
      </p:sp>
      <p:sp>
        <p:nvSpPr>
          <p:cNvPr id="22" name="Text 19"/>
          <p:cNvSpPr/>
          <p:nvPr/>
        </p:nvSpPr>
        <p:spPr>
          <a:xfrm>
            <a:off x="9283468" y="3670208"/>
            <a:ext cx="205607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人：取舍 / 责任 / 成功定义</a:t>
            </a:r>
            <a:endParaRPr lang="en-US" sz="1150" dirty="0"/>
          </a:p>
        </p:txBody>
      </p:sp>
      <p:sp>
        <p:nvSpPr>
          <p:cNvPr id="23" name="Text 20"/>
          <p:cNvSpPr/>
          <p:nvPr/>
        </p:nvSpPr>
        <p:spPr>
          <a:xfrm>
            <a:off x="9283468" y="4013100"/>
            <a:ext cx="2105734"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AI：拆解 / 检索 / 计划草稿</a:t>
            </a:r>
            <a:endParaRPr lang="en-US" sz="1150" dirty="0"/>
          </a:p>
        </p:txBody>
      </p:sp>
      <p:sp>
        <p:nvSpPr>
          <p:cNvPr id="24" name="Text 21"/>
          <p:cNvSpPr/>
          <p:nvPr/>
        </p:nvSpPr>
        <p:spPr>
          <a:xfrm>
            <a:off x="9283468" y="4355991"/>
            <a:ext cx="1705567"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系统：记录来源与边界</a:t>
            </a:r>
            <a:endParaRPr lang="en-US" sz="1150" dirty="0"/>
          </a:p>
        </p:txBody>
      </p:sp>
      <p:sp>
        <p:nvSpPr>
          <p:cNvPr id="25" name="Text 22"/>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任务说明定义 Agent 执行的准入条件：先明确目标、边界、验收与风险。</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8-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实现到验证</a:t>
            </a:r>
            <a:endParaRPr lang="en-US" sz="3000" dirty="0"/>
          </a:p>
        </p:txBody>
      </p:sp>
      <p:sp>
        <p:nvSpPr>
          <p:cNvPr id="4" name="Text 1"/>
          <p:cNvSpPr/>
          <p:nvPr/>
        </p:nvSpPr>
        <p:spPr>
          <a:xfrm>
            <a:off x="634984" y="1549361"/>
            <a:ext cx="6440136"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允许生成过程探索，但每轮实现必须产出可复现、可比较的验证证据。</a:t>
            </a:r>
            <a:endParaRPr lang="en-US" sz="1550" dirty="0"/>
          </a:p>
        </p:txBody>
      </p:sp>
      <p:sp>
        <p:nvSpPr>
          <p:cNvPr id="5" name="Text 2"/>
          <p:cNvSpPr/>
          <p:nvPr/>
        </p:nvSpPr>
        <p:spPr>
          <a:xfrm>
            <a:off x="812780" y="2260543"/>
            <a:ext cx="4238011"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核心原则：过程可以概率性探索，放行必须依赖确定性验证。</a:t>
            </a:r>
            <a:endParaRPr lang="en-US" sz="1150" dirty="0"/>
          </a:p>
        </p:txBody>
      </p:sp>
      <p:sp>
        <p:nvSpPr>
          <p:cNvPr id="6" name="Text 3"/>
          <p:cNvSpPr/>
          <p:nvPr/>
        </p:nvSpPr>
        <p:spPr>
          <a:xfrm>
            <a:off x="1549361"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106BEF"/>
                </a:solidFill>
                <a:latin typeface="Arial" pitchFamily="34" charset="0"/>
                <a:ea typeface="Arial" pitchFamily="34" charset="-122"/>
                <a:cs typeface="Arial" pitchFamily="34" charset="-120"/>
              </a:rPr>
              <a:t>01</a:t>
            </a:r>
            <a:endParaRPr lang="en-US" sz="1550" dirty="0"/>
          </a:p>
        </p:txBody>
      </p:sp>
      <p:sp>
        <p:nvSpPr>
          <p:cNvPr id="7" name="Text 4"/>
          <p:cNvSpPr/>
          <p:nvPr/>
        </p:nvSpPr>
        <p:spPr>
          <a:xfrm>
            <a:off x="1549361"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隔离执行</a:t>
            </a:r>
            <a:endParaRPr lang="en-US" sz="1450" dirty="0"/>
          </a:p>
        </p:txBody>
      </p:sp>
      <p:sp>
        <p:nvSpPr>
          <p:cNvPr id="8" name="Text 5"/>
          <p:cNvSpPr/>
          <p:nvPr/>
        </p:nvSpPr>
        <p:spPr>
          <a:xfrm>
            <a:off x="1054074" y="3543211"/>
            <a:ext cx="1760049" cy="193353"/>
          </a:xfrm>
          <a:prstGeom prst="rect">
            <a:avLst/>
          </a:prstGeom>
          <a:noFill/>
          <a:ln/>
        </p:spPr>
        <p:txBody>
          <a:bodyPr wrap="square" lIns="0" tIns="0" rIns="0" bIns="0" rtlCol="0" anchor="t">
            <a:normAutofit/>
          </a:bodyPr>
          <a:lstStyle/>
          <a:p>
            <a:pPr algn="l" indent="0" marL="0">
              <a:buNone/>
            </a:pPr>
            <a:r>
              <a:rPr lang="en-US" sz="1050" b="1" dirty="0">
                <a:solidFill>
                  <a:srgbClr val="106BEF"/>
                </a:solidFill>
                <a:latin typeface="Microsoft YaHei" pitchFamily="34" charset="0"/>
                <a:ea typeface="Microsoft YaHei" pitchFamily="34" charset="-122"/>
                <a:cs typeface="Microsoft YaHei" pitchFamily="34" charset="-120"/>
              </a:rPr>
              <a:t>工作区 / 权限 / 工具轨迹</a:t>
            </a:r>
            <a:endParaRPr lang="en-US" sz="1050" dirty="0"/>
          </a:p>
        </p:txBody>
      </p:sp>
      <p:sp>
        <p:nvSpPr>
          <p:cNvPr id="9" name="Text 6"/>
          <p:cNvSpPr/>
          <p:nvPr/>
        </p:nvSpPr>
        <p:spPr>
          <a:xfrm>
            <a:off x="1054074" y="4000400"/>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探索不污染主线</a:t>
            </a:r>
            <a:endParaRPr lang="en-US" sz="1000" dirty="0"/>
          </a:p>
        </p:txBody>
      </p:sp>
      <p:sp>
        <p:nvSpPr>
          <p:cNvPr id="10" name="Text 7"/>
          <p:cNvSpPr/>
          <p:nvPr/>
        </p:nvSpPr>
        <p:spPr>
          <a:xfrm>
            <a:off x="1054074" y="4216295"/>
            <a:ext cx="1252189"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高风险操作可拦截</a:t>
            </a:r>
            <a:endParaRPr lang="en-US" sz="1000" dirty="0"/>
          </a:p>
        </p:txBody>
      </p:sp>
      <p:sp>
        <p:nvSpPr>
          <p:cNvPr id="11" name="Text 8"/>
          <p:cNvSpPr/>
          <p:nvPr/>
        </p:nvSpPr>
        <p:spPr>
          <a:xfrm>
            <a:off x="4394090"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FF5A1F"/>
                </a:solidFill>
                <a:latin typeface="Arial" pitchFamily="34" charset="0"/>
                <a:ea typeface="Arial" pitchFamily="34" charset="-122"/>
                <a:cs typeface="Arial" pitchFamily="34" charset="-120"/>
              </a:rPr>
              <a:t>02</a:t>
            </a:r>
            <a:endParaRPr lang="en-US" sz="1550" dirty="0"/>
          </a:p>
        </p:txBody>
      </p:sp>
      <p:sp>
        <p:nvSpPr>
          <p:cNvPr id="12" name="Text 9"/>
          <p:cNvSpPr/>
          <p:nvPr/>
        </p:nvSpPr>
        <p:spPr>
          <a:xfrm>
            <a:off x="4394090"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生成修改</a:t>
            </a:r>
            <a:endParaRPr lang="en-US" sz="1450" dirty="0"/>
          </a:p>
        </p:txBody>
      </p:sp>
      <p:sp>
        <p:nvSpPr>
          <p:cNvPr id="13" name="Text 10"/>
          <p:cNvSpPr/>
          <p:nvPr/>
        </p:nvSpPr>
        <p:spPr>
          <a:xfrm>
            <a:off x="3898803" y="3543211"/>
            <a:ext cx="1352008" cy="193353"/>
          </a:xfrm>
          <a:prstGeom prst="rect">
            <a:avLst/>
          </a:prstGeom>
          <a:noFill/>
          <a:ln/>
        </p:spPr>
        <p:txBody>
          <a:bodyPr wrap="square" lIns="0" tIns="0" rIns="0" bIns="0" rtlCol="0" anchor="t">
            <a:normAutofit/>
          </a:bodyPr>
          <a:lstStyle/>
          <a:p>
            <a:pPr algn="l" indent="0" marL="0">
              <a:buNone/>
            </a:pPr>
            <a:r>
              <a:rPr lang="en-US" sz="1050" b="1" dirty="0">
                <a:solidFill>
                  <a:srgbClr val="FF5A1F"/>
                </a:solidFill>
                <a:latin typeface="Microsoft YaHei" pitchFamily="34" charset="0"/>
                <a:ea typeface="Microsoft YaHei" pitchFamily="34" charset="-122"/>
                <a:cs typeface="Microsoft YaHei" pitchFamily="34" charset="-120"/>
              </a:rPr>
              <a:t>代码 / 测试 / 文档</a:t>
            </a:r>
            <a:endParaRPr lang="en-US" sz="1050" dirty="0"/>
          </a:p>
        </p:txBody>
      </p:sp>
      <p:sp>
        <p:nvSpPr>
          <p:cNvPr id="14" name="Text 11"/>
          <p:cNvSpPr/>
          <p:nvPr/>
        </p:nvSpPr>
        <p:spPr>
          <a:xfrm>
            <a:off x="3898803" y="4000400"/>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按任务契约实施</a:t>
            </a:r>
            <a:endParaRPr lang="en-US" sz="1000" dirty="0"/>
          </a:p>
        </p:txBody>
      </p:sp>
      <p:sp>
        <p:nvSpPr>
          <p:cNvPr id="15" name="Text 12"/>
          <p:cNvSpPr/>
          <p:nvPr/>
        </p:nvSpPr>
        <p:spPr>
          <a:xfrm>
            <a:off x="3898803" y="4216295"/>
            <a:ext cx="1252189"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每轮记录改动意图</a:t>
            </a:r>
            <a:endParaRPr lang="en-US" sz="1000" dirty="0"/>
          </a:p>
        </p:txBody>
      </p:sp>
      <p:sp>
        <p:nvSpPr>
          <p:cNvPr id="16" name="Text 13"/>
          <p:cNvSpPr/>
          <p:nvPr/>
        </p:nvSpPr>
        <p:spPr>
          <a:xfrm>
            <a:off x="7238819"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106BEF"/>
                </a:solidFill>
                <a:latin typeface="Arial" pitchFamily="34" charset="0"/>
                <a:ea typeface="Arial" pitchFamily="34" charset="-122"/>
                <a:cs typeface="Arial" pitchFamily="34" charset="-120"/>
              </a:rPr>
              <a:t>03</a:t>
            </a:r>
            <a:endParaRPr lang="en-US" sz="1550" dirty="0"/>
          </a:p>
        </p:txBody>
      </p:sp>
      <p:sp>
        <p:nvSpPr>
          <p:cNvPr id="17" name="Text 14"/>
          <p:cNvSpPr/>
          <p:nvPr/>
        </p:nvSpPr>
        <p:spPr>
          <a:xfrm>
            <a:off x="7238819"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验证矩阵</a:t>
            </a:r>
            <a:endParaRPr lang="en-US" sz="1450" dirty="0"/>
          </a:p>
        </p:txBody>
      </p:sp>
      <p:sp>
        <p:nvSpPr>
          <p:cNvPr id="18" name="Text 15"/>
          <p:cNvSpPr/>
          <p:nvPr/>
        </p:nvSpPr>
        <p:spPr>
          <a:xfrm>
            <a:off x="6743531" y="3543211"/>
            <a:ext cx="1938734" cy="193353"/>
          </a:xfrm>
          <a:prstGeom prst="rect">
            <a:avLst/>
          </a:prstGeom>
          <a:noFill/>
          <a:ln/>
        </p:spPr>
        <p:txBody>
          <a:bodyPr wrap="square" lIns="0" tIns="0" rIns="0" bIns="0" rtlCol="0" anchor="t">
            <a:normAutofit/>
          </a:bodyPr>
          <a:lstStyle/>
          <a:p>
            <a:pPr algn="l" indent="0" marL="0">
              <a:buNone/>
            </a:pPr>
            <a:r>
              <a:rPr lang="en-US" sz="1050" b="1" dirty="0">
                <a:solidFill>
                  <a:srgbClr val="106BEF"/>
                </a:solidFill>
                <a:latin typeface="Microsoft YaHei" pitchFamily="34" charset="0"/>
                <a:ea typeface="Microsoft YaHei" pitchFamily="34" charset="-122"/>
                <a:cs typeface="Microsoft YaHei" pitchFamily="34" charset="-120"/>
              </a:rPr>
              <a:t>lint / test / build / 回归</a:t>
            </a:r>
            <a:endParaRPr lang="en-US" sz="1050" dirty="0"/>
          </a:p>
        </p:txBody>
      </p:sp>
      <p:sp>
        <p:nvSpPr>
          <p:cNvPr id="19" name="Text 16"/>
          <p:cNvSpPr/>
          <p:nvPr/>
        </p:nvSpPr>
        <p:spPr>
          <a:xfrm>
            <a:off x="6743531" y="4000400"/>
            <a:ext cx="1381725"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按风险选择最小验证</a:t>
            </a:r>
            <a:endParaRPr lang="en-US" sz="1000" dirty="0"/>
          </a:p>
        </p:txBody>
      </p:sp>
      <p:sp>
        <p:nvSpPr>
          <p:cNvPr id="20" name="Text 17"/>
          <p:cNvSpPr/>
          <p:nvPr/>
        </p:nvSpPr>
        <p:spPr>
          <a:xfrm>
            <a:off x="6743531" y="4216295"/>
            <a:ext cx="1381725"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失败自动进入修复轮</a:t>
            </a:r>
            <a:endParaRPr lang="en-US" sz="1000" dirty="0"/>
          </a:p>
        </p:txBody>
      </p:sp>
      <p:sp>
        <p:nvSpPr>
          <p:cNvPr id="21" name="Text 18"/>
          <p:cNvSpPr/>
          <p:nvPr/>
        </p:nvSpPr>
        <p:spPr>
          <a:xfrm>
            <a:off x="10083548"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FF5A1F"/>
                </a:solidFill>
                <a:latin typeface="Arial" pitchFamily="34" charset="0"/>
                <a:ea typeface="Arial" pitchFamily="34" charset="-122"/>
                <a:cs typeface="Arial" pitchFamily="34" charset="-120"/>
              </a:rPr>
              <a:t>04</a:t>
            </a:r>
            <a:endParaRPr lang="en-US" sz="1550" dirty="0"/>
          </a:p>
        </p:txBody>
      </p:sp>
      <p:sp>
        <p:nvSpPr>
          <p:cNvPr id="22" name="Text 19"/>
          <p:cNvSpPr/>
          <p:nvPr/>
        </p:nvSpPr>
        <p:spPr>
          <a:xfrm>
            <a:off x="10083548" y="3225719"/>
            <a:ext cx="779380"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证据包</a:t>
            </a:r>
            <a:endParaRPr lang="en-US" sz="1450" dirty="0"/>
          </a:p>
        </p:txBody>
      </p:sp>
      <p:sp>
        <p:nvSpPr>
          <p:cNvPr id="23" name="Text 20"/>
          <p:cNvSpPr/>
          <p:nvPr/>
        </p:nvSpPr>
        <p:spPr>
          <a:xfrm>
            <a:off x="9588260" y="3543211"/>
            <a:ext cx="1965403" cy="193353"/>
          </a:xfrm>
          <a:prstGeom prst="rect">
            <a:avLst/>
          </a:prstGeom>
          <a:noFill/>
          <a:ln/>
        </p:spPr>
        <p:txBody>
          <a:bodyPr wrap="square" lIns="0" tIns="0" rIns="0" bIns="0" rtlCol="0" anchor="t">
            <a:normAutofit/>
          </a:bodyPr>
          <a:lstStyle/>
          <a:p>
            <a:pPr algn="l" indent="0" marL="0">
              <a:buNone/>
            </a:pPr>
            <a:r>
              <a:rPr lang="en-US" sz="1050" b="1" dirty="0">
                <a:solidFill>
                  <a:srgbClr val="FF5A1F"/>
                </a:solidFill>
                <a:latin typeface="Microsoft YaHei" pitchFamily="34" charset="0"/>
                <a:ea typeface="Microsoft YaHei" pitchFamily="34" charset="-122"/>
                <a:cs typeface="Microsoft YaHei" pitchFamily="34" charset="-120"/>
              </a:rPr>
              <a:t>diff / log / risk / impact</a:t>
            </a:r>
            <a:endParaRPr lang="en-US" sz="1050" dirty="0"/>
          </a:p>
        </p:txBody>
      </p:sp>
      <p:sp>
        <p:nvSpPr>
          <p:cNvPr id="24" name="Text 21"/>
          <p:cNvSpPr/>
          <p:nvPr/>
        </p:nvSpPr>
        <p:spPr>
          <a:xfrm>
            <a:off x="9588260" y="4000400"/>
            <a:ext cx="151126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让评审不用倒推上下文</a:t>
            </a:r>
            <a:endParaRPr lang="en-US" sz="1000" dirty="0"/>
          </a:p>
        </p:txBody>
      </p:sp>
      <p:sp>
        <p:nvSpPr>
          <p:cNvPr id="25" name="Text 22"/>
          <p:cNvSpPr/>
          <p:nvPr/>
        </p:nvSpPr>
        <p:spPr>
          <a:xfrm>
            <a:off x="9588260" y="4216295"/>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保留可复现材料</a:t>
            </a:r>
            <a:endParaRPr lang="en-US" sz="1000" dirty="0"/>
          </a:p>
        </p:txBody>
      </p:sp>
      <p:sp>
        <p:nvSpPr>
          <p:cNvPr id="26" name="Text 23"/>
          <p:cNvSpPr/>
          <p:nvPr/>
        </p:nvSpPr>
        <p:spPr>
          <a:xfrm>
            <a:off x="3886357" y="5143371"/>
            <a:ext cx="4418982" cy="257804"/>
          </a:xfrm>
          <a:prstGeom prst="rect">
            <a:avLst/>
          </a:prstGeom>
          <a:noFill/>
          <a:ln/>
        </p:spPr>
        <p:txBody>
          <a:bodyPr wrap="square" lIns="0" tIns="0" rIns="0" bIns="0" rtlCol="0" anchor="t">
            <a:normAutofit/>
          </a:bodyPr>
          <a:lstStyle/>
          <a:p>
            <a:pPr algn="ctr" indent="0" marL="0">
              <a:buNone/>
            </a:pPr>
            <a:r>
              <a:rPr lang="en-US" sz="1400" b="1" dirty="0">
                <a:solidFill>
                  <a:srgbClr val="050608"/>
                </a:solidFill>
                <a:latin typeface="Microsoft YaHei" pitchFamily="34" charset="0"/>
                <a:ea typeface="Microsoft YaHei" pitchFamily="34" charset="-122"/>
                <a:cs typeface="Microsoft YaHei" pitchFamily="34" charset="-120"/>
              </a:rPr>
              <a:t>0.99 的多轮串联 需要被每轮验证证据打断和纠偏。</a:t>
            </a:r>
            <a:endParaRPr lang="en-US" sz="1400" dirty="0"/>
          </a:p>
        </p:txBody>
      </p:sp>
      <p:sp>
        <p:nvSpPr>
          <p:cNvPr id="27" name="Text 24"/>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隔离执行与验证矩阵把概率性探索切成可复现、可比较、可纠偏的小段。</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09-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评审到交付</a:t>
            </a:r>
            <a:endParaRPr lang="en-US" sz="3000" dirty="0"/>
          </a:p>
        </p:txBody>
      </p:sp>
      <p:sp>
        <p:nvSpPr>
          <p:cNvPr id="4" name="Text 1"/>
          <p:cNvSpPr/>
          <p:nvPr/>
        </p:nvSpPr>
        <p:spPr>
          <a:xfrm>
            <a:off x="634984" y="1549361"/>
            <a:ext cx="6196048"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当 AI 放大变更吞吐，评审对象要从 diff 扩展为可追责的证据包。</a:t>
            </a:r>
            <a:endParaRPr lang="en-US" sz="1550" dirty="0"/>
          </a:p>
        </p:txBody>
      </p:sp>
      <p:sp>
        <p:nvSpPr>
          <p:cNvPr id="5" name="Text 2"/>
          <p:cNvSpPr/>
          <p:nvPr/>
        </p:nvSpPr>
        <p:spPr>
          <a:xfrm>
            <a:off x="1485863" y="2857429"/>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开源仓库</a:t>
            </a:r>
            <a:endParaRPr lang="en-US" sz="1100" dirty="0"/>
          </a:p>
        </p:txBody>
      </p:sp>
      <p:sp>
        <p:nvSpPr>
          <p:cNvPr id="6" name="Text 3"/>
          <p:cNvSpPr/>
          <p:nvPr/>
        </p:nvSpPr>
        <p:spPr>
          <a:xfrm>
            <a:off x="1041374" y="3403515"/>
            <a:ext cx="115503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维护者信任</a:t>
            </a:r>
            <a:endParaRPr lang="en-US" sz="1450" dirty="0"/>
          </a:p>
        </p:txBody>
      </p:sp>
      <p:sp>
        <p:nvSpPr>
          <p:cNvPr id="7" name="Text 4"/>
          <p:cNvSpPr/>
          <p:nvPr/>
        </p:nvSpPr>
        <p:spPr>
          <a:xfrm>
            <a:off x="1041374" y="3962301"/>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小批量变更</a:t>
            </a:r>
            <a:endParaRPr lang="en-US" sz="1000" dirty="0"/>
          </a:p>
        </p:txBody>
      </p:sp>
      <p:sp>
        <p:nvSpPr>
          <p:cNvPr id="8" name="Text 5"/>
          <p:cNvSpPr/>
          <p:nvPr/>
        </p:nvSpPr>
        <p:spPr>
          <a:xfrm>
            <a:off x="1041374" y="4228994"/>
            <a:ext cx="73404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公共责任</a:t>
            </a:r>
            <a:endParaRPr lang="en-US" sz="1000" dirty="0"/>
          </a:p>
        </p:txBody>
      </p:sp>
      <p:sp>
        <p:nvSpPr>
          <p:cNvPr id="9" name="Text 6"/>
          <p:cNvSpPr/>
          <p:nvPr/>
        </p:nvSpPr>
        <p:spPr>
          <a:xfrm>
            <a:off x="1041374" y="4495688"/>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可复核证据</a:t>
            </a:r>
            <a:endParaRPr lang="en-US" sz="1000" dirty="0"/>
          </a:p>
        </p:txBody>
      </p:sp>
      <p:sp>
        <p:nvSpPr>
          <p:cNvPr id="10" name="Text 7"/>
          <p:cNvSpPr/>
          <p:nvPr/>
        </p:nvSpPr>
        <p:spPr>
          <a:xfrm>
            <a:off x="5502137" y="2908227"/>
            <a:ext cx="1187420" cy="230182"/>
          </a:xfrm>
          <a:prstGeom prst="rect">
            <a:avLst/>
          </a:prstGeom>
          <a:noFill/>
          <a:ln/>
        </p:spPr>
        <p:txBody>
          <a:bodyPr wrap="square" lIns="0" tIns="0" rIns="0" bIns="0" rtlCol="0" anchor="t">
            <a:normAutofit/>
          </a:bodyPr>
          <a:lstStyle/>
          <a:p>
            <a:pPr algn="ctr" indent="0" marL="0">
              <a:buNone/>
            </a:pPr>
            <a:r>
              <a:rPr lang="en-US" sz="1250" b="1" dirty="0">
                <a:solidFill>
                  <a:srgbClr val="FF5A1F"/>
                </a:solidFill>
                <a:latin typeface="Microsoft YaHei" pitchFamily="34" charset="0"/>
                <a:ea typeface="Microsoft YaHei" pitchFamily="34" charset="-122"/>
                <a:cs typeface="Microsoft YaHei" pitchFamily="34" charset="-120"/>
              </a:rPr>
              <a:t>评审对象升级</a:t>
            </a:r>
            <a:endParaRPr lang="en-US" sz="1250" dirty="0"/>
          </a:p>
        </p:txBody>
      </p:sp>
      <p:sp>
        <p:nvSpPr>
          <p:cNvPr id="11" name="Text 8"/>
          <p:cNvSpPr/>
          <p:nvPr/>
        </p:nvSpPr>
        <p:spPr>
          <a:xfrm>
            <a:off x="3961031" y="3314617"/>
            <a:ext cx="4269633" cy="368291"/>
          </a:xfrm>
          <a:prstGeom prst="rect">
            <a:avLst/>
          </a:prstGeom>
          <a:noFill/>
          <a:ln/>
        </p:spPr>
        <p:txBody>
          <a:bodyPr wrap="square" lIns="0" tIns="0" rIns="0" bIns="0" rtlCol="0" anchor="t">
            <a:normAutofit/>
          </a:bodyPr>
          <a:lstStyle/>
          <a:p>
            <a:pPr algn="ctr" indent="0" marL="0">
              <a:buNone/>
            </a:pPr>
            <a:r>
              <a:rPr lang="en-US" sz="2000" b="1" dirty="0">
                <a:solidFill>
                  <a:srgbClr val="050608"/>
                </a:solidFill>
                <a:latin typeface="Arial" pitchFamily="34" charset="0"/>
                <a:ea typeface="Arial" pitchFamily="34" charset="-122"/>
                <a:cs typeface="Arial" pitchFamily="34" charset="-120"/>
              </a:rPr>
              <a:t>Artifact 证据包 = PR 判断上下文</a:t>
            </a:r>
            <a:endParaRPr lang="en-US" sz="2000" dirty="0"/>
          </a:p>
        </p:txBody>
      </p:sp>
      <p:sp>
        <p:nvSpPr>
          <p:cNvPr id="12" name="Text 9"/>
          <p:cNvSpPr/>
          <p:nvPr/>
        </p:nvSpPr>
        <p:spPr>
          <a:xfrm>
            <a:off x="4306208" y="3930552"/>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自动摘要</a:t>
            </a:r>
            <a:endParaRPr lang="en-US" sz="1050" dirty="0"/>
          </a:p>
        </p:txBody>
      </p:sp>
      <p:sp>
        <p:nvSpPr>
          <p:cNvPr id="13" name="Text 10"/>
          <p:cNvSpPr/>
          <p:nvPr/>
        </p:nvSpPr>
        <p:spPr>
          <a:xfrm>
            <a:off x="5803374" y="3930552"/>
            <a:ext cx="711944"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PR 绑定</a:t>
            </a:r>
            <a:endParaRPr lang="en-US" sz="1050" dirty="0"/>
          </a:p>
        </p:txBody>
      </p:sp>
      <p:sp>
        <p:nvSpPr>
          <p:cNvPr id="14" name="Text 11"/>
          <p:cNvSpPr/>
          <p:nvPr/>
        </p:nvSpPr>
        <p:spPr>
          <a:xfrm>
            <a:off x="7252535" y="3930552"/>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测试日志</a:t>
            </a:r>
            <a:endParaRPr lang="en-US" sz="1050" dirty="0"/>
          </a:p>
        </p:txBody>
      </p:sp>
      <p:sp>
        <p:nvSpPr>
          <p:cNvPr id="15" name="Text 12"/>
          <p:cNvSpPr/>
          <p:nvPr/>
        </p:nvSpPr>
        <p:spPr>
          <a:xfrm>
            <a:off x="4226200" y="4413140"/>
            <a:ext cx="919965"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风险 Owner</a:t>
            </a:r>
            <a:endParaRPr lang="en-US" sz="1050" dirty="0"/>
          </a:p>
        </p:txBody>
      </p:sp>
      <p:sp>
        <p:nvSpPr>
          <p:cNvPr id="16" name="Text 13"/>
          <p:cNvSpPr/>
          <p:nvPr/>
        </p:nvSpPr>
        <p:spPr>
          <a:xfrm>
            <a:off x="5779372" y="4413140"/>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回滚路径</a:t>
            </a:r>
            <a:endParaRPr lang="en-US" sz="1050" dirty="0"/>
          </a:p>
        </p:txBody>
      </p:sp>
      <p:sp>
        <p:nvSpPr>
          <p:cNvPr id="17" name="Text 14"/>
          <p:cNvSpPr/>
          <p:nvPr/>
        </p:nvSpPr>
        <p:spPr>
          <a:xfrm>
            <a:off x="7252535" y="4413140"/>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复盘归档</a:t>
            </a:r>
            <a:endParaRPr lang="en-US" sz="1050" dirty="0"/>
          </a:p>
        </p:txBody>
      </p:sp>
      <p:sp>
        <p:nvSpPr>
          <p:cNvPr id="18" name="Text 15"/>
          <p:cNvSpPr/>
          <p:nvPr/>
        </p:nvSpPr>
        <p:spPr>
          <a:xfrm>
            <a:off x="10172446" y="2857429"/>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FF5A1F"/>
                </a:solidFill>
                <a:latin typeface="Microsoft YaHei" pitchFamily="34" charset="0"/>
                <a:ea typeface="Microsoft YaHei" pitchFamily="34" charset="-122"/>
                <a:cs typeface="Microsoft YaHei" pitchFamily="34" charset="-120"/>
              </a:rPr>
              <a:t>企业工程</a:t>
            </a:r>
            <a:endParaRPr lang="en-US" sz="1100" dirty="0"/>
          </a:p>
        </p:txBody>
      </p:sp>
      <p:sp>
        <p:nvSpPr>
          <p:cNvPr id="19" name="Text 16"/>
          <p:cNvSpPr/>
          <p:nvPr/>
        </p:nvSpPr>
        <p:spPr>
          <a:xfrm>
            <a:off x="9727957" y="3403515"/>
            <a:ext cx="115503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跨团队放行</a:t>
            </a:r>
            <a:endParaRPr lang="en-US" sz="1450" dirty="0"/>
          </a:p>
        </p:txBody>
      </p:sp>
      <p:sp>
        <p:nvSpPr>
          <p:cNvPr id="20" name="Text 17"/>
          <p:cNvSpPr/>
          <p:nvPr/>
        </p:nvSpPr>
        <p:spPr>
          <a:xfrm>
            <a:off x="9727957" y="3962301"/>
            <a:ext cx="88643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Owner 审批</a:t>
            </a:r>
            <a:endParaRPr lang="en-US" sz="1000" dirty="0"/>
          </a:p>
        </p:txBody>
      </p:sp>
      <p:sp>
        <p:nvSpPr>
          <p:cNvPr id="21" name="Text 18"/>
          <p:cNvSpPr/>
          <p:nvPr/>
        </p:nvSpPr>
        <p:spPr>
          <a:xfrm>
            <a:off x="9727957" y="4228994"/>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合规与发布</a:t>
            </a:r>
            <a:endParaRPr lang="en-US" sz="1000" dirty="0"/>
          </a:p>
        </p:txBody>
      </p:sp>
      <p:sp>
        <p:nvSpPr>
          <p:cNvPr id="22" name="Text 19"/>
          <p:cNvSpPr/>
          <p:nvPr/>
        </p:nvSpPr>
        <p:spPr>
          <a:xfrm>
            <a:off x="9727957" y="4495688"/>
            <a:ext cx="73404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线上责任</a:t>
            </a:r>
            <a:endParaRPr lang="en-US" sz="1000" dirty="0"/>
          </a:p>
        </p:txBody>
      </p:sp>
      <p:sp>
        <p:nvSpPr>
          <p:cNvPr id="23" name="Text 20"/>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Artifact 证据包应由平台自动生成、绑定 PR/发布记录，并提供人类可读摘要。</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10-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发布到运维</a:t>
            </a:r>
            <a:endParaRPr lang="en-US" sz="3000" dirty="0"/>
          </a:p>
        </p:txBody>
      </p:sp>
      <p:sp>
        <p:nvSpPr>
          <p:cNvPr id="4" name="Text 1"/>
          <p:cNvSpPr/>
          <p:nvPr/>
        </p:nvSpPr>
        <p:spPr>
          <a:xfrm>
            <a:off x="634984" y="1549361"/>
            <a:ext cx="6440136"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交付不是终点：线上反馈要回到规则、测试、架构边界和上下文资产。</a:t>
            </a:r>
            <a:endParaRPr lang="en-US" sz="1550" dirty="0"/>
          </a:p>
        </p:txBody>
      </p:sp>
      <p:sp>
        <p:nvSpPr>
          <p:cNvPr id="5" name="Text 2"/>
          <p:cNvSpPr/>
          <p:nvPr/>
        </p:nvSpPr>
        <p:spPr>
          <a:xfrm>
            <a:off x="1676358"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106BEF"/>
                </a:solidFill>
                <a:latin typeface="Arial" pitchFamily="34" charset="0"/>
                <a:ea typeface="Arial" pitchFamily="34" charset="-122"/>
                <a:cs typeface="Arial" pitchFamily="34" charset="-120"/>
              </a:rPr>
              <a:t>01</a:t>
            </a:r>
            <a:endParaRPr lang="en-US" sz="1500" dirty="0"/>
          </a:p>
        </p:txBody>
      </p:sp>
      <p:sp>
        <p:nvSpPr>
          <p:cNvPr id="6" name="Text 3"/>
          <p:cNvSpPr/>
          <p:nvPr/>
        </p:nvSpPr>
        <p:spPr>
          <a:xfrm>
            <a:off x="1676358"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发布控制</a:t>
            </a:r>
            <a:endParaRPr lang="en-US" sz="1450" dirty="0"/>
          </a:p>
        </p:txBody>
      </p:sp>
      <p:sp>
        <p:nvSpPr>
          <p:cNvPr id="7" name="Text 4"/>
          <p:cNvSpPr/>
          <p:nvPr/>
        </p:nvSpPr>
        <p:spPr>
          <a:xfrm>
            <a:off x="1181070" y="3898803"/>
            <a:ext cx="1976071"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灰度 / 回滚 / Feature Flag</a:t>
            </a:r>
            <a:endParaRPr lang="en-US" sz="1050" dirty="0"/>
          </a:p>
        </p:txBody>
      </p:sp>
      <p:sp>
        <p:nvSpPr>
          <p:cNvPr id="8" name="Text 5"/>
          <p:cNvSpPr/>
          <p:nvPr/>
        </p:nvSpPr>
        <p:spPr>
          <a:xfrm>
            <a:off x="4317892"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FF5A1F"/>
                </a:solidFill>
                <a:latin typeface="Arial" pitchFamily="34" charset="0"/>
                <a:ea typeface="Arial" pitchFamily="34" charset="-122"/>
                <a:cs typeface="Arial" pitchFamily="34" charset="-120"/>
              </a:rPr>
              <a:t>02</a:t>
            </a:r>
            <a:endParaRPr lang="en-US" sz="1500" dirty="0"/>
          </a:p>
        </p:txBody>
      </p:sp>
      <p:sp>
        <p:nvSpPr>
          <p:cNvPr id="9" name="Text 6"/>
          <p:cNvSpPr/>
          <p:nvPr/>
        </p:nvSpPr>
        <p:spPr>
          <a:xfrm>
            <a:off x="4317892"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运行观测</a:t>
            </a:r>
            <a:endParaRPr lang="en-US" sz="1450" dirty="0"/>
          </a:p>
        </p:txBody>
      </p:sp>
      <p:sp>
        <p:nvSpPr>
          <p:cNvPr id="10" name="Text 7"/>
          <p:cNvSpPr/>
          <p:nvPr/>
        </p:nvSpPr>
        <p:spPr>
          <a:xfrm>
            <a:off x="3822604" y="3898803"/>
            <a:ext cx="146935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日志 / 指标 / Trace</a:t>
            </a:r>
            <a:endParaRPr lang="en-US" sz="1050" dirty="0"/>
          </a:p>
        </p:txBody>
      </p:sp>
      <p:sp>
        <p:nvSpPr>
          <p:cNvPr id="11" name="Text 8"/>
          <p:cNvSpPr/>
          <p:nvPr/>
        </p:nvSpPr>
        <p:spPr>
          <a:xfrm>
            <a:off x="6959426"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106BEF"/>
                </a:solidFill>
                <a:latin typeface="Arial" pitchFamily="34" charset="0"/>
                <a:ea typeface="Arial" pitchFamily="34" charset="-122"/>
                <a:cs typeface="Arial" pitchFamily="34" charset="-120"/>
              </a:rPr>
              <a:t>03</a:t>
            </a:r>
            <a:endParaRPr lang="en-US" sz="1500" dirty="0"/>
          </a:p>
        </p:txBody>
      </p:sp>
      <p:sp>
        <p:nvSpPr>
          <p:cNvPr id="12" name="Text 9"/>
          <p:cNvSpPr/>
          <p:nvPr/>
        </p:nvSpPr>
        <p:spPr>
          <a:xfrm>
            <a:off x="6959426"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复盘学习</a:t>
            </a:r>
            <a:endParaRPr lang="en-US" sz="1450" dirty="0"/>
          </a:p>
        </p:txBody>
      </p:sp>
      <p:sp>
        <p:nvSpPr>
          <p:cNvPr id="13" name="Text 10"/>
          <p:cNvSpPr/>
          <p:nvPr/>
        </p:nvSpPr>
        <p:spPr>
          <a:xfrm>
            <a:off x="6464138" y="3898803"/>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事故 / 返工 / 失败模式</a:t>
            </a:r>
            <a:endParaRPr lang="en-US" sz="1050" dirty="0"/>
          </a:p>
        </p:txBody>
      </p:sp>
      <p:sp>
        <p:nvSpPr>
          <p:cNvPr id="14" name="Text 11"/>
          <p:cNvSpPr/>
          <p:nvPr/>
        </p:nvSpPr>
        <p:spPr>
          <a:xfrm>
            <a:off x="9600960"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FF5A1F"/>
                </a:solidFill>
                <a:latin typeface="Arial" pitchFamily="34" charset="0"/>
                <a:ea typeface="Arial" pitchFamily="34" charset="-122"/>
                <a:cs typeface="Arial" pitchFamily="34" charset="-120"/>
              </a:rPr>
              <a:t>04</a:t>
            </a:r>
            <a:endParaRPr lang="en-US" sz="1500" dirty="0"/>
          </a:p>
        </p:txBody>
      </p:sp>
      <p:sp>
        <p:nvSpPr>
          <p:cNvPr id="15" name="Text 12"/>
          <p:cNvSpPr/>
          <p:nvPr/>
        </p:nvSpPr>
        <p:spPr>
          <a:xfrm>
            <a:off x="9600960"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架构演进</a:t>
            </a:r>
            <a:endParaRPr lang="en-US" sz="1450" dirty="0"/>
          </a:p>
        </p:txBody>
      </p:sp>
      <p:sp>
        <p:nvSpPr>
          <p:cNvPr id="16" name="Text 13"/>
          <p:cNvSpPr/>
          <p:nvPr/>
        </p:nvSpPr>
        <p:spPr>
          <a:xfrm>
            <a:off x="9105672" y="3898803"/>
            <a:ext cx="189606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能力边界 / 接口 / 等价验证</a:t>
            </a:r>
            <a:endParaRPr lang="en-US" sz="1050" dirty="0"/>
          </a:p>
        </p:txBody>
      </p:sp>
      <p:sp>
        <p:nvSpPr>
          <p:cNvPr id="17" name="Text 14"/>
          <p:cNvSpPr/>
          <p:nvPr/>
        </p:nvSpPr>
        <p:spPr>
          <a:xfrm>
            <a:off x="2019250" y="5003675"/>
            <a:ext cx="1304003"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Microsoft YaHei" pitchFamily="34" charset="0"/>
                <a:ea typeface="Microsoft YaHei" pitchFamily="34" charset="-122"/>
                <a:cs typeface="Microsoft YaHei" pitchFamily="34" charset="-120"/>
              </a:rPr>
              <a:t>沉淀可用资产</a:t>
            </a:r>
            <a:endParaRPr lang="en-US" sz="1400" dirty="0"/>
          </a:p>
        </p:txBody>
      </p:sp>
      <p:sp>
        <p:nvSpPr>
          <p:cNvPr id="18" name="Text 15"/>
          <p:cNvSpPr/>
          <p:nvPr/>
        </p:nvSpPr>
        <p:spPr>
          <a:xfrm>
            <a:off x="4635384" y="4990975"/>
            <a:ext cx="1090268"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规则上下文</a:t>
            </a:r>
            <a:endParaRPr lang="en-US" sz="1350" dirty="0"/>
          </a:p>
        </p:txBody>
      </p:sp>
      <p:sp>
        <p:nvSpPr>
          <p:cNvPr id="19" name="Text 16"/>
          <p:cNvSpPr/>
          <p:nvPr/>
        </p:nvSpPr>
        <p:spPr>
          <a:xfrm>
            <a:off x="5981550"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回归测试</a:t>
            </a:r>
            <a:endParaRPr lang="en-US" sz="1350" dirty="0"/>
          </a:p>
        </p:txBody>
      </p:sp>
      <p:sp>
        <p:nvSpPr>
          <p:cNvPr id="20" name="Text 17"/>
          <p:cNvSpPr/>
          <p:nvPr/>
        </p:nvSpPr>
        <p:spPr>
          <a:xfrm>
            <a:off x="7327717"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架构边界</a:t>
            </a:r>
            <a:endParaRPr lang="en-US" sz="1350" dirty="0"/>
          </a:p>
        </p:txBody>
      </p:sp>
      <p:sp>
        <p:nvSpPr>
          <p:cNvPr id="21" name="Text 18"/>
          <p:cNvSpPr/>
          <p:nvPr/>
        </p:nvSpPr>
        <p:spPr>
          <a:xfrm>
            <a:off x="8673883"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风险样本</a:t>
            </a:r>
            <a:endParaRPr lang="en-US" sz="1350" dirty="0"/>
          </a:p>
        </p:txBody>
      </p:sp>
      <p:sp>
        <p:nvSpPr>
          <p:cNvPr id="22" name="Text 19"/>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反馈记忆把线上证据回流到下一轮任务契约、测试与架构规则。</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11-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开发者角色</a:t>
            </a:r>
            <a:endParaRPr lang="en-US" sz="3000" dirty="0"/>
          </a:p>
        </p:txBody>
      </p:sp>
      <p:sp>
        <p:nvSpPr>
          <p:cNvPr id="4" name="Text 1"/>
          <p:cNvSpPr/>
          <p:nvPr/>
        </p:nvSpPr>
        <p:spPr>
          <a:xfrm>
            <a:off x="634984" y="1549361"/>
            <a:ext cx="7042482"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团队建设可治理系统，个人承担关键判断；新人要从实现者走向系统参与者。</a:t>
            </a:r>
            <a:endParaRPr lang="en-US" sz="1550" dirty="0"/>
          </a:p>
        </p:txBody>
      </p:sp>
      <p:sp>
        <p:nvSpPr>
          <p:cNvPr id="5" name="Text 2"/>
          <p:cNvSpPr/>
          <p:nvPr/>
        </p:nvSpPr>
        <p:spPr>
          <a:xfrm>
            <a:off x="1625559"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团队</a:t>
            </a:r>
            <a:endParaRPr lang="en-US" sz="1200" dirty="0"/>
          </a:p>
        </p:txBody>
      </p:sp>
      <p:sp>
        <p:nvSpPr>
          <p:cNvPr id="6" name="Text 3"/>
          <p:cNvSpPr/>
          <p:nvPr/>
        </p:nvSpPr>
        <p:spPr>
          <a:xfrm>
            <a:off x="1028674" y="3378116"/>
            <a:ext cx="2197807"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建设可治理交付系统</a:t>
            </a:r>
            <a:endParaRPr lang="en-US" sz="1700" dirty="0"/>
          </a:p>
        </p:txBody>
      </p:sp>
      <p:sp>
        <p:nvSpPr>
          <p:cNvPr id="7" name="Text 4"/>
          <p:cNvSpPr/>
          <p:nvPr/>
        </p:nvSpPr>
        <p:spPr>
          <a:xfrm>
            <a:off x="1269968" y="3987700"/>
            <a:ext cx="1556600"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沉淀工程控制面能力</a:t>
            </a:r>
            <a:endParaRPr lang="en-US" sz="1150" dirty="0"/>
          </a:p>
        </p:txBody>
      </p:sp>
      <p:sp>
        <p:nvSpPr>
          <p:cNvPr id="8" name="Text 5"/>
          <p:cNvSpPr/>
          <p:nvPr/>
        </p:nvSpPr>
        <p:spPr>
          <a:xfrm>
            <a:off x="1269968" y="4381390"/>
            <a:ext cx="2301436"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把构建、轨迹、评审做成证据包</a:t>
            </a:r>
            <a:endParaRPr lang="en-US" sz="1150" dirty="0"/>
          </a:p>
        </p:txBody>
      </p:sp>
      <p:sp>
        <p:nvSpPr>
          <p:cNvPr id="9" name="Text 6"/>
          <p:cNvSpPr/>
          <p:nvPr/>
        </p:nvSpPr>
        <p:spPr>
          <a:xfrm>
            <a:off x="1269968" y="4775081"/>
            <a:ext cx="274833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用净时间、返工率、线上风险衡量收益</a:t>
            </a:r>
            <a:endParaRPr lang="en-US" sz="1150" dirty="0"/>
          </a:p>
        </p:txBody>
      </p:sp>
      <p:sp>
        <p:nvSpPr>
          <p:cNvPr id="10" name="Text 7"/>
          <p:cNvSpPr/>
          <p:nvPr/>
        </p:nvSpPr>
        <p:spPr>
          <a:xfrm>
            <a:off x="5321167"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FF5A1F"/>
                </a:solidFill>
                <a:latin typeface="Microsoft YaHei" pitchFamily="34" charset="0"/>
                <a:ea typeface="Microsoft YaHei" pitchFamily="34" charset="-122"/>
                <a:cs typeface="Microsoft YaHei" pitchFamily="34" charset="-120"/>
              </a:rPr>
              <a:t>个人</a:t>
            </a:r>
            <a:endParaRPr lang="en-US" sz="1200" dirty="0"/>
          </a:p>
        </p:txBody>
      </p:sp>
      <p:sp>
        <p:nvSpPr>
          <p:cNvPr id="11" name="Text 8"/>
          <p:cNvSpPr/>
          <p:nvPr/>
        </p:nvSpPr>
        <p:spPr>
          <a:xfrm>
            <a:off x="4724282" y="3378116"/>
            <a:ext cx="175738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把判断位置前移</a:t>
            </a:r>
            <a:endParaRPr lang="en-US" sz="1700" dirty="0"/>
          </a:p>
        </p:txBody>
      </p:sp>
      <p:sp>
        <p:nvSpPr>
          <p:cNvPr id="12" name="Text 9"/>
          <p:cNvSpPr/>
          <p:nvPr/>
        </p:nvSpPr>
        <p:spPr>
          <a:xfrm>
            <a:off x="4965576" y="3987700"/>
            <a:ext cx="215246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定义目标、非目标和风险边界</a:t>
            </a:r>
            <a:endParaRPr lang="en-US" sz="1150" dirty="0"/>
          </a:p>
        </p:txBody>
      </p:sp>
      <p:sp>
        <p:nvSpPr>
          <p:cNvPr id="13" name="Text 10"/>
          <p:cNvSpPr/>
          <p:nvPr/>
        </p:nvSpPr>
        <p:spPr>
          <a:xfrm>
            <a:off x="4965576" y="4381390"/>
            <a:ext cx="1705567"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核验事实与可信上下文</a:t>
            </a:r>
            <a:endParaRPr lang="en-US" sz="1150" dirty="0"/>
          </a:p>
        </p:txBody>
      </p:sp>
      <p:sp>
        <p:nvSpPr>
          <p:cNvPr id="14" name="Text 11"/>
          <p:cNvSpPr/>
          <p:nvPr/>
        </p:nvSpPr>
        <p:spPr>
          <a:xfrm>
            <a:off x="4965576" y="4775081"/>
            <a:ext cx="1556600"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解释风险并承接责任</a:t>
            </a:r>
            <a:endParaRPr lang="en-US" sz="1150" dirty="0"/>
          </a:p>
        </p:txBody>
      </p:sp>
      <p:sp>
        <p:nvSpPr>
          <p:cNvPr id="15" name="Text 12"/>
          <p:cNvSpPr/>
          <p:nvPr/>
        </p:nvSpPr>
        <p:spPr>
          <a:xfrm>
            <a:off x="9016775"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新人</a:t>
            </a:r>
            <a:endParaRPr lang="en-US" sz="1200" dirty="0"/>
          </a:p>
        </p:txBody>
      </p:sp>
      <p:sp>
        <p:nvSpPr>
          <p:cNvPr id="16" name="Text 13"/>
          <p:cNvSpPr/>
          <p:nvPr/>
        </p:nvSpPr>
        <p:spPr>
          <a:xfrm>
            <a:off x="8419889" y="3378116"/>
            <a:ext cx="263823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从实现者走向系统参与者</a:t>
            </a:r>
            <a:endParaRPr lang="en-US" sz="1700" dirty="0"/>
          </a:p>
        </p:txBody>
      </p:sp>
      <p:sp>
        <p:nvSpPr>
          <p:cNvPr id="17" name="Text 14"/>
          <p:cNvSpPr/>
          <p:nvPr/>
        </p:nvSpPr>
        <p:spPr>
          <a:xfrm>
            <a:off x="8661183" y="3987700"/>
            <a:ext cx="2301436"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理解需求、用户场景、产品定位</a:t>
            </a:r>
            <a:endParaRPr lang="en-US" sz="1150" dirty="0"/>
          </a:p>
        </p:txBody>
      </p:sp>
      <p:sp>
        <p:nvSpPr>
          <p:cNvPr id="18" name="Text 15"/>
          <p:cNvSpPr/>
          <p:nvPr/>
        </p:nvSpPr>
        <p:spPr>
          <a:xfrm>
            <a:off x="8661183" y="4381390"/>
            <a:ext cx="1854535"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理解架构约束和运行证据</a:t>
            </a:r>
            <a:endParaRPr lang="en-US" sz="1150" dirty="0"/>
          </a:p>
        </p:txBody>
      </p:sp>
      <p:sp>
        <p:nvSpPr>
          <p:cNvPr id="19" name="Text 16"/>
          <p:cNvSpPr/>
          <p:nvPr/>
        </p:nvSpPr>
        <p:spPr>
          <a:xfrm>
            <a:off x="8661183" y="4775081"/>
            <a:ext cx="259352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让 AI 放大专业判断，而非替代判断</a:t>
            </a:r>
            <a:endParaRPr lang="en-US" sz="1150" dirty="0"/>
          </a:p>
        </p:txBody>
      </p:sp>
      <p:sp>
        <p:nvSpPr>
          <p:cNvPr id="20" name="Text 17"/>
          <p:cNvSpPr/>
          <p:nvPr/>
        </p:nvSpPr>
        <p:spPr>
          <a:xfrm>
            <a:off x="1079473" y="6088736"/>
            <a:ext cx="10032749"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开发者价值从实现动作扩展到问题定义、系统理解、证据判断与责任承接。</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7\slide-12-b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965176"/>
            <a:ext cx="2397827"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AI 编程、工程治理、开发者角色</a:t>
            </a:r>
            <a:endParaRPr lang="en-US" sz="1150" dirty="0"/>
          </a:p>
        </p:txBody>
      </p:sp>
      <p:sp>
        <p:nvSpPr>
          <p:cNvPr id="4" name="Text 1"/>
          <p:cNvSpPr/>
          <p:nvPr/>
        </p:nvSpPr>
        <p:spPr>
          <a:xfrm>
            <a:off x="609585" y="1574761"/>
            <a:ext cx="99311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谢谢</a:t>
            </a:r>
            <a:endParaRPr lang="en-US" sz="3000" dirty="0"/>
          </a:p>
        </p:txBody>
      </p:sp>
      <p:sp>
        <p:nvSpPr>
          <p:cNvPr id="5" name="Text 2"/>
          <p:cNvSpPr/>
          <p:nvPr/>
        </p:nvSpPr>
        <p:spPr>
          <a:xfrm>
            <a:off x="1460463" y="3479713"/>
            <a:ext cx="1537170"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Microsoft YaHei" pitchFamily="34" charset="0"/>
                <a:ea typeface="Microsoft YaHei" pitchFamily="34" charset="-122"/>
                <a:cs typeface="Microsoft YaHei" pitchFamily="34" charset="-120"/>
              </a:rPr>
              <a:t>三个未来追问</a:t>
            </a:r>
            <a:endParaRPr lang="en-US" sz="1700" dirty="0"/>
          </a:p>
        </p:txBody>
      </p:sp>
      <p:sp>
        <p:nvSpPr>
          <p:cNvPr id="6" name="Text 3"/>
          <p:cNvSpPr/>
          <p:nvPr/>
        </p:nvSpPr>
        <p:spPr>
          <a:xfrm>
            <a:off x="1549361" y="3962301"/>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Arial" pitchFamily="34" charset="0"/>
                <a:ea typeface="Arial" pitchFamily="34" charset="-122"/>
                <a:cs typeface="Arial" pitchFamily="34" charset="-120"/>
              </a:rPr>
              <a:t>01</a:t>
            </a:r>
            <a:endParaRPr lang="en-US" sz="1400" dirty="0"/>
          </a:p>
        </p:txBody>
      </p:sp>
      <p:sp>
        <p:nvSpPr>
          <p:cNvPr id="7" name="Text 4"/>
          <p:cNvSpPr/>
          <p:nvPr/>
        </p:nvSpPr>
        <p:spPr>
          <a:xfrm>
            <a:off x="1993850" y="3962301"/>
            <a:ext cx="1723601"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IDE 会走到哪里？</a:t>
            </a:r>
            <a:endParaRPr lang="en-US" sz="1400" dirty="0"/>
          </a:p>
        </p:txBody>
      </p:sp>
      <p:sp>
        <p:nvSpPr>
          <p:cNvPr id="8" name="Text 5"/>
          <p:cNvSpPr/>
          <p:nvPr/>
        </p:nvSpPr>
        <p:spPr>
          <a:xfrm>
            <a:off x="3962301" y="3981350"/>
            <a:ext cx="2993061"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从编辑器，走向 Agent 运行面与工程控制面</a:t>
            </a:r>
            <a:endParaRPr lang="en-US" sz="1100" dirty="0"/>
          </a:p>
        </p:txBody>
      </p:sp>
      <p:sp>
        <p:nvSpPr>
          <p:cNvPr id="9" name="Text 6"/>
          <p:cNvSpPr/>
          <p:nvPr/>
        </p:nvSpPr>
        <p:spPr>
          <a:xfrm>
            <a:off x="1549361" y="4470288"/>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FF5A1F"/>
                </a:solidFill>
                <a:latin typeface="Arial" pitchFamily="34" charset="0"/>
                <a:ea typeface="Arial" pitchFamily="34" charset="-122"/>
                <a:cs typeface="Arial" pitchFamily="34" charset="-120"/>
              </a:rPr>
              <a:t>02</a:t>
            </a:r>
            <a:endParaRPr lang="en-US" sz="1400" dirty="0"/>
          </a:p>
        </p:txBody>
      </p:sp>
      <p:sp>
        <p:nvSpPr>
          <p:cNvPr id="10" name="Text 7"/>
          <p:cNvSpPr/>
          <p:nvPr/>
        </p:nvSpPr>
        <p:spPr>
          <a:xfrm>
            <a:off x="1993850" y="4470288"/>
            <a:ext cx="1684486"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“信任”如何量化？</a:t>
            </a:r>
            <a:endParaRPr lang="en-US" sz="1400" dirty="0"/>
          </a:p>
        </p:txBody>
      </p:sp>
      <p:sp>
        <p:nvSpPr>
          <p:cNvPr id="11" name="Text 8"/>
          <p:cNvSpPr/>
          <p:nvPr/>
        </p:nvSpPr>
        <p:spPr>
          <a:xfrm>
            <a:off x="3962301" y="4489338"/>
            <a:ext cx="3065703"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当产出快速放大，稀缺的是证据、责任与回滚</a:t>
            </a:r>
            <a:endParaRPr lang="en-US" sz="1100" dirty="0"/>
          </a:p>
        </p:txBody>
      </p:sp>
      <p:sp>
        <p:nvSpPr>
          <p:cNvPr id="12" name="Text 9"/>
          <p:cNvSpPr/>
          <p:nvPr/>
        </p:nvSpPr>
        <p:spPr>
          <a:xfrm>
            <a:off x="1549361" y="4978276"/>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Arial" pitchFamily="34" charset="0"/>
                <a:ea typeface="Arial" pitchFamily="34" charset="-122"/>
                <a:cs typeface="Arial" pitchFamily="34" charset="-120"/>
              </a:rPr>
              <a:t>03</a:t>
            </a:r>
            <a:endParaRPr lang="en-US" sz="1400" dirty="0"/>
          </a:p>
        </p:txBody>
      </p:sp>
      <p:sp>
        <p:nvSpPr>
          <p:cNvPr id="13" name="Text 10"/>
          <p:cNvSpPr/>
          <p:nvPr/>
        </p:nvSpPr>
        <p:spPr>
          <a:xfrm>
            <a:off x="1993850" y="4978276"/>
            <a:ext cx="1485355"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人要站在哪里？</a:t>
            </a:r>
            <a:endParaRPr lang="en-US" sz="1400" dirty="0"/>
          </a:p>
        </p:txBody>
      </p:sp>
      <p:sp>
        <p:nvSpPr>
          <p:cNvPr id="14" name="Text 11"/>
          <p:cNvSpPr/>
          <p:nvPr/>
        </p:nvSpPr>
        <p:spPr>
          <a:xfrm>
            <a:off x="3962301" y="4997325"/>
            <a:ext cx="3350684"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从实现动作，转向问题定义、风险解释和最终责任</a:t>
            </a:r>
            <a:endParaRPr lang="en-US" sz="1100" dirty="0"/>
          </a:p>
        </p:txBody>
      </p:sp>
      <p:sp>
        <p:nvSpPr>
          <p:cNvPr id="15" name="Text 12"/>
          <p:cNvSpPr/>
          <p:nvPr/>
        </p:nvSpPr>
        <p:spPr>
          <a:xfrm>
            <a:off x="7442014" y="1803355"/>
            <a:ext cx="874246" cy="497193"/>
          </a:xfrm>
          <a:prstGeom prst="rect">
            <a:avLst/>
          </a:prstGeom>
          <a:noFill/>
          <a:ln/>
        </p:spPr>
        <p:txBody>
          <a:bodyPr wrap="square" lIns="0" tIns="0" rIns="0" bIns="0" rtlCol="0" anchor="t">
            <a:normAutofit/>
          </a:bodyPr>
          <a:lstStyle/>
          <a:p>
            <a:pPr algn="l" indent="0" marL="0">
              <a:buNone/>
            </a:pPr>
            <a:r>
              <a:rPr lang="en-US" sz="2700" b="1" dirty="0">
                <a:solidFill>
                  <a:srgbClr val="106BEF"/>
                </a:solidFill>
                <a:latin typeface="Arial" pitchFamily="34" charset="0"/>
                <a:ea typeface="Arial" pitchFamily="34" charset="-122"/>
                <a:cs typeface="Arial" pitchFamily="34" charset="-120"/>
              </a:rPr>
              <a:t>Q&amp;A</a:t>
            </a:r>
            <a:endParaRPr lang="en-US" sz="2700" dirty="0"/>
          </a:p>
        </p:txBody>
      </p:sp>
      <p:sp>
        <p:nvSpPr>
          <p:cNvPr id="16" name="Text 13"/>
          <p:cNvSpPr/>
          <p:nvPr/>
        </p:nvSpPr>
        <p:spPr>
          <a:xfrm>
            <a:off x="4186133" y="5492613"/>
            <a:ext cx="3819430" cy="230182"/>
          </a:xfrm>
          <a:prstGeom prst="rect">
            <a:avLst/>
          </a:prstGeom>
          <a:noFill/>
          <a:ln/>
        </p:spPr>
        <p:txBody>
          <a:bodyPr wrap="square" lIns="0" tIns="0" rIns="0" bIns="0" rtlCol="0" anchor="t">
            <a:normAutofit/>
          </a:bodyPr>
          <a:lstStyle/>
          <a:p>
            <a:pPr algn="ctr" indent="0" marL="0">
              <a:buNone/>
            </a:pPr>
            <a:r>
              <a:rPr lang="en-US" sz="1250" b="1" dirty="0">
                <a:solidFill>
                  <a:srgbClr val="050608"/>
                </a:solidFill>
                <a:latin typeface="Microsoft YaHei" pitchFamily="34" charset="0"/>
                <a:ea typeface="Microsoft YaHei" pitchFamily="34" charset="-122"/>
                <a:cs typeface="Microsoft YaHei" pitchFamily="34" charset="-120"/>
              </a:rPr>
              <a:t>让概率性的智能能力进入可治理的 Agentic SDLC</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2026-05-26T07:52:05Z</dcterms:created>
  <dcterms:modified xsi:type="dcterms:W3CDTF">2026-05-26T07:52:05Z</dcterms:modified>
</cp:coreProperties>
</file>