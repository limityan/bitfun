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 页：AI 如何重新定义软件开发
建议时长：约 0.5 分钟
讲述目标：建立主旨：BitFun 是入口，核心问题是如何把 AI 高速产出变成可验证、可治理、可复盘的交付系统。
可选提问：当代码生成不再稀缺，软件工程真正稀缺的是什么？
讲稿：各位好，今天分享的主题是《AI 如何重新定义软件开发》。报告会以 BitFun 的一段真实开发经验为入口，但重点不是复盘项目细节，也不是比较哪个工具更强。真正想讨论的是：当 AI 已经能显著放大代码产出以后，软件工程需要怎样升级，才能把这份速度变成稳定的交付能力。今天的主线可以概括成一句话：从代码产能，到可治理 Agentic SDLC。后面会围绕一组工程控制面关键构件展开：任务契约、隔离执行、验证矩阵、Artifact 包和反馈记忆。AI 不只是帮人写代码，而是逐步进入需求理解、设计、实现、测试、评审、发布和复盘这些环节；软件工程要做的，是用这些构件把概率性的执行过程收敛成可判断、可追责、可复用的工程结果。
转场：先看今天的四个主题，后面每一页都围绕这条主线展开。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页：目录
建议时长：约 0.7 分钟
讲述目标：用四个与页面章节一致的模块组织全篇：现实观察、行业信号、工程治理、开发者角色。
可选提问：AI 研发的收益，应该看代码量、局部速度，还是端到端风险可控？
讲稿：今天分四个部分。第一，现实观察：从 BitFun 的高吞吐开发经验出发，看 AI 放大代码产出后，验证、评审和维护压力如何变化。第二，行业信号：看主流工具和研究为什么都在从“会不会写代码”转向“能不能进入工程系统”。第三，工程治理：用 BitFun/ADE 的全链路范围做承接，再按需求到任务、实现到验证、评审到交付、发布到运维四个节点展开；这几页会对应任务契约、隔离执行、验证矩阵、Artifact 包和反馈记忆。第四，开发者角色：讨论团队和个人在这个系统里分别需要做什么，尤其是刚进入职场的同学，哪些能力会变得更关键。
转场：先从 BitFun 的实际开发经验进入。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3 页：速度的背后
建议时长：约 1.3 分钟
讲述目标：用 BitFun 统计把问题落到真实场景：代码增长后，净收益要看端到端周期、评审等待、返工率、失败重跑和线上风险。
可选提问：单月 10W+ 行代码更像生产力证明，还是工程系统压力测试？
讲稿：先看一个入口案例。在 GCWing/BitFun 仓库里，以 2026 年 4 月 22 日到 5 月 22 日为窗口，作者 limityan 在 main 分支上有 241 个提交，新增 185,533 行，删除 46,479 行。可以把它概括成单月 10W+ 行代码，但数字本身不是重点，它更像一个工程压力测试。AI 确实让想法更快变成原型，让个人可以承担过去需要多人探索的工作；但代码更快进入仓库以后，真正的问题会转移到验证覆盖、评审等待、返工闭环和长期维护。换句话说，高吞吐不是净收益的证明，只说明生产环节已经被放大。更合理的净收益口径应该包括端到端周期、评审等待、返工率、失败重跑、线上缺陷与回滚，以及维护者理解成本。团队真正要问的是：这些变更凭什么可以合并，证据是否足够，风险能否回滚，后续维护是否还能看懂。AI 放大的不是单个键盘速度，而是从想法到反馈的回路；如果后面的工程承接没有同步升级，速度也可能变成新的压力。
转场：这个判断不能只靠单个项目经验，接下来先看行业里正在出现的工作方式变化。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4 页：IDE 的边界
建议时长：约 1.4 分钟
讲述目标：用行业新概念承接 BitFun 高吞吐现象，引出 IDE 从代码编辑器扩展为 Agent 运行、协作、审批和证据平台，同时带出工程师角色变化。
可选提问：为什么这些新词最后都在讨论运行环境、权限、协作和可审计性，而不是只讨论写代码？
讲稿：从 BitFun 的高吞吐现象往下看，讨论不能只停在“AI 写代码更快”。更值得关注的是，这些行业新概念共同指向了 IDE 边界的外扩。Agentic OS 说明 Agent 正在被当成独立运行主体，需要账号、权限、隔离环境和审计要求。ADE，也就是 Agentic Development Environment，说明开发环境正在从编辑器扩展成多 Agent 的控制平面。龙虾式 Workflow 说明自由对话之外，还需要类型化流程、审批门禁和可恢复执行，让 Agent 不必每一步都自由发挥。Yes Engineer 则是一个更有趣的工程文化信号：它不是让工程师无原则答应需求，而是要求工程师设计一条能安全说 Yes/Go 的路径。放在一起看，未来 IDE 的边界正在从写代码入口，扩展到 Agent 的身份、运行、协作、审批和证据平台；人的角色也从“我来写”更多转向“我来定义边界、证据和放行条件”。
转场：这些信号要进入真实团队，最终必须落成具体产品能力。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5 页：产品化
建议时长：约 1.5 分钟
讲述目标：从竞品和研究信号推导 ADE 的产品演进方向：任务委托、治理护栏和证据复盘三类能力最值得优先产品化，并明确 BitFun/ADE 的本地工程上下文定位。
可选提问：如果 IDE 边界已经外扩，BitFun/ADE 后续应该补的是哪些系统能力？
讲稿：如果把这些行业信号拆成产品能力，三个方向最清楚。第一是入口与委托：GitHub Agent HQ、Copilot coding agent 和 Codex Cloud 都把任务从 issue、聊天、CLI 或 IDE 交给独立环境执行，再把结果回到分支和 PR。第二是治理与护栏：GitHub 的 model picker、自检、安全扫描、自定义 agent，以及 Claude Code 的 subagent、权限、hooks、worktree 隔离，都在把自动执行变成可选择、可拦截、可恢复的流程。第三是证据与复盘：session logs、规则上下文、trace、evals 和失败样本库，正在成为团队判断 AI 变更能否合并的依据。AIDev 把几十万级 Agentic PR 作为研究对象，也说明未来竞争点会落在 PR、评审、失败和协作数据。对 BitFun/ADE 来说，重点不是再做一个云端 Agent，而是在 IDE 和本地工程上下文里组织规则、权限、执行证据和协作边界。
转场：有了这些产品化参照，再回到 BitFun/ADE 的研发全链路。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6 页：ADE 范围
建议时长：约 1.2 分钟
讲述目标：说明 BitFun/ADE 不只是更强 IDE，而是覆盖研发链路的工程控制面：任务说明、隔离执行、验证矩阵、Artifact 证据包、反馈记忆。
可选提问：如果 ADE 不只是更强 IDE，它应该覆盖研发链路中的哪些节点？
讲稿：回到 BitFun，可以把 ADE 理解成一条覆盖研发全过程的工作台，也可以更具体地说成 Agentic SDLC 控制面。它不是只在编辑器里补代码，而是从需求与场景开始，进入任务契约，再到实现与验证，随后是评审、合并、发布，最后回到运维反馈和下一轮演进。这里可以拆成五类关键控制点：任务契约定义输入、目标、非目标、验收和风险；隔离执行保证探索不污染主线；验证矩阵按风险选择最小但足够的检查；Artifact 包把变更、测试、影响、Owner 和回滚路径组织成评审对象；反馈记忆把线上问题和复盘沉淀回下一轮规则。个人原型更关注快速验证和可回滚；开源仓库更关注 PR 质量和维护者信任；企业工程更关注权限、合规、跨团队协作和线上稳定。沿着这条链路看，AI 研发系统真正要解决的问题会变得更具体：需求如何变成可执行任务，实现如何留下确定性证据，评审如何治理海量变更，运维反馈如何沉淀成下一轮上下文和规则。
转场：先从第一个节点开始：需求不是直接丢给 AI，而要先变成可执行、可验收的任务契约。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7 页：需求到任务
建议时长：约 1.3 分钟
讲述目标：用研发链路第一个节点讲清：AI 不是从“写代码”开始，而是从可执行任务说明开始。
可选提问：一个需求什么时候才适合交给 Agent 执行？
讲稿：第一步不是让 AI 直接写代码，而是把需求转成任务契约。这里的任务契约可以简单理解成一份可执行、可验收的任务说明。传统流程里，产品、设计、开发、测试之间会通过 PRD、设计稿、技术方案、测试用例来反复对齐；Agent 进来以后，这些材料不能消失，反而要更结构化。一个适合交给 Agent 的任务，至少要有四类内容：输入是什么，目标和非目标是什么，验收标准是什么，风险边界在哪里。人的职责是做取舍和定义成功，例如这次是否需要兼容旧数据、是否允许改变交互、是否影响远程工作区。AI 可以辅助做需求拆解、影响面初筛、上下文检索和计划草稿，但不能替人决定产品取舍。这个节点的产物不是代码，而是任务契约；它决定后面实现、验证、评审到底拿什么判断对错。
转场：任务契约明确以后，下一步才是让 Agent 进入实现和验证循环。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8 页：实现到验证
建议时长：约 1.4 分钟
讲述目标：把原来抽象的概率性和确定性问题落到开发节点：Agent 可以探索，放行必须靠验证证据。
可选提问：如果实现过程是概率性的，团队靠什么判断它真的完成了？
讲稿：第二个节点是实现到验证，对应工程控制面的执行与验证层。这里要处理一个核心矛盾：模型生成代码的过程可以是概率性的，但软件工程最后要的是确定性的运行结果。解决办法不是要求模型每一步都完全可预测，而是要求每轮实现都产生可复现证据。Agent 可以改代码、补测试、改文档、重跑命令，也可以尝试不同路径；但每一轮结束时要能说明改了什么、跑了哪些检查、失败在哪里、下一步怎么修。BitFun 这类工具应该承接三类能力：隔离执行，避免探索污染主线；验证矩阵，按前端、核心逻辑、桌面集成等风险选择最小验证；证据包，把 diff 摘要、测试日志、失败列表和影响范围保存下来。这样 0.99 的多轮串联不会只靠信心累乘，而是在每个节点被验证证据打断和纠偏。
转场：实现和验证有证据以后，下一步的问题是：这些海量变更如何进入代码仓和发布流程。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9 页：评审到交付
建议时长：约 1.4 分钟
讲述目标：把开源质量责任、企业复杂协作和代码评审问题统一到评审交付节点，减少抽象重复。
可选提问：维护者或团队负责人如何验证陌生的大量 AI 变更是否值得合并？
讲稿：第三个节点是评审到交付，对应工程控制面的交付判断层，也就是 Artifact 包。这里的 Artifact 包可以理解成让维护者敢判断、敢合并、敢回滚的一组证据。AI 带来的真实压力不是多了几行代码，而是维护者要在更短时间里判断更大的变更是否可信。这里评审对象要从最终 diff 扩展成 Artifact 包：任务契约、关键设计差异、变更摘要、测试结果、安全和性能检查、影响范围、剩余风险和回滚路径。更具体地说，Artifact 不应该靠开发者手工整理，也不应该要求人回看每一步操作；它应该由平台从任务契约、diff、测试日志、风险说明、Owner 审批和回滚路径自动生成，与 PR 或发布记录绑定。人看到的是可读摘要和风险索引，系统保留原始证据，发布后再按价值进入复盘记忆或过期清理。开源项目里，这能帮助维护者建立对陌生贡献的信任；企业项目里，它能帮助跨团队角色对齐责任。AI 可以辅助预评审、生成说明、比对规则、提示高风险文件；但人要做风险仲裁，判断质量例外是否可接受，是否需要架构 Owner、测试 Owner 或发布 Owner 介入。
转场：代码合并或发布以后，工程链路还没有结束，线上反馈必须回到下一轮研发系统。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10 页：发布到运维
建议时长：约 1.3 分钟
讲述目标：把原来的能力演进与架构稳定性放到运维反馈节点，形成从发布到学习的闭环。
可选提问：AI 参与交付后，线上问题和长期维护经验如何变成下一轮能力？
讲稿：第四个节点是发布到运维，对应工程控制面的反馈学习层。AI 时代很容易把注意力放在生成和合并之前，但真正的长期质量要看发布以后。上线后会出现日志、指标、错误报告、用户反馈、性能变化和事故复盘，这些都应该回到下一轮任务契约、测试用例、规则上下文和架构边界里。BitFun/ADE 在这里可以做两件事：第一，把运行证据组织成 Agent 可用的上下文，例如哪类异常反复出现、哪些模块经常被改坏、哪些测试缺口导致返工。第二，把架构和能力边界沉淀成演进协议，例如先锁产品能力，再迁移 owner；先证明接口、权限、远程场景和日志行为等价，再扩大改造范围。这样，运维不是开发之后的尾巴，而是让 Agentic SDLC 持续变聪明的反馈源。
转场：最后回到人和团队：在这个新系统里，开发者角色会怎样变化。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11 页：开发者角色
建议时长：约 1.7 分钟
讲述目标：从团队、个人和新人三个角度说明角色变化，并给出面向新工程系统的技术成长方向。
可选提问：AI 参与每个阶段后，哪些能力应该由系统承接，哪些判断必须由人承担？
讲稿：最后看开发者角色。团队层面，未来的重点不是追求全自动，而是建设可治理交付系统：把任务契约、隔离执行、验证矩阵、Artifact 包和反馈记忆做成平台能力；用净时间、返工率、评审压力和线上风险判断真实收益。个人层面，变化不是远离代码，而是判断位置前移：开发者要会定义问题，说明目标、非目标和风险边界；要会核验事实，判断上下文是否可信；要会解释风险，判断什么可以自动推进、什么需要补证据；还要能承接责任，出问题能回滚、复盘和沉淀。对刚进入职场的同学，技术成长方向会更宽：不仅要写代码，还要理解需求、用户场景、产品定位、架构约束和运行证据。AI 会降低实现门槛，但会提高对系统理解和工程判断的要求。
转场：最后用三条结论收束，并进入交流。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12 页：谢谢
建议时长：约 0.9 分钟
讲述目标：用三个面向未来的方向性问题收束：IDE 边界、工程信任和开发者角色。
可选提问：如果 AI 真的进入软件工程全生命周期，未来最值得继续追问的是什么？
讲稿：最后留下三个更值得继续讨论的问题。第一，IDE 的终点会是什么？如果 Agent 需要身份、权限、隔离环境、上下文和证据，那么 IDE 可能不再只是编辑器，而会成为 Agent 的运行面和工程控制面。第二，“信任”如何量化？当代码产出可以被快速放大，团队真正稀缺的会变成可合并的证据、可追责的责任边界和可回滚的系统设计。第三，开发者的坐标在哪里？当实现动作越来越多地交给 Agent，人更需要站在问题定义、架构约束、风险解释和最终责任上。今天的核心判断是：AI 的未来不是让软件工程消失，而是迫使软件工程升级；真正值得建设的是能承接任务契约、隔离执行、验证矩阵、Artifact 包和反馈记忆的 ADE。谢谢大家。
转场：进入交流。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01-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01-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01-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768531"/>
            <a:ext cx="1041374" cy="0"/>
          </a:xfrm>
          <a:prstGeom prst="line">
            <a:avLst/>
          </a:prstGeom>
          <a:noFill/>
          <a:ln w="57149">
            <a:solidFill>
              <a:srgbClr val="106BEF"/>
            </a:solidFill>
            <a:prstDash val="solid"/>
            <a:headEnd type="none"/>
            <a:tailEnd type="none"/>
          </a:ln>
        </p:spPr>
      </p:sp>
      <p:sp>
        <p:nvSpPr>
          <p:cNvPr id="10" name="Shape 5"/>
          <p:cNvSpPr/>
          <p:nvPr/>
        </p:nvSpPr>
        <p:spPr>
          <a:xfrm>
            <a:off x="1790655" y="2730432"/>
            <a:ext cx="76198" cy="76198"/>
          </a:xfrm>
          <a:prstGeom prst="ellipse">
            <a:avLst/>
          </a:prstGeom>
          <a:solidFill>
            <a:srgbClr val="FF5A1F"/>
          </a:solidFill>
          <a:ln w="12700">
            <a:solidFill>
              <a:srgbClr val="FFFFFF">
                <a:alpha val="0"/>
              </a:srgbClr>
            </a:solidFill>
            <a:prstDash val="solid"/>
          </a:ln>
        </p:spPr>
      </p:sp>
      <p:sp>
        <p:nvSpPr>
          <p:cNvPr id="11" name="Shape 6"/>
          <p:cNvSpPr/>
          <p:nvPr/>
        </p:nvSpPr>
        <p:spPr>
          <a:xfrm>
            <a:off x="546086" y="3835304"/>
            <a:ext cx="2920927" cy="1206470"/>
          </a:xfrm>
          <a:prstGeom prst="roundRect">
            <a:avLst/>
          </a:prstGeom>
          <a:solidFill>
            <a:srgbClr val="FBFAF7">
              <a:alpha val="96000"/>
            </a:srgbClr>
          </a:solidFill>
          <a:ln w="12700">
            <a:solidFill>
              <a:srgbClr val="FFFFFF">
                <a:alpha val="0"/>
              </a:srgbClr>
            </a:solidFill>
            <a:prstDash val="solid"/>
          </a:ln>
        </p:spPr>
      </p:sp>
      <p:sp>
        <p:nvSpPr>
          <p:cNvPr id="12" name="Shape 7"/>
          <p:cNvSpPr/>
          <p:nvPr/>
        </p:nvSpPr>
        <p:spPr>
          <a:xfrm>
            <a:off x="711182" y="4051199"/>
            <a:ext cx="44449" cy="711182"/>
          </a:xfrm>
          <a:prstGeom prst="roundRect">
            <a:avLst/>
          </a:prstGeom>
          <a:solidFill>
            <a:srgbClr val="106BEF"/>
          </a:solidFill>
          <a:ln w="12700">
            <a:solidFill>
              <a:srgbClr val="FFFFFF">
                <a:alpha val="0"/>
              </a:srgbClr>
            </a:solidFill>
            <a:prstDash val="solid"/>
          </a:ln>
        </p:spPr>
      </p:sp>
      <p:sp>
        <p:nvSpPr>
          <p:cNvPr id="13" name="Text 8"/>
          <p:cNvSpPr/>
          <p:nvPr/>
        </p:nvSpPr>
        <p:spPr>
          <a:xfrm>
            <a:off x="609585" y="977876"/>
            <a:ext cx="2056079"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BitFun / AI 软件工程报告</a:t>
            </a:r>
            <a:endParaRPr lang="en-US" sz="1150" dirty="0"/>
          </a:p>
        </p:txBody>
      </p:sp>
      <p:sp>
        <p:nvSpPr>
          <p:cNvPr id="14" name="Text 9"/>
          <p:cNvSpPr/>
          <p:nvPr/>
        </p:nvSpPr>
        <p:spPr>
          <a:xfrm>
            <a:off x="609585" y="1523962"/>
            <a:ext cx="4742061"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AI 如何重新定义软件开发</a:t>
            </a:r>
            <a:endParaRPr lang="en-US" sz="3000" dirty="0"/>
          </a:p>
        </p:txBody>
      </p:sp>
      <p:sp>
        <p:nvSpPr>
          <p:cNvPr id="15" name="Text 10"/>
          <p:cNvSpPr/>
          <p:nvPr/>
        </p:nvSpPr>
        <p:spPr>
          <a:xfrm>
            <a:off x="634984" y="2285943"/>
            <a:ext cx="3680368"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从代码产能，到可治理 Agentic SDLC</a:t>
            </a:r>
            <a:endParaRPr lang="en-US" sz="1550" dirty="0"/>
          </a:p>
        </p:txBody>
      </p:sp>
      <p:sp>
        <p:nvSpPr>
          <p:cNvPr id="16" name="Text 11"/>
          <p:cNvSpPr/>
          <p:nvPr/>
        </p:nvSpPr>
        <p:spPr>
          <a:xfrm>
            <a:off x="977876" y="3987700"/>
            <a:ext cx="876532"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Microsoft YaHei" pitchFamily="34" charset="0"/>
                <a:ea typeface="Microsoft YaHei" pitchFamily="34" charset="-122"/>
                <a:cs typeface="Microsoft YaHei" pitchFamily="34" charset="-120"/>
              </a:rPr>
              <a:t>颜仲南</a:t>
            </a:r>
            <a:endParaRPr lang="en-US" sz="1700" dirty="0"/>
          </a:p>
        </p:txBody>
      </p:sp>
      <p:sp>
        <p:nvSpPr>
          <p:cNvPr id="17" name="Text 12"/>
          <p:cNvSpPr/>
          <p:nvPr/>
        </p:nvSpPr>
        <p:spPr>
          <a:xfrm>
            <a:off x="977876" y="4343291"/>
            <a:ext cx="1965276"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华为 软件IDE实验室</a:t>
            </a:r>
            <a:endParaRPr lang="en-US" sz="1450" dirty="0"/>
          </a:p>
        </p:txBody>
      </p:sp>
      <p:sp>
        <p:nvSpPr>
          <p:cNvPr id="18" name="Text 13"/>
          <p:cNvSpPr/>
          <p:nvPr/>
        </p:nvSpPr>
        <p:spPr>
          <a:xfrm>
            <a:off x="977876" y="4698883"/>
            <a:ext cx="981939" cy="239389"/>
          </a:xfrm>
          <a:prstGeom prst="rect">
            <a:avLst/>
          </a:prstGeom>
          <a:noFill/>
          <a:ln/>
        </p:spPr>
        <p:txBody>
          <a:bodyPr wrap="square" lIns="0" tIns="0" rIns="0" bIns="0" rtlCol="0" anchor="t">
            <a:normAutofit/>
          </a:bodyPr>
          <a:lstStyle/>
          <a:p>
            <a:pPr algn="l" indent="0" marL="0">
              <a:buNone/>
            </a:pPr>
            <a:r>
              <a:rPr lang="en-US" sz="1300" b="1" dirty="0">
                <a:solidFill>
                  <a:srgbClr val="5F6670"/>
                </a:solidFill>
                <a:latin typeface="Microsoft YaHei" pitchFamily="34" charset="0"/>
                <a:ea typeface="Microsoft YaHei" pitchFamily="34" charset="-122"/>
                <a:cs typeface="Microsoft YaHei" pitchFamily="34" charset="-120"/>
              </a:rPr>
              <a:t>2026.05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02-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02-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02-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1396965"/>
            <a:ext cx="800080" cy="0"/>
          </a:xfrm>
          <a:prstGeom prst="line">
            <a:avLst/>
          </a:prstGeom>
          <a:noFill/>
          <a:ln w="50799">
            <a:solidFill>
              <a:srgbClr val="106BEF"/>
            </a:solidFill>
            <a:prstDash val="solid"/>
            <a:headEnd type="none"/>
            <a:tailEnd type="none"/>
          </a:ln>
        </p:spPr>
      </p:sp>
      <p:sp>
        <p:nvSpPr>
          <p:cNvPr id="10" name="Shape 5"/>
          <p:cNvSpPr/>
          <p:nvPr/>
        </p:nvSpPr>
        <p:spPr>
          <a:xfrm>
            <a:off x="1523962" y="1358866"/>
            <a:ext cx="76198" cy="76198"/>
          </a:xfrm>
          <a:prstGeom prst="ellipse">
            <a:avLst/>
          </a:prstGeom>
          <a:solidFill>
            <a:srgbClr val="FF5A1F"/>
          </a:solidFill>
          <a:ln w="12700">
            <a:solidFill>
              <a:srgbClr val="FFFFFF">
                <a:alpha val="0"/>
              </a:srgbClr>
            </a:solidFill>
            <a:prstDash val="solid"/>
          </a:ln>
        </p:spPr>
      </p:sp>
      <p:sp>
        <p:nvSpPr>
          <p:cNvPr id="11" name="Shape 6"/>
          <p:cNvSpPr/>
          <p:nvPr/>
        </p:nvSpPr>
        <p:spPr>
          <a:xfrm>
            <a:off x="1130272" y="2095448"/>
            <a:ext cx="0" cy="3111422"/>
          </a:xfrm>
          <a:prstGeom prst="line">
            <a:avLst/>
          </a:prstGeom>
          <a:noFill/>
          <a:ln w="19050">
            <a:solidFill>
              <a:srgbClr val="C4C6C1"/>
            </a:solidFill>
            <a:prstDash val="solid"/>
            <a:headEnd type="none"/>
            <a:tailEnd type="none"/>
          </a:ln>
        </p:spPr>
      </p:sp>
      <p:sp>
        <p:nvSpPr>
          <p:cNvPr id="12" name="Shape 7"/>
          <p:cNvSpPr/>
          <p:nvPr/>
        </p:nvSpPr>
        <p:spPr>
          <a:xfrm>
            <a:off x="1333467" y="1765256"/>
            <a:ext cx="5714857" cy="698483"/>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3" name="Shape 8"/>
          <p:cNvSpPr/>
          <p:nvPr/>
        </p:nvSpPr>
        <p:spPr>
          <a:xfrm>
            <a:off x="2133547" y="2717732"/>
            <a:ext cx="5714857" cy="698483"/>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4" name="Shape 9"/>
          <p:cNvSpPr/>
          <p:nvPr/>
        </p:nvSpPr>
        <p:spPr>
          <a:xfrm>
            <a:off x="1333467" y="3670208"/>
            <a:ext cx="5714857" cy="698483"/>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5" name="Shape 10"/>
          <p:cNvSpPr/>
          <p:nvPr/>
        </p:nvSpPr>
        <p:spPr>
          <a:xfrm>
            <a:off x="2133547" y="4622684"/>
            <a:ext cx="5714857" cy="698483"/>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6" name="Text 11"/>
          <p:cNvSpPr/>
          <p:nvPr/>
        </p:nvSpPr>
        <p:spPr>
          <a:xfrm>
            <a:off x="609585" y="927077"/>
            <a:ext cx="993115"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目录</a:t>
            </a:r>
            <a:endParaRPr lang="en-US" sz="3000" dirty="0"/>
          </a:p>
        </p:txBody>
      </p:sp>
      <p:sp>
        <p:nvSpPr>
          <p:cNvPr id="17" name="Text 12"/>
          <p:cNvSpPr/>
          <p:nvPr/>
        </p:nvSpPr>
        <p:spPr>
          <a:xfrm>
            <a:off x="1562061" y="1917652"/>
            <a:ext cx="561326" cy="368291"/>
          </a:xfrm>
          <a:prstGeom prst="rect">
            <a:avLst/>
          </a:prstGeom>
          <a:noFill/>
          <a:ln/>
        </p:spPr>
        <p:txBody>
          <a:bodyPr wrap="square" lIns="0" tIns="0" rIns="0" bIns="0" rtlCol="0" anchor="t">
            <a:normAutofit/>
          </a:bodyPr>
          <a:lstStyle/>
          <a:p>
            <a:pPr algn="l" indent="0" marL="0">
              <a:buNone/>
            </a:pPr>
            <a:r>
              <a:rPr lang="en-US" sz="2000" b="1" dirty="0">
                <a:solidFill>
                  <a:srgbClr val="106BEF"/>
                </a:solidFill>
                <a:latin typeface="Arial" pitchFamily="34" charset="0"/>
                <a:ea typeface="Arial" pitchFamily="34" charset="-122"/>
                <a:cs typeface="Arial" pitchFamily="34" charset="-120"/>
              </a:rPr>
              <a:t>01</a:t>
            </a:r>
            <a:endParaRPr lang="en-US" sz="2000" dirty="0"/>
          </a:p>
        </p:txBody>
      </p:sp>
      <p:sp>
        <p:nvSpPr>
          <p:cNvPr id="18" name="Text 13"/>
          <p:cNvSpPr/>
          <p:nvPr/>
        </p:nvSpPr>
        <p:spPr>
          <a:xfrm>
            <a:off x="2070048" y="1904952"/>
            <a:ext cx="993115"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现实观察</a:t>
            </a:r>
            <a:endParaRPr lang="en-US" sz="1500" dirty="0"/>
          </a:p>
        </p:txBody>
      </p:sp>
      <p:sp>
        <p:nvSpPr>
          <p:cNvPr id="19" name="Text 14"/>
          <p:cNvSpPr/>
          <p:nvPr/>
        </p:nvSpPr>
        <p:spPr>
          <a:xfrm>
            <a:off x="2070048" y="2171646"/>
            <a:ext cx="2685475"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从 BitFun 高吞吐经验看工程压力变化。</a:t>
            </a:r>
            <a:endParaRPr lang="en-US" sz="1050" dirty="0"/>
          </a:p>
        </p:txBody>
      </p:sp>
      <p:sp>
        <p:nvSpPr>
          <p:cNvPr id="20" name="Text 15"/>
          <p:cNvSpPr/>
          <p:nvPr/>
        </p:nvSpPr>
        <p:spPr>
          <a:xfrm>
            <a:off x="6222844" y="1993850"/>
            <a:ext cx="507987" cy="193353"/>
          </a:xfrm>
          <a:prstGeom prst="rect">
            <a:avLst/>
          </a:prstGeom>
          <a:noFill/>
          <a:ln/>
        </p:spPr>
        <p:txBody>
          <a:bodyPr wrap="square" lIns="0" tIns="0" rIns="0" bIns="0" rtlCol="0" anchor="t">
            <a:normAutofit/>
          </a:bodyPr>
          <a:lstStyle/>
          <a:p>
            <a:pPr algn="r" indent="0" marL="0">
              <a:buNone/>
            </a:pPr>
            <a:r>
              <a:rPr lang="en-US" sz="1050" b="1" dirty="0">
                <a:solidFill>
                  <a:srgbClr val="106BEF"/>
                </a:solidFill>
                <a:latin typeface="Microsoft YaHei" pitchFamily="34" charset="0"/>
                <a:ea typeface="Microsoft YaHei" pitchFamily="34" charset="-122"/>
                <a:cs typeface="Microsoft YaHei" pitchFamily="34" charset="-120"/>
              </a:rPr>
              <a:t>03</a:t>
            </a:r>
            <a:endParaRPr lang="en-US" sz="1050" dirty="0"/>
          </a:p>
        </p:txBody>
      </p:sp>
      <p:sp>
        <p:nvSpPr>
          <p:cNvPr id="21" name="Text 16"/>
          <p:cNvSpPr/>
          <p:nvPr/>
        </p:nvSpPr>
        <p:spPr>
          <a:xfrm>
            <a:off x="2362141" y="2870128"/>
            <a:ext cx="561326" cy="368291"/>
          </a:xfrm>
          <a:prstGeom prst="rect">
            <a:avLst/>
          </a:prstGeom>
          <a:noFill/>
          <a:ln/>
        </p:spPr>
        <p:txBody>
          <a:bodyPr wrap="square" lIns="0" tIns="0" rIns="0" bIns="0" rtlCol="0" anchor="t">
            <a:normAutofit/>
          </a:bodyPr>
          <a:lstStyle/>
          <a:p>
            <a:pPr algn="l" indent="0" marL="0">
              <a:buNone/>
            </a:pPr>
            <a:r>
              <a:rPr lang="en-US" sz="2000" b="1" dirty="0">
                <a:solidFill>
                  <a:srgbClr val="106BEF"/>
                </a:solidFill>
                <a:latin typeface="Arial" pitchFamily="34" charset="0"/>
                <a:ea typeface="Arial" pitchFamily="34" charset="-122"/>
                <a:cs typeface="Arial" pitchFamily="34" charset="-120"/>
              </a:rPr>
              <a:t>02</a:t>
            </a:r>
            <a:endParaRPr lang="en-US" sz="2000" dirty="0"/>
          </a:p>
        </p:txBody>
      </p:sp>
      <p:sp>
        <p:nvSpPr>
          <p:cNvPr id="22" name="Text 17"/>
          <p:cNvSpPr/>
          <p:nvPr/>
        </p:nvSpPr>
        <p:spPr>
          <a:xfrm>
            <a:off x="2870128" y="2857429"/>
            <a:ext cx="993115"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行业信号</a:t>
            </a:r>
            <a:endParaRPr lang="en-US" sz="1500" dirty="0"/>
          </a:p>
        </p:txBody>
      </p:sp>
      <p:sp>
        <p:nvSpPr>
          <p:cNvPr id="23" name="Text 18"/>
          <p:cNvSpPr/>
          <p:nvPr/>
        </p:nvSpPr>
        <p:spPr>
          <a:xfrm>
            <a:off x="2870128" y="3124122"/>
            <a:ext cx="2392112"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主流工具和研究都指向系统化承接。</a:t>
            </a:r>
            <a:endParaRPr lang="en-US" sz="1050" dirty="0"/>
          </a:p>
        </p:txBody>
      </p:sp>
      <p:sp>
        <p:nvSpPr>
          <p:cNvPr id="24" name="Text 19"/>
          <p:cNvSpPr/>
          <p:nvPr/>
        </p:nvSpPr>
        <p:spPr>
          <a:xfrm>
            <a:off x="6877640" y="2946326"/>
            <a:ext cx="653272" cy="193353"/>
          </a:xfrm>
          <a:prstGeom prst="rect">
            <a:avLst/>
          </a:prstGeom>
          <a:noFill/>
          <a:ln/>
        </p:spPr>
        <p:txBody>
          <a:bodyPr wrap="square" lIns="0" tIns="0" rIns="0" bIns="0" rtlCol="0" anchor="t">
            <a:normAutofit/>
          </a:bodyPr>
          <a:lstStyle/>
          <a:p>
            <a:pPr algn="r" indent="0" marL="0">
              <a:buNone/>
            </a:pPr>
            <a:r>
              <a:rPr lang="en-US" sz="1050" b="1" dirty="0">
                <a:solidFill>
                  <a:srgbClr val="106BEF"/>
                </a:solidFill>
                <a:latin typeface="Microsoft YaHei" pitchFamily="34" charset="0"/>
                <a:ea typeface="Microsoft YaHei" pitchFamily="34" charset="-122"/>
                <a:cs typeface="Microsoft YaHei" pitchFamily="34" charset="-120"/>
              </a:rPr>
              <a:t>04-05</a:t>
            </a:r>
            <a:endParaRPr lang="en-US" sz="1050" dirty="0"/>
          </a:p>
        </p:txBody>
      </p:sp>
      <p:sp>
        <p:nvSpPr>
          <p:cNvPr id="25" name="Text 20"/>
          <p:cNvSpPr/>
          <p:nvPr/>
        </p:nvSpPr>
        <p:spPr>
          <a:xfrm>
            <a:off x="1562061" y="3822604"/>
            <a:ext cx="561326" cy="368291"/>
          </a:xfrm>
          <a:prstGeom prst="rect">
            <a:avLst/>
          </a:prstGeom>
          <a:noFill/>
          <a:ln/>
        </p:spPr>
        <p:txBody>
          <a:bodyPr wrap="square" lIns="0" tIns="0" rIns="0" bIns="0" rtlCol="0" anchor="t">
            <a:normAutofit/>
          </a:bodyPr>
          <a:lstStyle/>
          <a:p>
            <a:pPr algn="l" indent="0" marL="0">
              <a:buNone/>
            </a:pPr>
            <a:r>
              <a:rPr lang="en-US" sz="2000" b="1" dirty="0">
                <a:solidFill>
                  <a:srgbClr val="106BEF"/>
                </a:solidFill>
                <a:latin typeface="Arial" pitchFamily="34" charset="0"/>
                <a:ea typeface="Arial" pitchFamily="34" charset="-122"/>
                <a:cs typeface="Arial" pitchFamily="34" charset="-120"/>
              </a:rPr>
              <a:t>03</a:t>
            </a:r>
            <a:endParaRPr lang="en-US" sz="2000" dirty="0"/>
          </a:p>
        </p:txBody>
      </p:sp>
      <p:sp>
        <p:nvSpPr>
          <p:cNvPr id="26" name="Text 21"/>
          <p:cNvSpPr/>
          <p:nvPr/>
        </p:nvSpPr>
        <p:spPr>
          <a:xfrm>
            <a:off x="2070048" y="3809905"/>
            <a:ext cx="993115"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工程治理</a:t>
            </a:r>
            <a:endParaRPr lang="en-US" sz="1500" dirty="0"/>
          </a:p>
        </p:txBody>
      </p:sp>
      <p:sp>
        <p:nvSpPr>
          <p:cNvPr id="27" name="Text 22"/>
          <p:cNvSpPr/>
          <p:nvPr/>
        </p:nvSpPr>
        <p:spPr>
          <a:xfrm>
            <a:off x="2070048" y="4076598"/>
            <a:ext cx="2205427"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从 ADE 范围到研发全过程节点。</a:t>
            </a:r>
            <a:endParaRPr lang="en-US" sz="1050" dirty="0"/>
          </a:p>
        </p:txBody>
      </p:sp>
      <p:sp>
        <p:nvSpPr>
          <p:cNvPr id="28" name="Text 23"/>
          <p:cNvSpPr/>
          <p:nvPr/>
        </p:nvSpPr>
        <p:spPr>
          <a:xfrm>
            <a:off x="6077560" y="3898803"/>
            <a:ext cx="653272" cy="193353"/>
          </a:xfrm>
          <a:prstGeom prst="rect">
            <a:avLst/>
          </a:prstGeom>
          <a:noFill/>
          <a:ln/>
        </p:spPr>
        <p:txBody>
          <a:bodyPr wrap="square" lIns="0" tIns="0" rIns="0" bIns="0" rtlCol="0" anchor="t">
            <a:normAutofit/>
          </a:bodyPr>
          <a:lstStyle/>
          <a:p>
            <a:pPr algn="r" indent="0" marL="0">
              <a:buNone/>
            </a:pPr>
            <a:r>
              <a:rPr lang="en-US" sz="1050" b="1" dirty="0">
                <a:solidFill>
                  <a:srgbClr val="106BEF"/>
                </a:solidFill>
                <a:latin typeface="Microsoft YaHei" pitchFamily="34" charset="0"/>
                <a:ea typeface="Microsoft YaHei" pitchFamily="34" charset="-122"/>
                <a:cs typeface="Microsoft YaHei" pitchFamily="34" charset="-120"/>
              </a:rPr>
              <a:t>06-10</a:t>
            </a:r>
            <a:endParaRPr lang="en-US" sz="1050" dirty="0"/>
          </a:p>
        </p:txBody>
      </p:sp>
      <p:sp>
        <p:nvSpPr>
          <p:cNvPr id="29" name="Text 24"/>
          <p:cNvSpPr/>
          <p:nvPr/>
        </p:nvSpPr>
        <p:spPr>
          <a:xfrm>
            <a:off x="2362141" y="4775081"/>
            <a:ext cx="561326" cy="368291"/>
          </a:xfrm>
          <a:prstGeom prst="rect">
            <a:avLst/>
          </a:prstGeom>
          <a:noFill/>
          <a:ln/>
        </p:spPr>
        <p:txBody>
          <a:bodyPr wrap="square" lIns="0" tIns="0" rIns="0" bIns="0" rtlCol="0" anchor="t">
            <a:normAutofit/>
          </a:bodyPr>
          <a:lstStyle/>
          <a:p>
            <a:pPr algn="l" indent="0" marL="0">
              <a:buNone/>
            </a:pPr>
            <a:r>
              <a:rPr lang="en-US" sz="2000" b="1" dirty="0">
                <a:solidFill>
                  <a:srgbClr val="106BEF"/>
                </a:solidFill>
                <a:latin typeface="Arial" pitchFamily="34" charset="0"/>
                <a:ea typeface="Arial" pitchFamily="34" charset="-122"/>
                <a:cs typeface="Arial" pitchFamily="34" charset="-120"/>
              </a:rPr>
              <a:t>04</a:t>
            </a:r>
            <a:endParaRPr lang="en-US" sz="2000" dirty="0"/>
          </a:p>
        </p:txBody>
      </p:sp>
      <p:sp>
        <p:nvSpPr>
          <p:cNvPr id="30" name="Text 25"/>
          <p:cNvSpPr/>
          <p:nvPr/>
        </p:nvSpPr>
        <p:spPr>
          <a:xfrm>
            <a:off x="2870128" y="4762381"/>
            <a:ext cx="1187420"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开发者角色</a:t>
            </a:r>
            <a:endParaRPr lang="en-US" sz="1500" dirty="0"/>
          </a:p>
        </p:txBody>
      </p:sp>
      <p:sp>
        <p:nvSpPr>
          <p:cNvPr id="31" name="Text 26"/>
          <p:cNvSpPr/>
          <p:nvPr/>
        </p:nvSpPr>
        <p:spPr>
          <a:xfrm>
            <a:off x="2870128" y="5029074"/>
            <a:ext cx="2800153"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团队建设系统，个人承担关键判断和责任。</a:t>
            </a:r>
            <a:endParaRPr lang="en-US" sz="1050" dirty="0"/>
          </a:p>
        </p:txBody>
      </p:sp>
      <p:sp>
        <p:nvSpPr>
          <p:cNvPr id="32" name="Text 27"/>
          <p:cNvSpPr/>
          <p:nvPr/>
        </p:nvSpPr>
        <p:spPr>
          <a:xfrm>
            <a:off x="6877640" y="4851279"/>
            <a:ext cx="653272" cy="193353"/>
          </a:xfrm>
          <a:prstGeom prst="rect">
            <a:avLst/>
          </a:prstGeom>
          <a:noFill/>
          <a:ln/>
        </p:spPr>
        <p:txBody>
          <a:bodyPr wrap="square" lIns="0" tIns="0" rIns="0" bIns="0" rtlCol="0" anchor="t">
            <a:normAutofit/>
          </a:bodyPr>
          <a:lstStyle/>
          <a:p>
            <a:pPr algn="r" indent="0" marL="0">
              <a:buNone/>
            </a:pPr>
            <a:r>
              <a:rPr lang="en-US" sz="1050" b="1" dirty="0">
                <a:solidFill>
                  <a:srgbClr val="106BEF"/>
                </a:solidFill>
                <a:latin typeface="Microsoft YaHei" pitchFamily="34" charset="0"/>
                <a:ea typeface="Microsoft YaHei" pitchFamily="34" charset="-122"/>
                <a:cs typeface="Microsoft YaHei" pitchFamily="34" charset="-120"/>
              </a:rPr>
              <a:t>11-12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03-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03-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03-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019250"/>
            <a:ext cx="711182" cy="0"/>
          </a:xfrm>
          <a:prstGeom prst="line">
            <a:avLst/>
          </a:prstGeom>
          <a:noFill/>
          <a:ln w="50799">
            <a:solidFill>
              <a:srgbClr val="106BEF"/>
            </a:solidFill>
            <a:prstDash val="solid"/>
            <a:headEnd type="none"/>
            <a:tailEnd type="none"/>
          </a:ln>
        </p:spPr>
      </p:sp>
      <p:sp>
        <p:nvSpPr>
          <p:cNvPr id="10" name="Shape 5"/>
          <p:cNvSpPr/>
          <p:nvPr/>
        </p:nvSpPr>
        <p:spPr>
          <a:xfrm>
            <a:off x="1425539" y="1984325"/>
            <a:ext cx="69848" cy="69848"/>
          </a:xfrm>
          <a:prstGeom prst="ellipse">
            <a:avLst/>
          </a:prstGeom>
          <a:solidFill>
            <a:srgbClr val="FF5A1F"/>
          </a:solidFill>
          <a:ln w="12700">
            <a:solidFill>
              <a:srgbClr val="FFFFFF">
                <a:alpha val="0"/>
              </a:srgbClr>
            </a:solidFill>
            <a:prstDash val="solid"/>
          </a:ln>
        </p:spPr>
      </p:sp>
      <p:sp>
        <p:nvSpPr>
          <p:cNvPr id="11" name="Shape 6"/>
          <p:cNvSpPr/>
          <p:nvPr/>
        </p:nvSpPr>
        <p:spPr>
          <a:xfrm>
            <a:off x="711182" y="2197045"/>
            <a:ext cx="5333867" cy="119377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2" name="Shape 7"/>
          <p:cNvSpPr/>
          <p:nvPr/>
        </p:nvSpPr>
        <p:spPr>
          <a:xfrm>
            <a:off x="7061023" y="2120847"/>
            <a:ext cx="4381390" cy="1308067"/>
          </a:xfrm>
          <a:prstGeom prst="roundRect">
            <a:avLst/>
          </a:prstGeom>
          <a:solidFill>
            <a:srgbClr val="111827"/>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3" name="Shape 8"/>
          <p:cNvSpPr/>
          <p:nvPr/>
        </p:nvSpPr>
        <p:spPr>
          <a:xfrm>
            <a:off x="7061023" y="2120847"/>
            <a:ext cx="4381390" cy="241294"/>
          </a:xfrm>
          <a:prstGeom prst="roundRect">
            <a:avLst/>
          </a:prstGeom>
          <a:solidFill>
            <a:srgbClr val="1F2937"/>
          </a:solidFill>
          <a:ln w="12700">
            <a:solidFill>
              <a:srgbClr val="FFFFFF">
                <a:alpha val="0"/>
              </a:srgbClr>
            </a:solidFill>
            <a:prstDash val="solid"/>
          </a:ln>
        </p:spPr>
      </p:sp>
      <p:sp>
        <p:nvSpPr>
          <p:cNvPr id="14" name="Shape 9"/>
          <p:cNvSpPr/>
          <p:nvPr/>
        </p:nvSpPr>
        <p:spPr>
          <a:xfrm>
            <a:off x="7213420" y="2209745"/>
            <a:ext cx="76198" cy="76198"/>
          </a:xfrm>
          <a:prstGeom prst="ellipse">
            <a:avLst/>
          </a:prstGeom>
          <a:solidFill>
            <a:srgbClr val="EF4444"/>
          </a:solidFill>
          <a:ln w="12700">
            <a:solidFill>
              <a:srgbClr val="FFFFFF">
                <a:alpha val="0"/>
              </a:srgbClr>
            </a:solidFill>
            <a:prstDash val="solid"/>
          </a:ln>
        </p:spPr>
      </p:sp>
      <p:sp>
        <p:nvSpPr>
          <p:cNvPr id="15" name="Shape 10"/>
          <p:cNvSpPr/>
          <p:nvPr/>
        </p:nvSpPr>
        <p:spPr>
          <a:xfrm>
            <a:off x="7353116" y="2209745"/>
            <a:ext cx="76198" cy="76198"/>
          </a:xfrm>
          <a:prstGeom prst="ellipse">
            <a:avLst/>
          </a:prstGeom>
          <a:solidFill>
            <a:srgbClr val="F59E0B"/>
          </a:solidFill>
          <a:ln w="12700">
            <a:solidFill>
              <a:srgbClr val="FFFFFF">
                <a:alpha val="0"/>
              </a:srgbClr>
            </a:solidFill>
            <a:prstDash val="solid"/>
          </a:ln>
        </p:spPr>
      </p:sp>
      <p:sp>
        <p:nvSpPr>
          <p:cNvPr id="16" name="Shape 11"/>
          <p:cNvSpPr/>
          <p:nvPr/>
        </p:nvSpPr>
        <p:spPr>
          <a:xfrm>
            <a:off x="7492813" y="2209745"/>
            <a:ext cx="76198" cy="76198"/>
          </a:xfrm>
          <a:prstGeom prst="ellipse">
            <a:avLst/>
          </a:prstGeom>
          <a:solidFill>
            <a:srgbClr val="22C55E"/>
          </a:solidFill>
          <a:ln w="12700">
            <a:solidFill>
              <a:srgbClr val="FFFFFF">
                <a:alpha val="0"/>
              </a:srgbClr>
            </a:solidFill>
            <a:prstDash val="solid"/>
          </a:ln>
        </p:spPr>
      </p:sp>
      <p:sp>
        <p:nvSpPr>
          <p:cNvPr id="17" name="Shape 12"/>
          <p:cNvSpPr/>
          <p:nvPr/>
        </p:nvSpPr>
        <p:spPr>
          <a:xfrm>
            <a:off x="711182" y="3886103"/>
            <a:ext cx="3251119" cy="16001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8" name="Shape 13"/>
          <p:cNvSpPr/>
          <p:nvPr/>
        </p:nvSpPr>
        <p:spPr>
          <a:xfrm>
            <a:off x="863578" y="4063898"/>
            <a:ext cx="533387" cy="533387"/>
          </a:xfrm>
          <a:prstGeom prst="ellipse">
            <a:avLst/>
          </a:prstGeom>
          <a:solidFill>
            <a:srgbClr val="106BEF">
              <a:alpha val="10000"/>
            </a:srgbClr>
          </a:solidFill>
          <a:ln w="12700">
            <a:solidFill>
              <a:srgbClr val="FFFFFF">
                <a:alpha val="0"/>
              </a:srgbClr>
            </a:solidFill>
            <a:prstDash val="solid"/>
          </a:ln>
        </p:spPr>
      </p:sp>
      <p:pic>
        <p:nvPicPr>
          <p:cNvPr id="19" name="Image 3" descr="D:\workspace\worktree_for_vcoder\BitFun\docs\report\ai-redefines-software-development-presentation\agents_are_the_new_Agile-slides-png-v0.18\slide-03-layer-18.png">    </p:cNvPr>
          <p:cNvPicPr>
            <a:picLocks noChangeAspect="1"/>
          </p:cNvPicPr>
          <p:nvPr/>
        </p:nvPicPr>
        <p:blipFill>
          <a:blip r:embed="rId4"/>
          <a:stretch>
            <a:fillRect/>
          </a:stretch>
        </p:blipFill>
        <p:spPr>
          <a:xfrm>
            <a:off x="0" y="0"/>
            <a:ext cx="12191695" cy="6858000"/>
          </a:xfrm>
          <a:prstGeom prst="rect">
            <a:avLst/>
          </a:prstGeom>
        </p:spPr>
      </p:pic>
      <p:sp>
        <p:nvSpPr>
          <p:cNvPr id="20" name="Shape 14"/>
          <p:cNvSpPr/>
          <p:nvPr/>
        </p:nvSpPr>
        <p:spPr>
          <a:xfrm>
            <a:off x="1054074" y="4686183"/>
            <a:ext cx="2565336" cy="0"/>
          </a:xfrm>
          <a:prstGeom prst="line">
            <a:avLst/>
          </a:prstGeom>
          <a:noFill/>
          <a:ln w="22224">
            <a:solidFill>
              <a:srgbClr val="106BEF">
                <a:alpha val="62000"/>
              </a:srgbClr>
            </a:solidFill>
            <a:prstDash val="solid"/>
            <a:headEnd type="none"/>
            <a:tailEnd type="none"/>
          </a:ln>
        </p:spPr>
      </p:sp>
      <p:sp>
        <p:nvSpPr>
          <p:cNvPr id="21" name="Shape 15"/>
          <p:cNvSpPr/>
          <p:nvPr/>
        </p:nvSpPr>
        <p:spPr>
          <a:xfrm>
            <a:off x="1131542" y="4903347"/>
            <a:ext cx="73658" cy="73658"/>
          </a:xfrm>
          <a:prstGeom prst="ellipse">
            <a:avLst/>
          </a:prstGeom>
          <a:solidFill>
            <a:srgbClr val="106BEF">
              <a:alpha val="82000"/>
            </a:srgbClr>
          </a:solidFill>
          <a:ln w="12700">
            <a:solidFill>
              <a:srgbClr val="FFFFFF">
                <a:alpha val="0"/>
              </a:srgbClr>
            </a:solidFill>
            <a:prstDash val="solid"/>
          </a:ln>
        </p:spPr>
      </p:sp>
      <p:sp>
        <p:nvSpPr>
          <p:cNvPr id="22" name="Shape 16"/>
          <p:cNvSpPr/>
          <p:nvPr/>
        </p:nvSpPr>
        <p:spPr>
          <a:xfrm>
            <a:off x="1131542" y="5170041"/>
            <a:ext cx="73658" cy="73658"/>
          </a:xfrm>
          <a:prstGeom prst="ellipse">
            <a:avLst/>
          </a:prstGeom>
          <a:solidFill>
            <a:srgbClr val="106BEF">
              <a:alpha val="82000"/>
            </a:srgbClr>
          </a:solidFill>
          <a:ln w="12700">
            <a:solidFill>
              <a:srgbClr val="FFFFFF">
                <a:alpha val="0"/>
              </a:srgbClr>
            </a:solidFill>
            <a:prstDash val="solid"/>
          </a:ln>
        </p:spPr>
      </p:sp>
      <p:sp>
        <p:nvSpPr>
          <p:cNvPr id="23" name="Shape 17"/>
          <p:cNvSpPr/>
          <p:nvPr/>
        </p:nvSpPr>
        <p:spPr>
          <a:xfrm>
            <a:off x="4470288" y="3886103"/>
            <a:ext cx="3251119" cy="16001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4" name="Shape 18"/>
          <p:cNvSpPr/>
          <p:nvPr/>
        </p:nvSpPr>
        <p:spPr>
          <a:xfrm>
            <a:off x="4622684" y="4063898"/>
            <a:ext cx="533387" cy="533387"/>
          </a:xfrm>
          <a:prstGeom prst="ellipse">
            <a:avLst/>
          </a:prstGeom>
          <a:solidFill>
            <a:srgbClr val="FF5A1F">
              <a:alpha val="10000"/>
            </a:srgbClr>
          </a:solidFill>
          <a:ln w="12700">
            <a:solidFill>
              <a:srgbClr val="FFFFFF">
                <a:alpha val="0"/>
              </a:srgbClr>
            </a:solidFill>
            <a:prstDash val="solid"/>
          </a:ln>
        </p:spPr>
      </p:sp>
      <p:pic>
        <p:nvPicPr>
          <p:cNvPr id="25" name="Image 4" descr="D:\workspace\worktree_for_vcoder\BitFun\docs\report\ai-redefines-software-development-presentation\agents_are_the_new_Agile-slides-png-v0.18\slide-03-layer-24.png">    </p:cNvPr>
          <p:cNvPicPr>
            <a:picLocks noChangeAspect="1"/>
          </p:cNvPicPr>
          <p:nvPr/>
        </p:nvPicPr>
        <p:blipFill>
          <a:blip r:embed="rId5"/>
          <a:stretch>
            <a:fillRect/>
          </a:stretch>
        </p:blipFill>
        <p:spPr>
          <a:xfrm>
            <a:off x="0" y="0"/>
            <a:ext cx="12191695" cy="6858000"/>
          </a:xfrm>
          <a:prstGeom prst="rect">
            <a:avLst/>
          </a:prstGeom>
        </p:spPr>
      </p:pic>
      <p:sp>
        <p:nvSpPr>
          <p:cNvPr id="26" name="Shape 19"/>
          <p:cNvSpPr/>
          <p:nvPr/>
        </p:nvSpPr>
        <p:spPr>
          <a:xfrm>
            <a:off x="4813180" y="4686183"/>
            <a:ext cx="2565336" cy="0"/>
          </a:xfrm>
          <a:prstGeom prst="line">
            <a:avLst/>
          </a:prstGeom>
          <a:noFill/>
          <a:ln w="22224">
            <a:solidFill>
              <a:srgbClr val="FF5A1F">
                <a:alpha val="62000"/>
              </a:srgbClr>
            </a:solidFill>
            <a:prstDash val="solid"/>
            <a:headEnd type="none"/>
            <a:tailEnd type="none"/>
          </a:ln>
        </p:spPr>
      </p:sp>
      <p:sp>
        <p:nvSpPr>
          <p:cNvPr id="27" name="Shape 20"/>
          <p:cNvSpPr/>
          <p:nvPr/>
        </p:nvSpPr>
        <p:spPr>
          <a:xfrm>
            <a:off x="4890648" y="4903347"/>
            <a:ext cx="73658" cy="73658"/>
          </a:xfrm>
          <a:prstGeom prst="ellipse">
            <a:avLst/>
          </a:prstGeom>
          <a:solidFill>
            <a:srgbClr val="FF5A1F">
              <a:alpha val="82000"/>
            </a:srgbClr>
          </a:solidFill>
          <a:ln w="12700">
            <a:solidFill>
              <a:srgbClr val="FFFFFF">
                <a:alpha val="0"/>
              </a:srgbClr>
            </a:solidFill>
            <a:prstDash val="solid"/>
          </a:ln>
        </p:spPr>
      </p:sp>
      <p:sp>
        <p:nvSpPr>
          <p:cNvPr id="28" name="Shape 21"/>
          <p:cNvSpPr/>
          <p:nvPr/>
        </p:nvSpPr>
        <p:spPr>
          <a:xfrm>
            <a:off x="4890648" y="5170041"/>
            <a:ext cx="73658" cy="73658"/>
          </a:xfrm>
          <a:prstGeom prst="ellipse">
            <a:avLst/>
          </a:prstGeom>
          <a:solidFill>
            <a:srgbClr val="FF5A1F">
              <a:alpha val="82000"/>
            </a:srgbClr>
          </a:solidFill>
          <a:ln w="12700">
            <a:solidFill>
              <a:srgbClr val="FFFFFF">
                <a:alpha val="0"/>
              </a:srgbClr>
            </a:solidFill>
            <a:prstDash val="solid"/>
          </a:ln>
        </p:spPr>
      </p:sp>
      <p:sp>
        <p:nvSpPr>
          <p:cNvPr id="29" name="Shape 22"/>
          <p:cNvSpPr/>
          <p:nvPr/>
        </p:nvSpPr>
        <p:spPr>
          <a:xfrm>
            <a:off x="8229394" y="3886103"/>
            <a:ext cx="3251119" cy="16001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30" name="Shape 23"/>
          <p:cNvSpPr/>
          <p:nvPr/>
        </p:nvSpPr>
        <p:spPr>
          <a:xfrm>
            <a:off x="8381790" y="4063898"/>
            <a:ext cx="533387" cy="533387"/>
          </a:xfrm>
          <a:prstGeom prst="ellipse">
            <a:avLst/>
          </a:prstGeom>
          <a:solidFill>
            <a:srgbClr val="106BEF">
              <a:alpha val="10000"/>
            </a:srgbClr>
          </a:solidFill>
          <a:ln w="12700">
            <a:solidFill>
              <a:srgbClr val="FFFFFF">
                <a:alpha val="0"/>
              </a:srgbClr>
            </a:solidFill>
            <a:prstDash val="solid"/>
          </a:ln>
        </p:spPr>
      </p:sp>
      <p:pic>
        <p:nvPicPr>
          <p:cNvPr id="31" name="Image 5" descr="D:\workspace\worktree_for_vcoder\BitFun\docs\report\ai-redefines-software-development-presentation\agents_are_the_new_Agile-slides-png-v0.18\slide-03-layer-30.png">    </p:cNvPr>
          <p:cNvPicPr>
            <a:picLocks noChangeAspect="1"/>
          </p:cNvPicPr>
          <p:nvPr/>
        </p:nvPicPr>
        <p:blipFill>
          <a:blip r:embed="rId6"/>
          <a:stretch>
            <a:fillRect/>
          </a:stretch>
        </p:blipFill>
        <p:spPr>
          <a:xfrm>
            <a:off x="0" y="0"/>
            <a:ext cx="12191695" cy="6858000"/>
          </a:xfrm>
          <a:prstGeom prst="rect">
            <a:avLst/>
          </a:prstGeom>
        </p:spPr>
      </p:pic>
      <p:sp>
        <p:nvSpPr>
          <p:cNvPr id="32" name="Shape 24"/>
          <p:cNvSpPr/>
          <p:nvPr/>
        </p:nvSpPr>
        <p:spPr>
          <a:xfrm>
            <a:off x="8572286" y="4686183"/>
            <a:ext cx="2565336" cy="0"/>
          </a:xfrm>
          <a:prstGeom prst="line">
            <a:avLst/>
          </a:prstGeom>
          <a:noFill/>
          <a:ln w="22224">
            <a:solidFill>
              <a:srgbClr val="106BEF">
                <a:alpha val="62000"/>
              </a:srgbClr>
            </a:solidFill>
            <a:prstDash val="solid"/>
            <a:headEnd type="none"/>
            <a:tailEnd type="none"/>
          </a:ln>
        </p:spPr>
      </p:sp>
      <p:sp>
        <p:nvSpPr>
          <p:cNvPr id="33" name="Shape 25"/>
          <p:cNvSpPr/>
          <p:nvPr/>
        </p:nvSpPr>
        <p:spPr>
          <a:xfrm>
            <a:off x="8649754" y="4903347"/>
            <a:ext cx="73658" cy="73658"/>
          </a:xfrm>
          <a:prstGeom prst="ellipse">
            <a:avLst/>
          </a:prstGeom>
          <a:solidFill>
            <a:srgbClr val="106BEF">
              <a:alpha val="82000"/>
            </a:srgbClr>
          </a:solidFill>
          <a:ln w="12700">
            <a:solidFill>
              <a:srgbClr val="FFFFFF">
                <a:alpha val="0"/>
              </a:srgbClr>
            </a:solidFill>
            <a:prstDash val="solid"/>
          </a:ln>
        </p:spPr>
      </p:sp>
      <p:sp>
        <p:nvSpPr>
          <p:cNvPr id="34" name="Shape 26"/>
          <p:cNvSpPr/>
          <p:nvPr/>
        </p:nvSpPr>
        <p:spPr>
          <a:xfrm>
            <a:off x="8649754" y="5170041"/>
            <a:ext cx="73658" cy="73658"/>
          </a:xfrm>
          <a:prstGeom prst="ellipse">
            <a:avLst/>
          </a:prstGeom>
          <a:solidFill>
            <a:srgbClr val="106BEF">
              <a:alpha val="82000"/>
            </a:srgbClr>
          </a:solidFill>
          <a:ln w="12700">
            <a:solidFill>
              <a:srgbClr val="FFFFFF">
                <a:alpha val="0"/>
              </a:srgbClr>
            </a:solidFill>
            <a:prstDash val="solid"/>
          </a:ln>
        </p:spPr>
      </p:sp>
      <p:sp>
        <p:nvSpPr>
          <p:cNvPr id="35" name="Shape 27"/>
          <p:cNvSpPr/>
          <p:nvPr/>
        </p:nvSpPr>
        <p:spPr>
          <a:xfrm>
            <a:off x="1079473" y="6057749"/>
            <a:ext cx="10032749" cy="406390"/>
          </a:xfrm>
          <a:prstGeom prst="roundRect">
            <a:avLst/>
          </a:prstGeom>
          <a:solidFill>
            <a:srgbClr val="FFFFFF"/>
          </a:solidFill>
          <a:ln w="12700">
            <a:solidFill>
              <a:srgbClr val="C4C6C1"/>
            </a:solidFill>
            <a:prstDash val="solid"/>
          </a:ln>
        </p:spPr>
      </p:sp>
      <p:sp>
        <p:nvSpPr>
          <p:cNvPr id="36" name="Shape 28"/>
          <p:cNvSpPr/>
          <p:nvPr/>
        </p:nvSpPr>
        <p:spPr>
          <a:xfrm>
            <a:off x="1523962" y="6165696"/>
            <a:ext cx="0" cy="190495"/>
          </a:xfrm>
          <a:prstGeom prst="line">
            <a:avLst/>
          </a:prstGeom>
          <a:noFill/>
          <a:ln w="50799">
            <a:solidFill>
              <a:srgbClr val="106BEF"/>
            </a:solidFill>
            <a:prstDash val="solid"/>
            <a:headEnd type="none"/>
            <a:tailEnd type="none"/>
          </a:ln>
        </p:spPr>
      </p:sp>
      <p:sp>
        <p:nvSpPr>
          <p:cNvPr id="37" name="Text 29"/>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速度的背后</a:t>
            </a:r>
            <a:endParaRPr lang="en-US" sz="3000" dirty="0"/>
          </a:p>
        </p:txBody>
      </p:sp>
      <p:sp>
        <p:nvSpPr>
          <p:cNvPr id="38" name="Text 30"/>
          <p:cNvSpPr/>
          <p:nvPr/>
        </p:nvSpPr>
        <p:spPr>
          <a:xfrm>
            <a:off x="634984" y="1549361"/>
            <a:ext cx="5806295"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BitFun 的高吞吐经验不是结论，而是对工程系统的压力测试。</a:t>
            </a:r>
            <a:endParaRPr lang="en-US" sz="1550" dirty="0"/>
          </a:p>
        </p:txBody>
      </p:sp>
      <p:sp>
        <p:nvSpPr>
          <p:cNvPr id="39" name="Text 31"/>
          <p:cNvSpPr/>
          <p:nvPr/>
        </p:nvSpPr>
        <p:spPr>
          <a:xfrm>
            <a:off x="1028674" y="2489138"/>
            <a:ext cx="1435064"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BitFun 开发经验</a:t>
            </a:r>
            <a:endParaRPr lang="en-US" sz="1200" dirty="0"/>
          </a:p>
        </p:txBody>
      </p:sp>
      <p:sp>
        <p:nvSpPr>
          <p:cNvPr id="40" name="Text 32"/>
          <p:cNvSpPr/>
          <p:nvPr/>
        </p:nvSpPr>
        <p:spPr>
          <a:xfrm>
            <a:off x="1028674" y="2755831"/>
            <a:ext cx="2863778" cy="460363"/>
          </a:xfrm>
          <a:prstGeom prst="rect">
            <a:avLst/>
          </a:prstGeom>
          <a:noFill/>
          <a:ln/>
        </p:spPr>
        <p:txBody>
          <a:bodyPr wrap="square" lIns="0" tIns="0" rIns="0" bIns="0" rtlCol="0" anchor="t">
            <a:normAutofit/>
          </a:bodyPr>
          <a:lstStyle/>
          <a:p>
            <a:pPr algn="l" indent="0" marL="0">
              <a:buNone/>
            </a:pPr>
            <a:r>
              <a:rPr lang="en-US" sz="2500" b="1" dirty="0">
                <a:solidFill>
                  <a:srgbClr val="050608"/>
                </a:solidFill>
                <a:latin typeface="Arial" pitchFamily="34" charset="0"/>
                <a:ea typeface="Arial" pitchFamily="34" charset="-122"/>
                <a:cs typeface="Arial" pitchFamily="34" charset="-120"/>
              </a:rPr>
              <a:t>单月 10W+ 行代码</a:t>
            </a:r>
            <a:endParaRPr lang="en-US" sz="2500" dirty="0"/>
          </a:p>
        </p:txBody>
      </p:sp>
      <p:sp>
        <p:nvSpPr>
          <p:cNvPr id="41" name="Text 33"/>
          <p:cNvSpPr/>
          <p:nvPr/>
        </p:nvSpPr>
        <p:spPr>
          <a:xfrm>
            <a:off x="1028674" y="3086023"/>
            <a:ext cx="3616235" cy="193353"/>
          </a:xfrm>
          <a:prstGeom prst="rect">
            <a:avLst/>
          </a:prstGeom>
          <a:noFill/>
          <a:ln/>
        </p:spPr>
        <p:txBody>
          <a:bodyPr wrap="square" lIns="0" tIns="0" rIns="0" bIns="0" rtlCol="0" anchor="t">
            <a:normAutofit/>
          </a:bodyPr>
          <a:lstStyle/>
          <a:p>
            <a:pPr algn="l" indent="0" marL="0">
              <a:buNone/>
            </a:pPr>
            <a:r>
              <a:rPr lang="en-US" sz="1050" b="1" dirty="0">
                <a:solidFill>
                  <a:srgbClr val="5F6670"/>
                </a:solidFill>
                <a:latin typeface="Microsoft YaHei" pitchFamily="34" charset="0"/>
                <a:ea typeface="Microsoft YaHei" pitchFamily="34" charset="-122"/>
                <a:cs typeface="Microsoft YaHei" pitchFamily="34" charset="-120"/>
              </a:rPr>
              <a:t>入口不是代码量本身，而是验证、评审和维护如何接住。</a:t>
            </a:r>
            <a:endParaRPr lang="en-US" sz="1050" dirty="0"/>
          </a:p>
        </p:txBody>
      </p:sp>
      <p:sp>
        <p:nvSpPr>
          <p:cNvPr id="42" name="Text 34"/>
          <p:cNvSpPr/>
          <p:nvPr/>
        </p:nvSpPr>
        <p:spPr>
          <a:xfrm>
            <a:off x="7721407" y="2190695"/>
            <a:ext cx="2353251" cy="177796"/>
          </a:xfrm>
          <a:prstGeom prst="rect">
            <a:avLst/>
          </a:prstGeom>
          <a:noFill/>
          <a:ln/>
        </p:spPr>
        <p:txBody>
          <a:bodyPr wrap="square" lIns="0" tIns="0" rIns="0" bIns="0" rtlCol="0" anchor="t">
            <a:normAutofit/>
          </a:bodyPr>
          <a:lstStyle/>
          <a:p>
            <a:pPr algn="l" indent="0" marL="0">
              <a:buNone/>
            </a:pPr>
            <a:r>
              <a:rPr lang="en-US" sz="850" b="1" dirty="0">
                <a:solidFill>
                  <a:srgbClr val="D1D5DB"/>
                </a:solidFill>
                <a:latin typeface="Microsoft YaHei" pitchFamily="34" charset="0"/>
                <a:ea typeface="Microsoft YaHei" pitchFamily="34" charset="-122"/>
                <a:cs typeface="Microsoft YaHei" pitchFamily="34" charset="-120"/>
              </a:rPr>
              <a:t>GCWing/BitFun · git history snapshot</a:t>
            </a:r>
            <a:endParaRPr lang="en-US" sz="850" dirty="0"/>
          </a:p>
        </p:txBody>
      </p:sp>
      <p:sp>
        <p:nvSpPr>
          <p:cNvPr id="43" name="Text 35"/>
          <p:cNvSpPr/>
          <p:nvPr/>
        </p:nvSpPr>
        <p:spPr>
          <a:xfrm>
            <a:off x="7276918" y="2489138"/>
            <a:ext cx="2332678" cy="177796"/>
          </a:xfrm>
          <a:prstGeom prst="rect">
            <a:avLst/>
          </a:prstGeom>
          <a:noFill/>
          <a:ln/>
        </p:spPr>
        <p:txBody>
          <a:bodyPr wrap="square" lIns="0" tIns="0" rIns="0" bIns="0" rtlCol="0" anchor="t">
            <a:normAutofit/>
          </a:bodyPr>
          <a:lstStyle/>
          <a:p>
            <a:pPr algn="l" indent="0" marL="0">
              <a:buNone/>
            </a:pPr>
            <a:r>
              <a:rPr lang="en-US" sz="900" b="1" dirty="0">
                <a:solidFill>
                  <a:srgbClr val="93C5FD"/>
                </a:solidFill>
                <a:latin typeface="Microsoft YaHei" pitchFamily="34" charset="0"/>
                <a:ea typeface="Microsoft YaHei" pitchFamily="34" charset="-122"/>
                <a:cs typeface="Microsoft YaHei" pitchFamily="34" charset="-120"/>
              </a:rPr>
              <a:t>https://github.com/GCWing/BitFun</a:t>
            </a:r>
            <a:endParaRPr lang="en-US" sz="900" dirty="0"/>
          </a:p>
        </p:txBody>
      </p:sp>
      <p:sp>
        <p:nvSpPr>
          <p:cNvPr id="44" name="Text 36"/>
          <p:cNvSpPr/>
          <p:nvPr/>
        </p:nvSpPr>
        <p:spPr>
          <a:xfrm>
            <a:off x="7276918" y="2692333"/>
            <a:ext cx="3379640" cy="177796"/>
          </a:xfrm>
          <a:prstGeom prst="rect">
            <a:avLst/>
          </a:prstGeom>
          <a:noFill/>
          <a:ln/>
        </p:spPr>
        <p:txBody>
          <a:bodyPr wrap="square" lIns="0" tIns="0" rIns="0" bIns="0" rtlCol="0" anchor="t">
            <a:normAutofit/>
          </a:bodyPr>
          <a:lstStyle/>
          <a:p>
            <a:pPr algn="l" indent="0" marL="0">
              <a:buNone/>
            </a:pPr>
            <a:r>
              <a:rPr lang="en-US" sz="900" b="1" dirty="0">
                <a:solidFill>
                  <a:srgbClr val="E5E7EB"/>
                </a:solidFill>
                <a:latin typeface="Microsoft YaHei" pitchFamily="34" charset="0"/>
                <a:ea typeface="Microsoft YaHei" pitchFamily="34" charset="-122"/>
                <a:cs typeface="Microsoft YaHei" pitchFamily="34" charset="-120"/>
              </a:rPr>
              <a:t>range: 2026-04-22 ~ 2026-05-22   author: limityan</a:t>
            </a:r>
            <a:endParaRPr lang="en-US" sz="900" dirty="0"/>
          </a:p>
        </p:txBody>
      </p:sp>
      <p:sp>
        <p:nvSpPr>
          <p:cNvPr id="45" name="Text 37"/>
          <p:cNvSpPr/>
          <p:nvPr/>
        </p:nvSpPr>
        <p:spPr>
          <a:xfrm>
            <a:off x="7276918" y="3047924"/>
            <a:ext cx="682227" cy="331462"/>
          </a:xfrm>
          <a:prstGeom prst="rect">
            <a:avLst/>
          </a:prstGeom>
          <a:noFill/>
          <a:ln/>
        </p:spPr>
        <p:txBody>
          <a:bodyPr wrap="square" lIns="0" tIns="0" rIns="0" bIns="0" rtlCol="0" anchor="t">
            <a:normAutofit/>
          </a:bodyPr>
          <a:lstStyle/>
          <a:p>
            <a:pPr algn="l" indent="0" marL="0">
              <a:buNone/>
            </a:pPr>
            <a:r>
              <a:rPr lang="en-US" sz="1800" b="1" dirty="0">
                <a:solidFill>
                  <a:srgbClr val="60A5FA"/>
                </a:solidFill>
                <a:latin typeface="Arial" pitchFamily="34" charset="0"/>
                <a:ea typeface="Arial" pitchFamily="34" charset="-122"/>
                <a:cs typeface="Arial" pitchFamily="34" charset="-120"/>
              </a:rPr>
              <a:t>241</a:t>
            </a:r>
            <a:endParaRPr lang="en-US" sz="1800" dirty="0"/>
          </a:p>
        </p:txBody>
      </p:sp>
      <p:sp>
        <p:nvSpPr>
          <p:cNvPr id="46" name="Text 38"/>
          <p:cNvSpPr/>
          <p:nvPr/>
        </p:nvSpPr>
        <p:spPr>
          <a:xfrm>
            <a:off x="7797605" y="3073323"/>
            <a:ext cx="663939" cy="177796"/>
          </a:xfrm>
          <a:prstGeom prst="rect">
            <a:avLst/>
          </a:prstGeom>
          <a:noFill/>
          <a:ln/>
        </p:spPr>
        <p:txBody>
          <a:bodyPr wrap="square" lIns="0" tIns="0" rIns="0" bIns="0" rtlCol="0" anchor="t">
            <a:normAutofit/>
          </a:bodyPr>
          <a:lstStyle/>
          <a:p>
            <a:pPr algn="l" indent="0" marL="0">
              <a:buNone/>
            </a:pPr>
            <a:r>
              <a:rPr lang="en-US" sz="900" b="1" dirty="0">
                <a:solidFill>
                  <a:srgbClr val="D1D5DB"/>
                </a:solidFill>
                <a:latin typeface="Microsoft YaHei" pitchFamily="34" charset="0"/>
                <a:ea typeface="Microsoft YaHei" pitchFamily="34" charset="-122"/>
                <a:cs typeface="Microsoft YaHei" pitchFamily="34" charset="-120"/>
              </a:rPr>
              <a:t>commits</a:t>
            </a:r>
            <a:endParaRPr lang="en-US" sz="900" dirty="0"/>
          </a:p>
        </p:txBody>
      </p:sp>
      <p:sp>
        <p:nvSpPr>
          <p:cNvPr id="47" name="Text 39"/>
          <p:cNvSpPr/>
          <p:nvPr/>
        </p:nvSpPr>
        <p:spPr>
          <a:xfrm>
            <a:off x="8559586" y="3047924"/>
            <a:ext cx="1404585" cy="331462"/>
          </a:xfrm>
          <a:prstGeom prst="rect">
            <a:avLst/>
          </a:prstGeom>
          <a:noFill/>
          <a:ln/>
        </p:spPr>
        <p:txBody>
          <a:bodyPr wrap="square" lIns="0" tIns="0" rIns="0" bIns="0" rtlCol="0" anchor="t">
            <a:normAutofit/>
          </a:bodyPr>
          <a:lstStyle/>
          <a:p>
            <a:pPr algn="l" indent="0" marL="0">
              <a:buNone/>
            </a:pPr>
            <a:r>
              <a:rPr lang="en-US" sz="1800" b="1" dirty="0">
                <a:solidFill>
                  <a:srgbClr val="34D399"/>
                </a:solidFill>
                <a:latin typeface="Arial" pitchFamily="34" charset="0"/>
                <a:ea typeface="Arial" pitchFamily="34" charset="-122"/>
                <a:cs typeface="Arial" pitchFamily="34" charset="-120"/>
              </a:rPr>
              <a:t>+185,533</a:t>
            </a:r>
            <a:endParaRPr lang="en-US" sz="1800" dirty="0"/>
          </a:p>
        </p:txBody>
      </p:sp>
      <p:sp>
        <p:nvSpPr>
          <p:cNvPr id="48" name="Text 40"/>
          <p:cNvSpPr/>
          <p:nvPr/>
        </p:nvSpPr>
        <p:spPr>
          <a:xfrm>
            <a:off x="9804155" y="3073323"/>
            <a:ext cx="855959" cy="177796"/>
          </a:xfrm>
          <a:prstGeom prst="rect">
            <a:avLst/>
          </a:prstGeom>
          <a:noFill/>
          <a:ln/>
        </p:spPr>
        <p:txBody>
          <a:bodyPr wrap="square" lIns="0" tIns="0" rIns="0" bIns="0" rtlCol="0" anchor="t">
            <a:normAutofit/>
          </a:bodyPr>
          <a:lstStyle/>
          <a:p>
            <a:pPr algn="l" indent="0" marL="0">
              <a:buNone/>
            </a:pPr>
            <a:r>
              <a:rPr lang="en-US" sz="900" b="1" dirty="0">
                <a:solidFill>
                  <a:srgbClr val="D1D5DB"/>
                </a:solidFill>
                <a:latin typeface="Microsoft YaHei" pitchFamily="34" charset="0"/>
                <a:ea typeface="Microsoft YaHei" pitchFamily="34" charset="-122"/>
                <a:cs typeface="Microsoft YaHei" pitchFamily="34" charset="-120"/>
              </a:rPr>
              <a:t>insertions</a:t>
            </a:r>
            <a:endParaRPr lang="en-US" sz="900" dirty="0"/>
          </a:p>
        </p:txBody>
      </p:sp>
      <p:sp>
        <p:nvSpPr>
          <p:cNvPr id="49" name="Text 41"/>
          <p:cNvSpPr/>
          <p:nvPr/>
        </p:nvSpPr>
        <p:spPr>
          <a:xfrm>
            <a:off x="7276918" y="3263818"/>
            <a:ext cx="1345150" cy="177796"/>
          </a:xfrm>
          <a:prstGeom prst="rect">
            <a:avLst/>
          </a:prstGeom>
          <a:noFill/>
          <a:ln/>
        </p:spPr>
        <p:txBody>
          <a:bodyPr wrap="square" lIns="0" tIns="0" rIns="0" bIns="0" rtlCol="0" anchor="t">
            <a:normAutofit/>
          </a:bodyPr>
          <a:lstStyle/>
          <a:p>
            <a:pPr algn="l" indent="0" marL="0">
              <a:buNone/>
            </a:pPr>
            <a:r>
              <a:rPr lang="en-US" sz="900" b="1" dirty="0">
                <a:solidFill>
                  <a:srgbClr val="FCA5A5"/>
                </a:solidFill>
                <a:latin typeface="Microsoft YaHei" pitchFamily="34" charset="0"/>
                <a:ea typeface="Microsoft YaHei" pitchFamily="34" charset="-122"/>
                <a:cs typeface="Microsoft YaHei" pitchFamily="34" charset="-120"/>
              </a:rPr>
              <a:t>-46,479 deletions</a:t>
            </a:r>
            <a:endParaRPr lang="en-US" sz="900" dirty="0"/>
          </a:p>
        </p:txBody>
      </p:sp>
      <p:sp>
        <p:nvSpPr>
          <p:cNvPr id="50" name="Text 42"/>
          <p:cNvSpPr/>
          <p:nvPr/>
        </p:nvSpPr>
        <p:spPr>
          <a:xfrm>
            <a:off x="8559586" y="3263818"/>
            <a:ext cx="1523454" cy="177796"/>
          </a:xfrm>
          <a:prstGeom prst="rect">
            <a:avLst/>
          </a:prstGeom>
          <a:noFill/>
          <a:ln/>
        </p:spPr>
        <p:txBody>
          <a:bodyPr wrap="square" lIns="0" tIns="0" rIns="0" bIns="0" rtlCol="0" anchor="t">
            <a:normAutofit/>
          </a:bodyPr>
          <a:lstStyle/>
          <a:p>
            <a:pPr algn="l" indent="0" marL="0">
              <a:buNone/>
            </a:pPr>
            <a:r>
              <a:rPr lang="en-US" sz="900" b="1" dirty="0">
                <a:solidFill>
                  <a:srgbClr val="D1D5DB"/>
                </a:solidFill>
                <a:latin typeface="Microsoft YaHei" pitchFamily="34" charset="0"/>
                <a:ea typeface="Microsoft YaHei" pitchFamily="34" charset="-122"/>
                <a:cs typeface="Microsoft YaHei" pitchFamily="34" charset="-120"/>
              </a:rPr>
              <a:t>churn: 232,012 lines</a:t>
            </a:r>
            <a:endParaRPr lang="en-US" sz="900" dirty="0"/>
          </a:p>
        </p:txBody>
      </p:sp>
      <p:sp>
        <p:nvSpPr>
          <p:cNvPr id="51" name="Text 43"/>
          <p:cNvSpPr/>
          <p:nvPr/>
        </p:nvSpPr>
        <p:spPr>
          <a:xfrm>
            <a:off x="1549361" y="4165496"/>
            <a:ext cx="509511" cy="313047"/>
          </a:xfrm>
          <a:prstGeom prst="rect">
            <a:avLst/>
          </a:prstGeom>
          <a:noFill/>
          <a:ln/>
        </p:spPr>
        <p:txBody>
          <a:bodyPr wrap="square" lIns="0" tIns="0" rIns="0" bIns="0" rtlCol="0" anchor="t">
            <a:normAutofit/>
          </a:bodyPr>
          <a:lstStyle/>
          <a:p>
            <a:pPr algn="l" indent="0" marL="0">
              <a:buNone/>
            </a:pPr>
            <a:r>
              <a:rPr lang="en-US" sz="1700" b="1" dirty="0">
                <a:solidFill>
                  <a:srgbClr val="106BEF"/>
                </a:solidFill>
                <a:latin typeface="Arial" pitchFamily="34" charset="0"/>
                <a:ea typeface="Arial" pitchFamily="34" charset="-122"/>
                <a:cs typeface="Arial" pitchFamily="34" charset="-120"/>
              </a:rPr>
              <a:t>01</a:t>
            </a:r>
            <a:endParaRPr lang="en-US" sz="1700" dirty="0"/>
          </a:p>
        </p:txBody>
      </p:sp>
      <p:sp>
        <p:nvSpPr>
          <p:cNvPr id="52" name="Text 44"/>
          <p:cNvSpPr/>
          <p:nvPr/>
        </p:nvSpPr>
        <p:spPr>
          <a:xfrm>
            <a:off x="1955751" y="4184545"/>
            <a:ext cx="1576031"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生产环节被放大</a:t>
            </a:r>
            <a:endParaRPr lang="en-US" sz="1500" dirty="0"/>
          </a:p>
        </p:txBody>
      </p:sp>
      <p:sp>
        <p:nvSpPr>
          <p:cNvPr id="53" name="Text 45"/>
          <p:cNvSpPr/>
          <p:nvPr/>
        </p:nvSpPr>
        <p:spPr>
          <a:xfrm>
            <a:off x="1320767" y="4863978"/>
            <a:ext cx="121332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想法更快变原型</a:t>
            </a:r>
            <a:endParaRPr lang="en-US" sz="1100" dirty="0"/>
          </a:p>
        </p:txBody>
      </p:sp>
      <p:sp>
        <p:nvSpPr>
          <p:cNvPr id="54" name="Text 46"/>
          <p:cNvSpPr/>
          <p:nvPr/>
        </p:nvSpPr>
        <p:spPr>
          <a:xfrm>
            <a:off x="1320767" y="5130672"/>
            <a:ext cx="135581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探索更快进入仓库</a:t>
            </a:r>
            <a:endParaRPr lang="en-US" sz="1100" dirty="0"/>
          </a:p>
        </p:txBody>
      </p:sp>
      <p:sp>
        <p:nvSpPr>
          <p:cNvPr id="55" name="Text 47"/>
          <p:cNvSpPr/>
          <p:nvPr/>
        </p:nvSpPr>
        <p:spPr>
          <a:xfrm>
            <a:off x="5308467" y="4165496"/>
            <a:ext cx="509511" cy="313047"/>
          </a:xfrm>
          <a:prstGeom prst="rect">
            <a:avLst/>
          </a:prstGeom>
          <a:noFill/>
          <a:ln/>
        </p:spPr>
        <p:txBody>
          <a:bodyPr wrap="square" lIns="0" tIns="0" rIns="0" bIns="0" rtlCol="0" anchor="t">
            <a:normAutofit/>
          </a:bodyPr>
          <a:lstStyle/>
          <a:p>
            <a:pPr algn="l" indent="0" marL="0">
              <a:buNone/>
            </a:pPr>
            <a:r>
              <a:rPr lang="en-US" sz="1700" b="1" dirty="0">
                <a:solidFill>
                  <a:srgbClr val="FF5A1F"/>
                </a:solidFill>
                <a:latin typeface="Arial" pitchFamily="34" charset="0"/>
                <a:ea typeface="Arial" pitchFamily="34" charset="-122"/>
                <a:cs typeface="Arial" pitchFamily="34" charset="-120"/>
              </a:rPr>
              <a:t>02</a:t>
            </a:r>
            <a:endParaRPr lang="en-US" sz="1700" dirty="0"/>
          </a:p>
        </p:txBody>
      </p:sp>
      <p:sp>
        <p:nvSpPr>
          <p:cNvPr id="56" name="Text 48"/>
          <p:cNvSpPr/>
          <p:nvPr/>
        </p:nvSpPr>
        <p:spPr>
          <a:xfrm>
            <a:off x="5714857" y="4184545"/>
            <a:ext cx="1381725"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瓶颈向后移动</a:t>
            </a:r>
            <a:endParaRPr lang="en-US" sz="1500" dirty="0"/>
          </a:p>
        </p:txBody>
      </p:sp>
      <p:sp>
        <p:nvSpPr>
          <p:cNvPr id="57" name="Text 49"/>
          <p:cNvSpPr/>
          <p:nvPr/>
        </p:nvSpPr>
        <p:spPr>
          <a:xfrm>
            <a:off x="5079873" y="4863978"/>
            <a:ext cx="121332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评审等待与返工</a:t>
            </a:r>
            <a:endParaRPr lang="en-US" sz="1100" dirty="0"/>
          </a:p>
        </p:txBody>
      </p:sp>
      <p:sp>
        <p:nvSpPr>
          <p:cNvPr id="58" name="Text 50"/>
          <p:cNvSpPr/>
          <p:nvPr/>
        </p:nvSpPr>
        <p:spPr>
          <a:xfrm>
            <a:off x="5079873" y="5130672"/>
            <a:ext cx="1545805"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CI、回滚、维护压力</a:t>
            </a:r>
            <a:endParaRPr lang="en-US" sz="1100" dirty="0"/>
          </a:p>
        </p:txBody>
      </p:sp>
      <p:sp>
        <p:nvSpPr>
          <p:cNvPr id="59" name="Text 51"/>
          <p:cNvSpPr/>
          <p:nvPr/>
        </p:nvSpPr>
        <p:spPr>
          <a:xfrm>
            <a:off x="9067573" y="4165496"/>
            <a:ext cx="509511" cy="313047"/>
          </a:xfrm>
          <a:prstGeom prst="rect">
            <a:avLst/>
          </a:prstGeom>
          <a:noFill/>
          <a:ln/>
        </p:spPr>
        <p:txBody>
          <a:bodyPr wrap="square" lIns="0" tIns="0" rIns="0" bIns="0" rtlCol="0" anchor="t">
            <a:normAutofit/>
          </a:bodyPr>
          <a:lstStyle/>
          <a:p>
            <a:pPr algn="l" indent="0" marL="0">
              <a:buNone/>
            </a:pPr>
            <a:r>
              <a:rPr lang="en-US" sz="1700" b="1" dirty="0">
                <a:solidFill>
                  <a:srgbClr val="106BEF"/>
                </a:solidFill>
                <a:latin typeface="Arial" pitchFamily="34" charset="0"/>
                <a:ea typeface="Arial" pitchFamily="34" charset="-122"/>
                <a:cs typeface="Arial" pitchFamily="34" charset="-120"/>
              </a:rPr>
              <a:t>03</a:t>
            </a:r>
            <a:endParaRPr lang="en-US" sz="1700" dirty="0"/>
          </a:p>
        </p:txBody>
      </p:sp>
      <p:sp>
        <p:nvSpPr>
          <p:cNvPr id="60" name="Text 52"/>
          <p:cNvSpPr/>
          <p:nvPr/>
        </p:nvSpPr>
        <p:spPr>
          <a:xfrm>
            <a:off x="9473963" y="4184545"/>
            <a:ext cx="1770336" cy="276218"/>
          </a:xfrm>
          <a:prstGeom prst="rect">
            <a:avLst/>
          </a:prstGeom>
          <a:noFill/>
          <a:ln/>
        </p:spPr>
        <p:txBody>
          <a:bodyPr wrap="square" lIns="0" tIns="0" rIns="0" bIns="0" rtlCol="0" anchor="t">
            <a:normAutofit/>
          </a:bodyPr>
          <a:lstStyle/>
          <a:p>
            <a:pPr algn="l" indent="0" marL="0">
              <a:buNone/>
            </a:pPr>
            <a:r>
              <a:rPr lang="en-US" sz="1500" b="1" dirty="0">
                <a:solidFill>
                  <a:srgbClr val="050608"/>
                </a:solidFill>
                <a:latin typeface="Microsoft YaHei" pitchFamily="34" charset="0"/>
                <a:ea typeface="Microsoft YaHei" pitchFamily="34" charset="-122"/>
                <a:cs typeface="Microsoft YaHei" pitchFamily="34" charset="-120"/>
              </a:rPr>
              <a:t>净收益要重新衡量</a:t>
            </a:r>
            <a:endParaRPr lang="en-US" sz="1500" dirty="0"/>
          </a:p>
        </p:txBody>
      </p:sp>
      <p:sp>
        <p:nvSpPr>
          <p:cNvPr id="61" name="Text 53"/>
          <p:cNvSpPr/>
          <p:nvPr/>
        </p:nvSpPr>
        <p:spPr>
          <a:xfrm>
            <a:off x="8838979" y="4863978"/>
            <a:ext cx="140610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周期 / 返工 / 等待</a:t>
            </a:r>
            <a:endParaRPr lang="en-US" sz="1100" dirty="0"/>
          </a:p>
        </p:txBody>
      </p:sp>
      <p:sp>
        <p:nvSpPr>
          <p:cNvPr id="62" name="Text 54"/>
          <p:cNvSpPr/>
          <p:nvPr/>
        </p:nvSpPr>
        <p:spPr>
          <a:xfrm>
            <a:off x="8838979" y="5130672"/>
            <a:ext cx="1691090"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缺陷 / 回滚 / 理解成本</a:t>
            </a:r>
            <a:endParaRPr lang="en-US" sz="1100" dirty="0"/>
          </a:p>
        </p:txBody>
      </p:sp>
      <p:sp>
        <p:nvSpPr>
          <p:cNvPr id="63" name="Text 55"/>
          <p:cNvSpPr/>
          <p:nvPr/>
        </p:nvSpPr>
        <p:spPr>
          <a:xfrm>
            <a:off x="1079473" y="6060447"/>
            <a:ext cx="10032749" cy="248596"/>
          </a:xfrm>
          <a:prstGeom prst="rect">
            <a:avLst/>
          </a:prstGeom>
          <a:noFill/>
          <a:ln/>
        </p:spPr>
        <p:txBody>
          <a:bodyPr wrap="square" lIns="0" tIns="0" rIns="0" bIns="0" rtlCol="0" anchor="ctr">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净收益口径：端到端周期、评审等待、返工率、失败重跑与线上风险。</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04-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04-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04-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019250"/>
            <a:ext cx="711182" cy="0"/>
          </a:xfrm>
          <a:prstGeom prst="line">
            <a:avLst/>
          </a:prstGeom>
          <a:noFill/>
          <a:ln w="50799">
            <a:solidFill>
              <a:srgbClr val="106BEF"/>
            </a:solidFill>
            <a:prstDash val="solid"/>
            <a:headEnd type="none"/>
            <a:tailEnd type="none"/>
          </a:ln>
        </p:spPr>
      </p:sp>
      <p:sp>
        <p:nvSpPr>
          <p:cNvPr id="10" name="Shape 5"/>
          <p:cNvSpPr/>
          <p:nvPr/>
        </p:nvSpPr>
        <p:spPr>
          <a:xfrm>
            <a:off x="1425539" y="1984325"/>
            <a:ext cx="69848" cy="69848"/>
          </a:xfrm>
          <a:prstGeom prst="ellipse">
            <a:avLst/>
          </a:prstGeom>
          <a:solidFill>
            <a:srgbClr val="FF5A1F"/>
          </a:solidFill>
          <a:ln w="12700">
            <a:solidFill>
              <a:srgbClr val="FFFFFF">
                <a:alpha val="0"/>
              </a:srgbClr>
            </a:solidFill>
            <a:prstDash val="solid"/>
          </a:ln>
        </p:spPr>
      </p:sp>
      <p:sp>
        <p:nvSpPr>
          <p:cNvPr id="11" name="Shape 6"/>
          <p:cNvSpPr/>
          <p:nvPr/>
        </p:nvSpPr>
        <p:spPr>
          <a:xfrm>
            <a:off x="838179" y="2425639"/>
            <a:ext cx="5156071" cy="1409665"/>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2" name="Shape 7"/>
          <p:cNvSpPr/>
          <p:nvPr/>
        </p:nvSpPr>
        <p:spPr>
          <a:xfrm>
            <a:off x="1041374" y="2641534"/>
            <a:ext cx="558786" cy="558786"/>
          </a:xfrm>
          <a:prstGeom prst="ellipse">
            <a:avLst/>
          </a:prstGeom>
          <a:solidFill>
            <a:srgbClr val="106BEF">
              <a:alpha val="10000"/>
            </a:srgbClr>
          </a:solidFill>
          <a:ln w="12700">
            <a:solidFill>
              <a:srgbClr val="FFFFFF">
                <a:alpha val="0"/>
              </a:srgbClr>
            </a:solidFill>
            <a:prstDash val="solid"/>
          </a:ln>
        </p:spPr>
      </p:sp>
      <p:pic>
        <p:nvPicPr>
          <p:cNvPr id="13" name="Image 3" descr="D:\workspace\worktree_for_vcoder\BitFun\docs\report\ai-redefines-software-development-presentation\agents_are_the_new_Agile-slides-png-v0.18\slide-04-layer-12.png">    </p:cNvPr>
          <p:cNvPicPr>
            <a:picLocks noChangeAspect="1"/>
          </p:cNvPicPr>
          <p:nvPr/>
        </p:nvPicPr>
        <p:blipFill>
          <a:blip r:embed="rId4"/>
          <a:stretch>
            <a:fillRect/>
          </a:stretch>
        </p:blipFill>
        <p:spPr>
          <a:xfrm>
            <a:off x="0" y="0"/>
            <a:ext cx="12191695" cy="6858000"/>
          </a:xfrm>
          <a:prstGeom prst="rect">
            <a:avLst/>
          </a:prstGeom>
        </p:spPr>
      </p:pic>
      <p:sp>
        <p:nvSpPr>
          <p:cNvPr id="14" name="Shape 8"/>
          <p:cNvSpPr/>
          <p:nvPr/>
        </p:nvSpPr>
        <p:spPr>
          <a:xfrm>
            <a:off x="1181070" y="3416215"/>
            <a:ext cx="4470288" cy="0"/>
          </a:xfrm>
          <a:prstGeom prst="line">
            <a:avLst/>
          </a:prstGeom>
          <a:noFill/>
          <a:ln w="22224">
            <a:solidFill>
              <a:srgbClr val="106BEF">
                <a:alpha val="55000"/>
              </a:srgbClr>
            </a:solidFill>
            <a:prstDash val="solid"/>
            <a:headEnd type="none"/>
            <a:tailEnd type="none"/>
          </a:ln>
        </p:spPr>
      </p:sp>
      <p:sp>
        <p:nvSpPr>
          <p:cNvPr id="15" name="Shape 9"/>
          <p:cNvSpPr/>
          <p:nvPr/>
        </p:nvSpPr>
        <p:spPr>
          <a:xfrm>
            <a:off x="1295368" y="3594010"/>
            <a:ext cx="76198" cy="76198"/>
          </a:xfrm>
          <a:prstGeom prst="ellipse">
            <a:avLst/>
          </a:prstGeom>
          <a:solidFill>
            <a:srgbClr val="106BEF">
              <a:alpha val="78000"/>
            </a:srgbClr>
          </a:solidFill>
          <a:ln w="12700">
            <a:solidFill>
              <a:srgbClr val="FFFFFF">
                <a:alpha val="0"/>
              </a:srgbClr>
            </a:solidFill>
            <a:prstDash val="solid"/>
          </a:ln>
        </p:spPr>
      </p:sp>
      <p:sp>
        <p:nvSpPr>
          <p:cNvPr id="16" name="Shape 10"/>
          <p:cNvSpPr/>
          <p:nvPr/>
        </p:nvSpPr>
        <p:spPr>
          <a:xfrm>
            <a:off x="3581310" y="3594010"/>
            <a:ext cx="76198" cy="76198"/>
          </a:xfrm>
          <a:prstGeom prst="ellipse">
            <a:avLst/>
          </a:prstGeom>
          <a:solidFill>
            <a:srgbClr val="106BEF">
              <a:alpha val="78000"/>
            </a:srgbClr>
          </a:solidFill>
          <a:ln w="12700">
            <a:solidFill>
              <a:srgbClr val="FFFFFF">
                <a:alpha val="0"/>
              </a:srgbClr>
            </a:solidFill>
            <a:prstDash val="solid"/>
          </a:ln>
        </p:spPr>
      </p:sp>
      <p:sp>
        <p:nvSpPr>
          <p:cNvPr id="17" name="Shape 11"/>
          <p:cNvSpPr/>
          <p:nvPr/>
        </p:nvSpPr>
        <p:spPr>
          <a:xfrm>
            <a:off x="6197445" y="2425639"/>
            <a:ext cx="5156071" cy="1409665"/>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8" name="Shape 12"/>
          <p:cNvSpPr/>
          <p:nvPr/>
        </p:nvSpPr>
        <p:spPr>
          <a:xfrm>
            <a:off x="6400640" y="2641534"/>
            <a:ext cx="558786" cy="558786"/>
          </a:xfrm>
          <a:prstGeom prst="ellipse">
            <a:avLst/>
          </a:prstGeom>
          <a:solidFill>
            <a:srgbClr val="FF5A1F">
              <a:alpha val="10000"/>
            </a:srgbClr>
          </a:solidFill>
          <a:ln w="12700">
            <a:solidFill>
              <a:srgbClr val="FFFFFF">
                <a:alpha val="0"/>
              </a:srgbClr>
            </a:solidFill>
            <a:prstDash val="solid"/>
          </a:ln>
        </p:spPr>
      </p:sp>
      <p:pic>
        <p:nvPicPr>
          <p:cNvPr id="19" name="Image 4" descr="D:\workspace\worktree_for_vcoder\BitFun\docs\report\ai-redefines-software-development-presentation\agents_are_the_new_Agile-slides-png-v0.18\slide-04-layer-18.png">    </p:cNvPr>
          <p:cNvPicPr>
            <a:picLocks noChangeAspect="1"/>
          </p:cNvPicPr>
          <p:nvPr/>
        </p:nvPicPr>
        <p:blipFill>
          <a:blip r:embed="rId5"/>
          <a:stretch>
            <a:fillRect/>
          </a:stretch>
        </p:blipFill>
        <p:spPr>
          <a:xfrm>
            <a:off x="0" y="0"/>
            <a:ext cx="12191695" cy="6858000"/>
          </a:xfrm>
          <a:prstGeom prst="rect">
            <a:avLst/>
          </a:prstGeom>
        </p:spPr>
      </p:pic>
      <p:sp>
        <p:nvSpPr>
          <p:cNvPr id="20" name="Shape 13"/>
          <p:cNvSpPr/>
          <p:nvPr/>
        </p:nvSpPr>
        <p:spPr>
          <a:xfrm>
            <a:off x="6540336" y="3416215"/>
            <a:ext cx="4470288" cy="0"/>
          </a:xfrm>
          <a:prstGeom prst="line">
            <a:avLst/>
          </a:prstGeom>
          <a:noFill/>
          <a:ln w="22224">
            <a:solidFill>
              <a:srgbClr val="FF5A1F">
                <a:alpha val="55000"/>
              </a:srgbClr>
            </a:solidFill>
            <a:prstDash val="solid"/>
            <a:headEnd type="none"/>
            <a:tailEnd type="none"/>
          </a:ln>
        </p:spPr>
      </p:sp>
      <p:sp>
        <p:nvSpPr>
          <p:cNvPr id="21" name="Shape 14"/>
          <p:cNvSpPr/>
          <p:nvPr/>
        </p:nvSpPr>
        <p:spPr>
          <a:xfrm>
            <a:off x="6654634" y="3594010"/>
            <a:ext cx="76198" cy="76198"/>
          </a:xfrm>
          <a:prstGeom prst="ellipse">
            <a:avLst/>
          </a:prstGeom>
          <a:solidFill>
            <a:srgbClr val="FF5A1F">
              <a:alpha val="78000"/>
            </a:srgbClr>
          </a:solidFill>
          <a:ln w="12700">
            <a:solidFill>
              <a:srgbClr val="FFFFFF">
                <a:alpha val="0"/>
              </a:srgbClr>
            </a:solidFill>
            <a:prstDash val="solid"/>
          </a:ln>
        </p:spPr>
      </p:sp>
      <p:sp>
        <p:nvSpPr>
          <p:cNvPr id="22" name="Shape 15"/>
          <p:cNvSpPr/>
          <p:nvPr/>
        </p:nvSpPr>
        <p:spPr>
          <a:xfrm>
            <a:off x="8940576" y="3594010"/>
            <a:ext cx="76198" cy="76198"/>
          </a:xfrm>
          <a:prstGeom prst="ellipse">
            <a:avLst/>
          </a:prstGeom>
          <a:solidFill>
            <a:srgbClr val="FF5A1F">
              <a:alpha val="78000"/>
            </a:srgbClr>
          </a:solidFill>
          <a:ln w="12700">
            <a:solidFill>
              <a:srgbClr val="FFFFFF">
                <a:alpha val="0"/>
              </a:srgbClr>
            </a:solidFill>
            <a:prstDash val="solid"/>
          </a:ln>
        </p:spPr>
      </p:sp>
      <p:sp>
        <p:nvSpPr>
          <p:cNvPr id="23" name="Shape 16"/>
          <p:cNvSpPr/>
          <p:nvPr/>
        </p:nvSpPr>
        <p:spPr>
          <a:xfrm>
            <a:off x="838179" y="4152796"/>
            <a:ext cx="5156071" cy="1409665"/>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4" name="Shape 17"/>
          <p:cNvSpPr/>
          <p:nvPr/>
        </p:nvSpPr>
        <p:spPr>
          <a:xfrm>
            <a:off x="1041374" y="4368691"/>
            <a:ext cx="558786" cy="558786"/>
          </a:xfrm>
          <a:prstGeom prst="ellipse">
            <a:avLst/>
          </a:prstGeom>
          <a:solidFill>
            <a:srgbClr val="106BEF">
              <a:alpha val="10000"/>
            </a:srgbClr>
          </a:solidFill>
          <a:ln w="12700">
            <a:solidFill>
              <a:srgbClr val="FFFFFF">
                <a:alpha val="0"/>
              </a:srgbClr>
            </a:solidFill>
            <a:prstDash val="solid"/>
          </a:ln>
        </p:spPr>
      </p:sp>
      <p:pic>
        <p:nvPicPr>
          <p:cNvPr id="25" name="Image 5" descr="D:\workspace\worktree_for_vcoder\BitFun\docs\report\ai-redefines-software-development-presentation\agents_are_the_new_Agile-slides-png-v0.18\slide-04-layer-24.png">    </p:cNvPr>
          <p:cNvPicPr>
            <a:picLocks noChangeAspect="1"/>
          </p:cNvPicPr>
          <p:nvPr/>
        </p:nvPicPr>
        <p:blipFill>
          <a:blip r:embed="rId6"/>
          <a:stretch>
            <a:fillRect/>
          </a:stretch>
        </p:blipFill>
        <p:spPr>
          <a:xfrm>
            <a:off x="0" y="0"/>
            <a:ext cx="12191695" cy="6858000"/>
          </a:xfrm>
          <a:prstGeom prst="rect">
            <a:avLst/>
          </a:prstGeom>
        </p:spPr>
      </p:pic>
      <p:sp>
        <p:nvSpPr>
          <p:cNvPr id="26" name="Shape 18"/>
          <p:cNvSpPr/>
          <p:nvPr/>
        </p:nvSpPr>
        <p:spPr>
          <a:xfrm>
            <a:off x="1181070" y="5143371"/>
            <a:ext cx="4470288" cy="0"/>
          </a:xfrm>
          <a:prstGeom prst="line">
            <a:avLst/>
          </a:prstGeom>
          <a:noFill/>
          <a:ln w="22224">
            <a:solidFill>
              <a:srgbClr val="106BEF">
                <a:alpha val="55000"/>
              </a:srgbClr>
            </a:solidFill>
            <a:prstDash val="solid"/>
            <a:headEnd type="none"/>
            <a:tailEnd type="none"/>
          </a:ln>
        </p:spPr>
      </p:sp>
      <p:sp>
        <p:nvSpPr>
          <p:cNvPr id="27" name="Shape 19"/>
          <p:cNvSpPr/>
          <p:nvPr/>
        </p:nvSpPr>
        <p:spPr>
          <a:xfrm>
            <a:off x="1295368" y="5321167"/>
            <a:ext cx="76198" cy="76198"/>
          </a:xfrm>
          <a:prstGeom prst="ellipse">
            <a:avLst/>
          </a:prstGeom>
          <a:solidFill>
            <a:srgbClr val="106BEF">
              <a:alpha val="78000"/>
            </a:srgbClr>
          </a:solidFill>
          <a:ln w="12700">
            <a:solidFill>
              <a:srgbClr val="FFFFFF">
                <a:alpha val="0"/>
              </a:srgbClr>
            </a:solidFill>
            <a:prstDash val="solid"/>
          </a:ln>
        </p:spPr>
      </p:sp>
      <p:sp>
        <p:nvSpPr>
          <p:cNvPr id="28" name="Shape 20"/>
          <p:cNvSpPr/>
          <p:nvPr/>
        </p:nvSpPr>
        <p:spPr>
          <a:xfrm>
            <a:off x="3581310" y="5321167"/>
            <a:ext cx="76198" cy="76198"/>
          </a:xfrm>
          <a:prstGeom prst="ellipse">
            <a:avLst/>
          </a:prstGeom>
          <a:solidFill>
            <a:srgbClr val="106BEF">
              <a:alpha val="78000"/>
            </a:srgbClr>
          </a:solidFill>
          <a:ln w="12700">
            <a:solidFill>
              <a:srgbClr val="FFFFFF">
                <a:alpha val="0"/>
              </a:srgbClr>
            </a:solidFill>
            <a:prstDash val="solid"/>
          </a:ln>
        </p:spPr>
      </p:sp>
      <p:sp>
        <p:nvSpPr>
          <p:cNvPr id="29" name="Shape 21"/>
          <p:cNvSpPr/>
          <p:nvPr/>
        </p:nvSpPr>
        <p:spPr>
          <a:xfrm>
            <a:off x="6197445" y="4152796"/>
            <a:ext cx="5156071" cy="1409665"/>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30" name="Shape 22"/>
          <p:cNvSpPr/>
          <p:nvPr/>
        </p:nvSpPr>
        <p:spPr>
          <a:xfrm>
            <a:off x="6400640" y="4368691"/>
            <a:ext cx="558786" cy="558786"/>
          </a:xfrm>
          <a:prstGeom prst="ellipse">
            <a:avLst/>
          </a:prstGeom>
          <a:solidFill>
            <a:srgbClr val="FF5A1F">
              <a:alpha val="10000"/>
            </a:srgbClr>
          </a:solidFill>
          <a:ln w="12700">
            <a:solidFill>
              <a:srgbClr val="FFFFFF">
                <a:alpha val="0"/>
              </a:srgbClr>
            </a:solidFill>
            <a:prstDash val="solid"/>
          </a:ln>
        </p:spPr>
      </p:sp>
      <p:pic>
        <p:nvPicPr>
          <p:cNvPr id="31" name="Image 6" descr="D:\workspace\worktree_for_vcoder\BitFun\docs\report\ai-redefines-software-development-presentation\agents_are_the_new_Agile-slides-png-v0.18\slide-04-layer-30.png">    </p:cNvPr>
          <p:cNvPicPr>
            <a:picLocks noChangeAspect="1"/>
          </p:cNvPicPr>
          <p:nvPr/>
        </p:nvPicPr>
        <p:blipFill>
          <a:blip r:embed="rId7"/>
          <a:stretch>
            <a:fillRect/>
          </a:stretch>
        </p:blipFill>
        <p:spPr>
          <a:xfrm>
            <a:off x="0" y="0"/>
            <a:ext cx="12191695" cy="6858000"/>
          </a:xfrm>
          <a:prstGeom prst="rect">
            <a:avLst/>
          </a:prstGeom>
        </p:spPr>
      </p:pic>
      <p:sp>
        <p:nvSpPr>
          <p:cNvPr id="32" name="Shape 23"/>
          <p:cNvSpPr/>
          <p:nvPr/>
        </p:nvSpPr>
        <p:spPr>
          <a:xfrm>
            <a:off x="6540336" y="5143371"/>
            <a:ext cx="4470288" cy="0"/>
          </a:xfrm>
          <a:prstGeom prst="line">
            <a:avLst/>
          </a:prstGeom>
          <a:noFill/>
          <a:ln w="22224">
            <a:solidFill>
              <a:srgbClr val="FF5A1F">
                <a:alpha val="55000"/>
              </a:srgbClr>
            </a:solidFill>
            <a:prstDash val="solid"/>
            <a:headEnd type="none"/>
            <a:tailEnd type="none"/>
          </a:ln>
        </p:spPr>
      </p:sp>
      <p:sp>
        <p:nvSpPr>
          <p:cNvPr id="33" name="Shape 24"/>
          <p:cNvSpPr/>
          <p:nvPr/>
        </p:nvSpPr>
        <p:spPr>
          <a:xfrm>
            <a:off x="6654634" y="5321167"/>
            <a:ext cx="76198" cy="76198"/>
          </a:xfrm>
          <a:prstGeom prst="ellipse">
            <a:avLst/>
          </a:prstGeom>
          <a:solidFill>
            <a:srgbClr val="FF5A1F">
              <a:alpha val="78000"/>
            </a:srgbClr>
          </a:solidFill>
          <a:ln w="12700">
            <a:solidFill>
              <a:srgbClr val="FFFFFF">
                <a:alpha val="0"/>
              </a:srgbClr>
            </a:solidFill>
            <a:prstDash val="solid"/>
          </a:ln>
        </p:spPr>
      </p:sp>
      <p:sp>
        <p:nvSpPr>
          <p:cNvPr id="34" name="Shape 25"/>
          <p:cNvSpPr/>
          <p:nvPr/>
        </p:nvSpPr>
        <p:spPr>
          <a:xfrm>
            <a:off x="8940576" y="5321167"/>
            <a:ext cx="76198" cy="76198"/>
          </a:xfrm>
          <a:prstGeom prst="ellipse">
            <a:avLst/>
          </a:prstGeom>
          <a:solidFill>
            <a:srgbClr val="FF5A1F">
              <a:alpha val="78000"/>
            </a:srgbClr>
          </a:solidFill>
          <a:ln w="12700">
            <a:solidFill>
              <a:srgbClr val="FFFFFF">
                <a:alpha val="0"/>
              </a:srgbClr>
            </a:solidFill>
            <a:prstDash val="solid"/>
          </a:ln>
        </p:spPr>
      </p:sp>
      <p:sp>
        <p:nvSpPr>
          <p:cNvPr id="35" name="Shape 26"/>
          <p:cNvSpPr/>
          <p:nvPr/>
        </p:nvSpPr>
        <p:spPr>
          <a:xfrm>
            <a:off x="1079473" y="6057749"/>
            <a:ext cx="10032749" cy="406390"/>
          </a:xfrm>
          <a:prstGeom prst="roundRect">
            <a:avLst/>
          </a:prstGeom>
          <a:solidFill>
            <a:srgbClr val="FFFFFF"/>
          </a:solidFill>
          <a:ln w="12700">
            <a:solidFill>
              <a:srgbClr val="C4C6C1"/>
            </a:solidFill>
            <a:prstDash val="solid"/>
          </a:ln>
        </p:spPr>
      </p:sp>
      <p:sp>
        <p:nvSpPr>
          <p:cNvPr id="36" name="Shape 27"/>
          <p:cNvSpPr/>
          <p:nvPr/>
        </p:nvSpPr>
        <p:spPr>
          <a:xfrm>
            <a:off x="1523962" y="6165696"/>
            <a:ext cx="0" cy="190495"/>
          </a:xfrm>
          <a:prstGeom prst="line">
            <a:avLst/>
          </a:prstGeom>
          <a:noFill/>
          <a:ln w="50799">
            <a:solidFill>
              <a:srgbClr val="106BEF"/>
            </a:solidFill>
            <a:prstDash val="solid"/>
            <a:headEnd type="none"/>
            <a:tailEnd type="none"/>
          </a:ln>
        </p:spPr>
      </p:sp>
      <p:sp>
        <p:nvSpPr>
          <p:cNvPr id="37" name="Text 28"/>
          <p:cNvSpPr/>
          <p:nvPr/>
        </p:nvSpPr>
        <p:spPr>
          <a:xfrm>
            <a:off x="609585" y="927077"/>
            <a:ext cx="2280863"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IDE 的边界</a:t>
            </a:r>
            <a:endParaRPr lang="en-US" sz="3000" dirty="0"/>
          </a:p>
        </p:txBody>
      </p:sp>
      <p:sp>
        <p:nvSpPr>
          <p:cNvPr id="38" name="Text 29"/>
          <p:cNvSpPr/>
          <p:nvPr/>
        </p:nvSpPr>
        <p:spPr>
          <a:xfrm>
            <a:off x="634984" y="1549361"/>
            <a:ext cx="3507144"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从 Agent 运行面到 Yes Engineer。</a:t>
            </a:r>
            <a:endParaRPr lang="en-US" sz="1550" dirty="0"/>
          </a:p>
        </p:txBody>
      </p:sp>
      <p:sp>
        <p:nvSpPr>
          <p:cNvPr id="39" name="Text 30"/>
          <p:cNvSpPr/>
          <p:nvPr/>
        </p:nvSpPr>
        <p:spPr>
          <a:xfrm>
            <a:off x="1777956" y="2654234"/>
            <a:ext cx="1051280"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Agentic OS</a:t>
            </a:r>
            <a:endParaRPr lang="en-US" sz="1150" dirty="0"/>
          </a:p>
        </p:txBody>
      </p:sp>
      <p:sp>
        <p:nvSpPr>
          <p:cNvPr id="40" name="Text 31"/>
          <p:cNvSpPr/>
          <p:nvPr/>
        </p:nvSpPr>
        <p:spPr>
          <a:xfrm>
            <a:off x="1777956" y="2997125"/>
            <a:ext cx="1004545" cy="423534"/>
          </a:xfrm>
          <a:prstGeom prst="rect">
            <a:avLst/>
          </a:prstGeom>
          <a:noFill/>
          <a:ln/>
        </p:spPr>
        <p:txBody>
          <a:bodyPr wrap="square" lIns="0" tIns="0" rIns="0" bIns="0" rtlCol="0" anchor="t">
            <a:normAutofit/>
          </a:bodyPr>
          <a:lstStyle/>
          <a:p>
            <a:pPr algn="l" indent="0" marL="0">
              <a:buNone/>
            </a:pPr>
            <a:r>
              <a:rPr lang="en-US" sz="2300" b="1" dirty="0">
                <a:solidFill>
                  <a:srgbClr val="106BEF"/>
                </a:solidFill>
                <a:latin typeface="Arial" pitchFamily="34" charset="0"/>
                <a:ea typeface="Arial" pitchFamily="34" charset="-122"/>
                <a:cs typeface="Arial" pitchFamily="34" charset="-120"/>
              </a:rPr>
              <a:t>OS 化</a:t>
            </a:r>
            <a:endParaRPr lang="en-US" sz="2300" dirty="0"/>
          </a:p>
        </p:txBody>
      </p:sp>
      <p:sp>
        <p:nvSpPr>
          <p:cNvPr id="41" name="Text 32"/>
          <p:cNvSpPr/>
          <p:nvPr/>
        </p:nvSpPr>
        <p:spPr>
          <a:xfrm>
            <a:off x="3695608" y="3047924"/>
            <a:ext cx="1731475" cy="239389"/>
          </a:xfrm>
          <a:prstGeom prst="rect">
            <a:avLst/>
          </a:prstGeom>
          <a:noFill/>
          <a:ln/>
        </p:spPr>
        <p:txBody>
          <a:bodyPr wrap="square" lIns="0" tIns="0" rIns="0" bIns="0" rtlCol="0" anchor="t">
            <a:normAutofit/>
          </a:bodyPr>
          <a:lstStyle/>
          <a:p>
            <a:pPr algn="l" indent="0" marL="0">
              <a:buNone/>
            </a:pPr>
            <a:r>
              <a:rPr lang="en-US" sz="1300" b="1" dirty="0">
                <a:solidFill>
                  <a:srgbClr val="050608"/>
                </a:solidFill>
                <a:latin typeface="Microsoft YaHei" pitchFamily="34" charset="0"/>
                <a:ea typeface="Microsoft YaHei" pitchFamily="34" charset="-122"/>
                <a:cs typeface="Microsoft YaHei" pitchFamily="34" charset="-120"/>
              </a:rPr>
              <a:t>运行边界进入系统层</a:t>
            </a:r>
            <a:endParaRPr lang="en-US" sz="1300" dirty="0"/>
          </a:p>
        </p:txBody>
      </p:sp>
      <p:sp>
        <p:nvSpPr>
          <p:cNvPr id="42" name="Text 33"/>
          <p:cNvSpPr/>
          <p:nvPr/>
        </p:nvSpPr>
        <p:spPr>
          <a:xfrm>
            <a:off x="1473163" y="3555911"/>
            <a:ext cx="1352008"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身份 / 权限 / 隔离</a:t>
            </a:r>
            <a:endParaRPr lang="en-US" sz="1050" dirty="0"/>
          </a:p>
        </p:txBody>
      </p:sp>
      <p:sp>
        <p:nvSpPr>
          <p:cNvPr id="43" name="Text 34"/>
          <p:cNvSpPr/>
          <p:nvPr/>
        </p:nvSpPr>
        <p:spPr>
          <a:xfrm>
            <a:off x="3759106" y="3555911"/>
            <a:ext cx="1506690"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可审计 Agent 工作区</a:t>
            </a:r>
            <a:endParaRPr lang="en-US" sz="1050" dirty="0"/>
          </a:p>
        </p:txBody>
      </p:sp>
      <p:sp>
        <p:nvSpPr>
          <p:cNvPr id="44" name="Text 35"/>
          <p:cNvSpPr/>
          <p:nvPr/>
        </p:nvSpPr>
        <p:spPr>
          <a:xfrm>
            <a:off x="7137222" y="2654234"/>
            <a:ext cx="513829" cy="211767"/>
          </a:xfrm>
          <a:prstGeom prst="rect">
            <a:avLst/>
          </a:prstGeom>
          <a:noFill/>
          <a:ln/>
        </p:spPr>
        <p:txBody>
          <a:bodyPr wrap="square" lIns="0" tIns="0" rIns="0" bIns="0" rtlCol="0" anchor="t">
            <a:normAutofit/>
          </a:bodyPr>
          <a:lstStyle/>
          <a:p>
            <a:pPr algn="l" indent="0" marL="0">
              <a:buNone/>
            </a:pPr>
            <a:r>
              <a:rPr lang="en-US" sz="1150" b="1" dirty="0">
                <a:solidFill>
                  <a:srgbClr val="FF5A1F"/>
                </a:solidFill>
                <a:latin typeface="Microsoft YaHei" pitchFamily="34" charset="0"/>
                <a:ea typeface="Microsoft YaHei" pitchFamily="34" charset="-122"/>
                <a:cs typeface="Microsoft YaHei" pitchFamily="34" charset="-120"/>
              </a:rPr>
              <a:t>ADE</a:t>
            </a:r>
            <a:endParaRPr lang="en-US" sz="1150" dirty="0"/>
          </a:p>
        </p:txBody>
      </p:sp>
      <p:sp>
        <p:nvSpPr>
          <p:cNvPr id="45" name="Text 36"/>
          <p:cNvSpPr/>
          <p:nvPr/>
        </p:nvSpPr>
        <p:spPr>
          <a:xfrm>
            <a:off x="7137222" y="2997125"/>
            <a:ext cx="1109698" cy="423534"/>
          </a:xfrm>
          <a:prstGeom prst="rect">
            <a:avLst/>
          </a:prstGeom>
          <a:noFill/>
          <a:ln/>
        </p:spPr>
        <p:txBody>
          <a:bodyPr wrap="square" lIns="0" tIns="0" rIns="0" bIns="0" rtlCol="0" anchor="t">
            <a:normAutofit/>
          </a:bodyPr>
          <a:lstStyle/>
          <a:p>
            <a:pPr algn="l" indent="0" marL="0">
              <a:buNone/>
            </a:pPr>
            <a:r>
              <a:rPr lang="en-US" sz="2300" b="1" dirty="0">
                <a:solidFill>
                  <a:srgbClr val="FF5A1F"/>
                </a:solidFill>
                <a:latin typeface="Arial" pitchFamily="34" charset="0"/>
                <a:ea typeface="Arial" pitchFamily="34" charset="-122"/>
                <a:cs typeface="Arial" pitchFamily="34" charset="-120"/>
              </a:rPr>
              <a:t>开发台</a:t>
            </a:r>
            <a:endParaRPr lang="en-US" sz="2300" dirty="0"/>
          </a:p>
        </p:txBody>
      </p:sp>
      <p:sp>
        <p:nvSpPr>
          <p:cNvPr id="46" name="Text 37"/>
          <p:cNvSpPr/>
          <p:nvPr/>
        </p:nvSpPr>
        <p:spPr>
          <a:xfrm>
            <a:off x="9054874" y="3047924"/>
            <a:ext cx="1731475" cy="239389"/>
          </a:xfrm>
          <a:prstGeom prst="rect">
            <a:avLst/>
          </a:prstGeom>
          <a:noFill/>
          <a:ln/>
        </p:spPr>
        <p:txBody>
          <a:bodyPr wrap="square" lIns="0" tIns="0" rIns="0" bIns="0" rtlCol="0" anchor="t">
            <a:normAutofit/>
          </a:bodyPr>
          <a:lstStyle/>
          <a:p>
            <a:pPr algn="l" indent="0" marL="0">
              <a:buNone/>
            </a:pPr>
            <a:r>
              <a:rPr lang="en-US" sz="1300" b="1" dirty="0">
                <a:solidFill>
                  <a:srgbClr val="050608"/>
                </a:solidFill>
                <a:latin typeface="Microsoft YaHei" pitchFamily="34" charset="0"/>
                <a:ea typeface="Microsoft YaHei" pitchFamily="34" charset="-122"/>
                <a:cs typeface="Microsoft YaHei" pitchFamily="34" charset="-120"/>
              </a:rPr>
              <a:t>编辑器变成控制平面</a:t>
            </a:r>
            <a:endParaRPr lang="en-US" sz="1300" dirty="0"/>
          </a:p>
        </p:txBody>
      </p:sp>
      <p:sp>
        <p:nvSpPr>
          <p:cNvPr id="47" name="Text 38"/>
          <p:cNvSpPr/>
          <p:nvPr/>
        </p:nvSpPr>
        <p:spPr>
          <a:xfrm>
            <a:off x="6832429" y="3555911"/>
            <a:ext cx="1370677"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多 Agent 任务编排</a:t>
            </a:r>
            <a:endParaRPr lang="en-US" sz="1050" dirty="0"/>
          </a:p>
        </p:txBody>
      </p:sp>
      <p:sp>
        <p:nvSpPr>
          <p:cNvPr id="48" name="Text 39"/>
          <p:cNvSpPr/>
          <p:nvPr/>
        </p:nvSpPr>
        <p:spPr>
          <a:xfrm>
            <a:off x="9118372" y="3555911"/>
            <a:ext cx="1624035"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进度 / 成本 / 风险可见</a:t>
            </a:r>
            <a:endParaRPr lang="en-US" sz="1050" dirty="0"/>
          </a:p>
        </p:txBody>
      </p:sp>
      <p:sp>
        <p:nvSpPr>
          <p:cNvPr id="49" name="Text 40"/>
          <p:cNvSpPr/>
          <p:nvPr/>
        </p:nvSpPr>
        <p:spPr>
          <a:xfrm>
            <a:off x="1777956" y="4381390"/>
            <a:ext cx="1232377"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龙虾 Workflow</a:t>
            </a:r>
            <a:endParaRPr lang="en-US" sz="1150" dirty="0"/>
          </a:p>
        </p:txBody>
      </p:sp>
      <p:sp>
        <p:nvSpPr>
          <p:cNvPr id="50" name="Text 41"/>
          <p:cNvSpPr/>
          <p:nvPr/>
        </p:nvSpPr>
        <p:spPr>
          <a:xfrm>
            <a:off x="1777956" y="4724282"/>
            <a:ext cx="1109698" cy="423534"/>
          </a:xfrm>
          <a:prstGeom prst="rect">
            <a:avLst/>
          </a:prstGeom>
          <a:noFill/>
          <a:ln/>
        </p:spPr>
        <p:txBody>
          <a:bodyPr wrap="square" lIns="0" tIns="0" rIns="0" bIns="0" rtlCol="0" anchor="t">
            <a:normAutofit/>
          </a:bodyPr>
          <a:lstStyle/>
          <a:p>
            <a:pPr algn="l" indent="0" marL="0">
              <a:buNone/>
            </a:pPr>
            <a:r>
              <a:rPr lang="en-US" sz="2300" b="1" dirty="0">
                <a:solidFill>
                  <a:srgbClr val="106BEF"/>
                </a:solidFill>
                <a:latin typeface="Arial" pitchFamily="34" charset="0"/>
                <a:ea typeface="Arial" pitchFamily="34" charset="-122"/>
                <a:cs typeface="Arial" pitchFamily="34" charset="-120"/>
              </a:rPr>
              <a:t>流程壳</a:t>
            </a:r>
            <a:endParaRPr lang="en-US" sz="2300" dirty="0"/>
          </a:p>
        </p:txBody>
      </p:sp>
      <p:sp>
        <p:nvSpPr>
          <p:cNvPr id="51" name="Text 42"/>
          <p:cNvSpPr/>
          <p:nvPr/>
        </p:nvSpPr>
        <p:spPr>
          <a:xfrm>
            <a:off x="3695608" y="4775081"/>
            <a:ext cx="1899873" cy="239389"/>
          </a:xfrm>
          <a:prstGeom prst="rect">
            <a:avLst/>
          </a:prstGeom>
          <a:noFill/>
          <a:ln/>
        </p:spPr>
        <p:txBody>
          <a:bodyPr wrap="square" lIns="0" tIns="0" rIns="0" bIns="0" rtlCol="0" anchor="t">
            <a:normAutofit/>
          </a:bodyPr>
          <a:lstStyle/>
          <a:p>
            <a:pPr algn="l" indent="0" marL="0">
              <a:buNone/>
            </a:pPr>
            <a:r>
              <a:rPr lang="en-US" sz="1300" b="1" dirty="0">
                <a:solidFill>
                  <a:srgbClr val="050608"/>
                </a:solidFill>
                <a:latin typeface="Microsoft YaHei" pitchFamily="34" charset="0"/>
                <a:ea typeface="Microsoft YaHei" pitchFamily="34" charset="-122"/>
                <a:cs typeface="Microsoft YaHei" pitchFamily="34" charset="-120"/>
              </a:rPr>
              <a:t>自由对话外接确定流程</a:t>
            </a:r>
            <a:endParaRPr lang="en-US" sz="1300" dirty="0"/>
          </a:p>
        </p:txBody>
      </p:sp>
      <p:sp>
        <p:nvSpPr>
          <p:cNvPr id="52" name="Text 43"/>
          <p:cNvSpPr/>
          <p:nvPr/>
        </p:nvSpPr>
        <p:spPr>
          <a:xfrm>
            <a:off x="1473163" y="5283068"/>
            <a:ext cx="1031976"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类型化流水线</a:t>
            </a:r>
            <a:endParaRPr lang="en-US" sz="1050" dirty="0"/>
          </a:p>
        </p:txBody>
      </p:sp>
      <p:sp>
        <p:nvSpPr>
          <p:cNvPr id="53" name="Text 44"/>
          <p:cNvSpPr/>
          <p:nvPr/>
        </p:nvSpPr>
        <p:spPr>
          <a:xfrm>
            <a:off x="3759106" y="5283068"/>
            <a:ext cx="1624035"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审批 / 恢复 / 结构结果</a:t>
            </a:r>
            <a:endParaRPr lang="en-US" sz="1050" dirty="0"/>
          </a:p>
        </p:txBody>
      </p:sp>
      <p:sp>
        <p:nvSpPr>
          <p:cNvPr id="54" name="Text 45"/>
          <p:cNvSpPr/>
          <p:nvPr/>
        </p:nvSpPr>
        <p:spPr>
          <a:xfrm>
            <a:off x="7137222" y="4381390"/>
            <a:ext cx="1197326" cy="211767"/>
          </a:xfrm>
          <a:prstGeom prst="rect">
            <a:avLst/>
          </a:prstGeom>
          <a:noFill/>
          <a:ln/>
        </p:spPr>
        <p:txBody>
          <a:bodyPr wrap="square" lIns="0" tIns="0" rIns="0" bIns="0" rtlCol="0" anchor="t">
            <a:normAutofit/>
          </a:bodyPr>
          <a:lstStyle/>
          <a:p>
            <a:pPr algn="l" indent="0" marL="0">
              <a:buNone/>
            </a:pPr>
            <a:r>
              <a:rPr lang="en-US" sz="1150" b="1" dirty="0">
                <a:solidFill>
                  <a:srgbClr val="FF5A1F"/>
                </a:solidFill>
                <a:latin typeface="Microsoft YaHei" pitchFamily="34" charset="0"/>
                <a:ea typeface="Microsoft YaHei" pitchFamily="34" charset="-122"/>
                <a:cs typeface="Microsoft YaHei" pitchFamily="34" charset="-120"/>
              </a:rPr>
              <a:t>Yes Engineer</a:t>
            </a:r>
            <a:endParaRPr lang="en-US" sz="1150" dirty="0"/>
          </a:p>
        </p:txBody>
      </p:sp>
      <p:sp>
        <p:nvSpPr>
          <p:cNvPr id="55" name="Text 46"/>
          <p:cNvSpPr/>
          <p:nvPr/>
        </p:nvSpPr>
        <p:spPr>
          <a:xfrm>
            <a:off x="7137222" y="4724282"/>
            <a:ext cx="1267428" cy="423534"/>
          </a:xfrm>
          <a:prstGeom prst="rect">
            <a:avLst/>
          </a:prstGeom>
          <a:noFill/>
          <a:ln/>
        </p:spPr>
        <p:txBody>
          <a:bodyPr wrap="square" lIns="0" tIns="0" rIns="0" bIns="0" rtlCol="0" anchor="t">
            <a:normAutofit/>
          </a:bodyPr>
          <a:lstStyle/>
          <a:p>
            <a:pPr algn="l" indent="0" marL="0">
              <a:buNone/>
            </a:pPr>
            <a:r>
              <a:rPr lang="en-US" sz="2300" b="1" dirty="0">
                <a:solidFill>
                  <a:srgbClr val="FF5A1F"/>
                </a:solidFill>
                <a:latin typeface="Arial" pitchFamily="34" charset="0"/>
                <a:ea typeface="Arial" pitchFamily="34" charset="-122"/>
                <a:cs typeface="Arial" pitchFamily="34" charset="-120"/>
              </a:rPr>
              <a:t>Yes/Go</a:t>
            </a:r>
            <a:endParaRPr lang="en-US" sz="2300" dirty="0"/>
          </a:p>
        </p:txBody>
      </p:sp>
      <p:sp>
        <p:nvSpPr>
          <p:cNvPr id="56" name="Text 47"/>
          <p:cNvSpPr/>
          <p:nvPr/>
        </p:nvSpPr>
        <p:spPr>
          <a:xfrm>
            <a:off x="9054874" y="4775081"/>
            <a:ext cx="1899873" cy="239389"/>
          </a:xfrm>
          <a:prstGeom prst="rect">
            <a:avLst/>
          </a:prstGeom>
          <a:noFill/>
          <a:ln/>
        </p:spPr>
        <p:txBody>
          <a:bodyPr wrap="square" lIns="0" tIns="0" rIns="0" bIns="0" rtlCol="0" anchor="t">
            <a:normAutofit/>
          </a:bodyPr>
          <a:lstStyle/>
          <a:p>
            <a:pPr algn="l" indent="0" marL="0">
              <a:buNone/>
            </a:pPr>
            <a:r>
              <a:rPr lang="en-US" sz="1300" b="1" dirty="0">
                <a:solidFill>
                  <a:srgbClr val="050608"/>
                </a:solidFill>
                <a:latin typeface="Microsoft YaHei" pitchFamily="34" charset="0"/>
                <a:ea typeface="Microsoft YaHei" pitchFamily="34" charset="-122"/>
                <a:cs typeface="Microsoft YaHei" pitchFamily="34" charset="-120"/>
              </a:rPr>
              <a:t>从阻断风险到设计护栏</a:t>
            </a:r>
            <a:endParaRPr lang="en-US" sz="1300" dirty="0"/>
          </a:p>
        </p:txBody>
      </p:sp>
      <p:sp>
        <p:nvSpPr>
          <p:cNvPr id="57" name="Text 48"/>
          <p:cNvSpPr/>
          <p:nvPr/>
        </p:nvSpPr>
        <p:spPr>
          <a:xfrm>
            <a:off x="6832429" y="5283068"/>
            <a:ext cx="1167990"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不是无原则放行</a:t>
            </a:r>
            <a:endParaRPr lang="en-US" sz="1050" dirty="0"/>
          </a:p>
        </p:txBody>
      </p:sp>
      <p:sp>
        <p:nvSpPr>
          <p:cNvPr id="58" name="Text 49"/>
          <p:cNvSpPr/>
          <p:nvPr/>
        </p:nvSpPr>
        <p:spPr>
          <a:xfrm>
            <a:off x="9118372" y="5283068"/>
            <a:ext cx="1464019"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而是可验证 / 可回滚</a:t>
            </a:r>
            <a:endParaRPr lang="en-US" sz="1050" dirty="0"/>
          </a:p>
        </p:txBody>
      </p:sp>
      <p:sp>
        <p:nvSpPr>
          <p:cNvPr id="59" name="Text 50"/>
          <p:cNvSpPr/>
          <p:nvPr/>
        </p:nvSpPr>
        <p:spPr>
          <a:xfrm>
            <a:off x="1079473" y="6060447"/>
            <a:ext cx="10032749" cy="248596"/>
          </a:xfrm>
          <a:prstGeom prst="rect">
            <a:avLst/>
          </a:prstGeom>
          <a:noFill/>
          <a:ln/>
        </p:spPr>
        <p:txBody>
          <a:bodyPr wrap="square" lIns="0" tIns="0" rIns="0" bIns="0" rtlCol="0" anchor="ctr">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IDE 边界从编辑入口扩展为 Agent 身份、运行、审批与证据控制面。</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05-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05-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05-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019250"/>
            <a:ext cx="711182" cy="0"/>
          </a:xfrm>
          <a:prstGeom prst="line">
            <a:avLst/>
          </a:prstGeom>
          <a:noFill/>
          <a:ln w="50799">
            <a:solidFill>
              <a:srgbClr val="106BEF"/>
            </a:solidFill>
            <a:prstDash val="solid"/>
            <a:headEnd type="none"/>
            <a:tailEnd type="none"/>
          </a:ln>
        </p:spPr>
      </p:sp>
      <p:sp>
        <p:nvSpPr>
          <p:cNvPr id="10" name="Shape 5"/>
          <p:cNvSpPr/>
          <p:nvPr/>
        </p:nvSpPr>
        <p:spPr>
          <a:xfrm>
            <a:off x="1425539" y="1984325"/>
            <a:ext cx="69848" cy="69848"/>
          </a:xfrm>
          <a:prstGeom prst="ellipse">
            <a:avLst/>
          </a:prstGeom>
          <a:solidFill>
            <a:srgbClr val="FF5A1F"/>
          </a:solidFill>
          <a:ln w="12700">
            <a:solidFill>
              <a:srgbClr val="FFFFFF">
                <a:alpha val="0"/>
              </a:srgbClr>
            </a:solidFill>
            <a:prstDash val="solid"/>
          </a:ln>
        </p:spPr>
      </p:sp>
      <p:sp>
        <p:nvSpPr>
          <p:cNvPr id="11" name="Shape 6"/>
          <p:cNvSpPr/>
          <p:nvPr/>
        </p:nvSpPr>
        <p:spPr>
          <a:xfrm>
            <a:off x="1396965" y="2095448"/>
            <a:ext cx="9397765" cy="1054074"/>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2" name="Shape 7"/>
          <p:cNvSpPr/>
          <p:nvPr/>
        </p:nvSpPr>
        <p:spPr>
          <a:xfrm>
            <a:off x="1498563" y="2235144"/>
            <a:ext cx="0" cy="774681"/>
          </a:xfrm>
          <a:prstGeom prst="line">
            <a:avLst/>
          </a:prstGeom>
          <a:noFill/>
          <a:ln w="44449">
            <a:solidFill>
              <a:srgbClr val="106BEF">
                <a:alpha val="82000"/>
              </a:srgbClr>
            </a:solidFill>
            <a:prstDash val="solid"/>
            <a:headEnd type="none"/>
            <a:tailEnd type="none"/>
          </a:ln>
        </p:spPr>
      </p:sp>
      <p:sp>
        <p:nvSpPr>
          <p:cNvPr id="13" name="Shape 8"/>
          <p:cNvSpPr/>
          <p:nvPr/>
        </p:nvSpPr>
        <p:spPr>
          <a:xfrm>
            <a:off x="1682708" y="2343091"/>
            <a:ext cx="546086" cy="546086"/>
          </a:xfrm>
          <a:prstGeom prst="ellipse">
            <a:avLst/>
          </a:prstGeom>
          <a:solidFill>
            <a:srgbClr val="106BEF">
              <a:alpha val="10000"/>
            </a:srgbClr>
          </a:solidFill>
          <a:ln w="12700">
            <a:solidFill>
              <a:srgbClr val="FFFFFF">
                <a:alpha val="0"/>
              </a:srgbClr>
            </a:solidFill>
            <a:prstDash val="solid"/>
          </a:ln>
        </p:spPr>
      </p:sp>
      <p:pic>
        <p:nvPicPr>
          <p:cNvPr id="14" name="Image 3" descr="D:\workspace\worktree_for_vcoder\BitFun\docs\report\ai-redefines-software-development-presentation\agents_are_the_new_Agile-slides-png-v0.18\slide-05-layer-13.png">    </p:cNvPr>
          <p:cNvPicPr>
            <a:picLocks noChangeAspect="1"/>
          </p:cNvPicPr>
          <p:nvPr/>
        </p:nvPicPr>
        <p:blipFill>
          <a:blip r:embed="rId4"/>
          <a:stretch>
            <a:fillRect/>
          </a:stretch>
        </p:blipFill>
        <p:spPr>
          <a:xfrm>
            <a:off x="0" y="0"/>
            <a:ext cx="12191695" cy="6858000"/>
          </a:xfrm>
          <a:prstGeom prst="rect">
            <a:avLst/>
          </a:prstGeom>
        </p:spPr>
      </p:pic>
      <p:sp>
        <p:nvSpPr>
          <p:cNvPr id="15" name="Shape 9"/>
          <p:cNvSpPr/>
          <p:nvPr/>
        </p:nvSpPr>
        <p:spPr>
          <a:xfrm>
            <a:off x="7988100" y="2285943"/>
            <a:ext cx="2095448" cy="292093"/>
          </a:xfrm>
          <a:prstGeom prst="roundRect">
            <a:avLst/>
          </a:prstGeom>
          <a:solidFill>
            <a:srgbClr val="FBFAF7"/>
          </a:solidFill>
          <a:ln w="11430">
            <a:solidFill>
              <a:srgbClr val="C4C6C1"/>
            </a:solidFill>
            <a:prstDash val="solid"/>
          </a:ln>
        </p:spPr>
      </p:sp>
      <p:sp>
        <p:nvSpPr>
          <p:cNvPr id="16" name="Shape 10"/>
          <p:cNvSpPr/>
          <p:nvPr/>
        </p:nvSpPr>
        <p:spPr>
          <a:xfrm>
            <a:off x="2374841" y="2654234"/>
            <a:ext cx="7861103" cy="0"/>
          </a:xfrm>
          <a:prstGeom prst="line">
            <a:avLst/>
          </a:prstGeom>
          <a:noFill/>
          <a:ln w="20319">
            <a:solidFill>
              <a:srgbClr val="106BEF">
                <a:alpha val="42000"/>
              </a:srgbClr>
            </a:solidFill>
            <a:prstDash val="solid"/>
            <a:headEnd type="none"/>
            <a:tailEnd type="none"/>
          </a:ln>
        </p:spPr>
      </p:sp>
      <p:sp>
        <p:nvSpPr>
          <p:cNvPr id="17" name="Shape 11"/>
          <p:cNvSpPr/>
          <p:nvPr/>
        </p:nvSpPr>
        <p:spPr>
          <a:xfrm>
            <a:off x="2933627" y="2768531"/>
            <a:ext cx="76198" cy="76198"/>
          </a:xfrm>
          <a:prstGeom prst="ellipse">
            <a:avLst/>
          </a:prstGeom>
          <a:solidFill>
            <a:srgbClr val="106BEF">
              <a:alpha val="78000"/>
            </a:srgbClr>
          </a:solidFill>
          <a:ln w="12700">
            <a:solidFill>
              <a:srgbClr val="FFFFFF">
                <a:alpha val="0"/>
              </a:srgbClr>
            </a:solidFill>
            <a:prstDash val="solid"/>
          </a:ln>
        </p:spPr>
      </p:sp>
      <p:sp>
        <p:nvSpPr>
          <p:cNvPr id="18" name="Shape 12"/>
          <p:cNvSpPr/>
          <p:nvPr/>
        </p:nvSpPr>
        <p:spPr>
          <a:xfrm>
            <a:off x="5549761" y="2768531"/>
            <a:ext cx="76198" cy="76198"/>
          </a:xfrm>
          <a:prstGeom prst="ellipse">
            <a:avLst/>
          </a:prstGeom>
          <a:solidFill>
            <a:srgbClr val="106BEF">
              <a:alpha val="78000"/>
            </a:srgbClr>
          </a:solidFill>
          <a:ln w="12700">
            <a:solidFill>
              <a:srgbClr val="FFFFFF">
                <a:alpha val="0"/>
              </a:srgbClr>
            </a:solidFill>
            <a:prstDash val="solid"/>
          </a:ln>
        </p:spPr>
      </p:sp>
      <p:sp>
        <p:nvSpPr>
          <p:cNvPr id="19" name="Shape 13"/>
          <p:cNvSpPr/>
          <p:nvPr/>
        </p:nvSpPr>
        <p:spPr>
          <a:xfrm>
            <a:off x="8229394" y="2768531"/>
            <a:ext cx="76198" cy="76198"/>
          </a:xfrm>
          <a:prstGeom prst="ellipse">
            <a:avLst/>
          </a:prstGeom>
          <a:solidFill>
            <a:srgbClr val="106BEF">
              <a:alpha val="78000"/>
            </a:srgbClr>
          </a:solidFill>
          <a:ln w="12700">
            <a:solidFill>
              <a:srgbClr val="FFFFFF">
                <a:alpha val="0"/>
              </a:srgbClr>
            </a:solidFill>
            <a:prstDash val="solid"/>
          </a:ln>
        </p:spPr>
      </p:sp>
      <p:sp>
        <p:nvSpPr>
          <p:cNvPr id="20" name="Shape 14"/>
          <p:cNvSpPr/>
          <p:nvPr/>
        </p:nvSpPr>
        <p:spPr>
          <a:xfrm>
            <a:off x="1396965" y="3365416"/>
            <a:ext cx="9397765" cy="1054074"/>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1" name="Shape 15"/>
          <p:cNvSpPr/>
          <p:nvPr/>
        </p:nvSpPr>
        <p:spPr>
          <a:xfrm>
            <a:off x="1498563" y="3505112"/>
            <a:ext cx="0" cy="774681"/>
          </a:xfrm>
          <a:prstGeom prst="line">
            <a:avLst/>
          </a:prstGeom>
          <a:noFill/>
          <a:ln w="44449">
            <a:solidFill>
              <a:srgbClr val="FF5A1F">
                <a:alpha val="82000"/>
              </a:srgbClr>
            </a:solidFill>
            <a:prstDash val="solid"/>
            <a:headEnd type="none"/>
            <a:tailEnd type="none"/>
          </a:ln>
        </p:spPr>
      </p:sp>
      <p:sp>
        <p:nvSpPr>
          <p:cNvPr id="22" name="Shape 16"/>
          <p:cNvSpPr/>
          <p:nvPr/>
        </p:nvSpPr>
        <p:spPr>
          <a:xfrm>
            <a:off x="1682708" y="3613060"/>
            <a:ext cx="546086" cy="546086"/>
          </a:xfrm>
          <a:prstGeom prst="ellipse">
            <a:avLst/>
          </a:prstGeom>
          <a:solidFill>
            <a:srgbClr val="FF5A1F">
              <a:alpha val="10000"/>
            </a:srgbClr>
          </a:solidFill>
          <a:ln w="12700">
            <a:solidFill>
              <a:srgbClr val="FFFFFF">
                <a:alpha val="0"/>
              </a:srgbClr>
            </a:solidFill>
            <a:prstDash val="solid"/>
          </a:ln>
        </p:spPr>
      </p:sp>
      <p:pic>
        <p:nvPicPr>
          <p:cNvPr id="23" name="Image 4" descr="D:\workspace\worktree_for_vcoder\BitFun\docs\report\ai-redefines-software-development-presentation\agents_are_the_new_Agile-slides-png-v0.18\slide-05-layer-22.png">    </p:cNvPr>
          <p:cNvPicPr>
            <a:picLocks noChangeAspect="1"/>
          </p:cNvPicPr>
          <p:nvPr/>
        </p:nvPicPr>
        <p:blipFill>
          <a:blip r:embed="rId5"/>
          <a:stretch>
            <a:fillRect/>
          </a:stretch>
        </p:blipFill>
        <p:spPr>
          <a:xfrm>
            <a:off x="0" y="0"/>
            <a:ext cx="12191695" cy="6858000"/>
          </a:xfrm>
          <a:prstGeom prst="rect">
            <a:avLst/>
          </a:prstGeom>
        </p:spPr>
      </p:pic>
      <p:sp>
        <p:nvSpPr>
          <p:cNvPr id="24" name="Shape 17"/>
          <p:cNvSpPr/>
          <p:nvPr/>
        </p:nvSpPr>
        <p:spPr>
          <a:xfrm>
            <a:off x="7988100" y="3555911"/>
            <a:ext cx="2095448" cy="292093"/>
          </a:xfrm>
          <a:prstGeom prst="roundRect">
            <a:avLst/>
          </a:prstGeom>
          <a:solidFill>
            <a:srgbClr val="FBFAF7"/>
          </a:solidFill>
          <a:ln w="11430">
            <a:solidFill>
              <a:srgbClr val="C4C6C1"/>
            </a:solidFill>
            <a:prstDash val="solid"/>
          </a:ln>
        </p:spPr>
      </p:sp>
      <p:sp>
        <p:nvSpPr>
          <p:cNvPr id="25" name="Shape 18"/>
          <p:cNvSpPr/>
          <p:nvPr/>
        </p:nvSpPr>
        <p:spPr>
          <a:xfrm>
            <a:off x="2374841" y="3924202"/>
            <a:ext cx="7861103" cy="0"/>
          </a:xfrm>
          <a:prstGeom prst="line">
            <a:avLst/>
          </a:prstGeom>
          <a:noFill/>
          <a:ln w="20319">
            <a:solidFill>
              <a:srgbClr val="FF5A1F">
                <a:alpha val="42000"/>
              </a:srgbClr>
            </a:solidFill>
            <a:prstDash val="solid"/>
            <a:headEnd type="none"/>
            <a:tailEnd type="none"/>
          </a:ln>
        </p:spPr>
      </p:sp>
      <p:sp>
        <p:nvSpPr>
          <p:cNvPr id="26" name="Shape 19"/>
          <p:cNvSpPr/>
          <p:nvPr/>
        </p:nvSpPr>
        <p:spPr>
          <a:xfrm>
            <a:off x="2933627" y="4038499"/>
            <a:ext cx="76198" cy="76198"/>
          </a:xfrm>
          <a:prstGeom prst="ellipse">
            <a:avLst/>
          </a:prstGeom>
          <a:solidFill>
            <a:srgbClr val="FF5A1F">
              <a:alpha val="78000"/>
            </a:srgbClr>
          </a:solidFill>
          <a:ln w="12700">
            <a:solidFill>
              <a:srgbClr val="FFFFFF">
                <a:alpha val="0"/>
              </a:srgbClr>
            </a:solidFill>
            <a:prstDash val="solid"/>
          </a:ln>
        </p:spPr>
      </p:sp>
      <p:sp>
        <p:nvSpPr>
          <p:cNvPr id="27" name="Shape 20"/>
          <p:cNvSpPr/>
          <p:nvPr/>
        </p:nvSpPr>
        <p:spPr>
          <a:xfrm>
            <a:off x="5549761" y="4038499"/>
            <a:ext cx="76198" cy="76198"/>
          </a:xfrm>
          <a:prstGeom prst="ellipse">
            <a:avLst/>
          </a:prstGeom>
          <a:solidFill>
            <a:srgbClr val="FF5A1F">
              <a:alpha val="78000"/>
            </a:srgbClr>
          </a:solidFill>
          <a:ln w="12700">
            <a:solidFill>
              <a:srgbClr val="FFFFFF">
                <a:alpha val="0"/>
              </a:srgbClr>
            </a:solidFill>
            <a:prstDash val="solid"/>
          </a:ln>
        </p:spPr>
      </p:sp>
      <p:sp>
        <p:nvSpPr>
          <p:cNvPr id="28" name="Shape 21"/>
          <p:cNvSpPr/>
          <p:nvPr/>
        </p:nvSpPr>
        <p:spPr>
          <a:xfrm>
            <a:off x="8229394" y="4038499"/>
            <a:ext cx="76198" cy="76198"/>
          </a:xfrm>
          <a:prstGeom prst="ellipse">
            <a:avLst/>
          </a:prstGeom>
          <a:solidFill>
            <a:srgbClr val="FF5A1F">
              <a:alpha val="78000"/>
            </a:srgbClr>
          </a:solidFill>
          <a:ln w="12700">
            <a:solidFill>
              <a:srgbClr val="FFFFFF">
                <a:alpha val="0"/>
              </a:srgbClr>
            </a:solidFill>
            <a:prstDash val="solid"/>
          </a:ln>
        </p:spPr>
      </p:sp>
      <p:sp>
        <p:nvSpPr>
          <p:cNvPr id="29" name="Shape 22"/>
          <p:cNvSpPr/>
          <p:nvPr/>
        </p:nvSpPr>
        <p:spPr>
          <a:xfrm>
            <a:off x="1396965" y="4635384"/>
            <a:ext cx="9397765" cy="1054074"/>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30" name="Shape 23"/>
          <p:cNvSpPr/>
          <p:nvPr/>
        </p:nvSpPr>
        <p:spPr>
          <a:xfrm>
            <a:off x="1498563" y="4775081"/>
            <a:ext cx="0" cy="774681"/>
          </a:xfrm>
          <a:prstGeom prst="line">
            <a:avLst/>
          </a:prstGeom>
          <a:noFill/>
          <a:ln w="44449">
            <a:solidFill>
              <a:srgbClr val="106BEF">
                <a:alpha val="82000"/>
              </a:srgbClr>
            </a:solidFill>
            <a:prstDash val="solid"/>
            <a:headEnd type="none"/>
            <a:tailEnd type="none"/>
          </a:ln>
        </p:spPr>
      </p:sp>
      <p:sp>
        <p:nvSpPr>
          <p:cNvPr id="31" name="Shape 24"/>
          <p:cNvSpPr/>
          <p:nvPr/>
        </p:nvSpPr>
        <p:spPr>
          <a:xfrm>
            <a:off x="1682708" y="4883028"/>
            <a:ext cx="546086" cy="546086"/>
          </a:xfrm>
          <a:prstGeom prst="ellipse">
            <a:avLst/>
          </a:prstGeom>
          <a:solidFill>
            <a:srgbClr val="106BEF">
              <a:alpha val="10000"/>
            </a:srgbClr>
          </a:solidFill>
          <a:ln w="12700">
            <a:solidFill>
              <a:srgbClr val="FFFFFF">
                <a:alpha val="0"/>
              </a:srgbClr>
            </a:solidFill>
            <a:prstDash val="solid"/>
          </a:ln>
        </p:spPr>
      </p:sp>
      <p:pic>
        <p:nvPicPr>
          <p:cNvPr id="32" name="Image 5" descr="D:\workspace\worktree_for_vcoder\BitFun\docs\report\ai-redefines-software-development-presentation\agents_are_the_new_Agile-slides-png-v0.18\slide-05-layer-31.png">    </p:cNvPr>
          <p:cNvPicPr>
            <a:picLocks noChangeAspect="1"/>
          </p:cNvPicPr>
          <p:nvPr/>
        </p:nvPicPr>
        <p:blipFill>
          <a:blip r:embed="rId6"/>
          <a:stretch>
            <a:fillRect/>
          </a:stretch>
        </p:blipFill>
        <p:spPr>
          <a:xfrm>
            <a:off x="0" y="0"/>
            <a:ext cx="12191695" cy="6858000"/>
          </a:xfrm>
          <a:prstGeom prst="rect">
            <a:avLst/>
          </a:prstGeom>
        </p:spPr>
      </p:pic>
      <p:sp>
        <p:nvSpPr>
          <p:cNvPr id="33" name="Shape 25"/>
          <p:cNvSpPr/>
          <p:nvPr/>
        </p:nvSpPr>
        <p:spPr>
          <a:xfrm>
            <a:off x="7988100" y="4825879"/>
            <a:ext cx="2095448" cy="292093"/>
          </a:xfrm>
          <a:prstGeom prst="roundRect">
            <a:avLst/>
          </a:prstGeom>
          <a:solidFill>
            <a:srgbClr val="FBFAF7"/>
          </a:solidFill>
          <a:ln w="11430">
            <a:solidFill>
              <a:srgbClr val="C4C6C1"/>
            </a:solidFill>
            <a:prstDash val="solid"/>
          </a:ln>
        </p:spPr>
      </p:sp>
      <p:sp>
        <p:nvSpPr>
          <p:cNvPr id="34" name="Shape 26"/>
          <p:cNvSpPr/>
          <p:nvPr/>
        </p:nvSpPr>
        <p:spPr>
          <a:xfrm>
            <a:off x="2374841" y="5194170"/>
            <a:ext cx="7861103" cy="0"/>
          </a:xfrm>
          <a:prstGeom prst="line">
            <a:avLst/>
          </a:prstGeom>
          <a:noFill/>
          <a:ln w="20319">
            <a:solidFill>
              <a:srgbClr val="106BEF">
                <a:alpha val="42000"/>
              </a:srgbClr>
            </a:solidFill>
            <a:prstDash val="solid"/>
            <a:headEnd type="none"/>
            <a:tailEnd type="none"/>
          </a:ln>
        </p:spPr>
      </p:sp>
      <p:sp>
        <p:nvSpPr>
          <p:cNvPr id="35" name="Shape 27"/>
          <p:cNvSpPr/>
          <p:nvPr/>
        </p:nvSpPr>
        <p:spPr>
          <a:xfrm>
            <a:off x="2933627" y="5308467"/>
            <a:ext cx="76198" cy="76198"/>
          </a:xfrm>
          <a:prstGeom prst="ellipse">
            <a:avLst/>
          </a:prstGeom>
          <a:solidFill>
            <a:srgbClr val="106BEF">
              <a:alpha val="78000"/>
            </a:srgbClr>
          </a:solidFill>
          <a:ln w="12700">
            <a:solidFill>
              <a:srgbClr val="FFFFFF">
                <a:alpha val="0"/>
              </a:srgbClr>
            </a:solidFill>
            <a:prstDash val="solid"/>
          </a:ln>
        </p:spPr>
      </p:sp>
      <p:sp>
        <p:nvSpPr>
          <p:cNvPr id="36" name="Shape 28"/>
          <p:cNvSpPr/>
          <p:nvPr/>
        </p:nvSpPr>
        <p:spPr>
          <a:xfrm>
            <a:off x="5549761" y="5308467"/>
            <a:ext cx="76198" cy="76198"/>
          </a:xfrm>
          <a:prstGeom prst="ellipse">
            <a:avLst/>
          </a:prstGeom>
          <a:solidFill>
            <a:srgbClr val="106BEF">
              <a:alpha val="78000"/>
            </a:srgbClr>
          </a:solidFill>
          <a:ln w="12700">
            <a:solidFill>
              <a:srgbClr val="FFFFFF">
                <a:alpha val="0"/>
              </a:srgbClr>
            </a:solidFill>
            <a:prstDash val="solid"/>
          </a:ln>
        </p:spPr>
      </p:sp>
      <p:sp>
        <p:nvSpPr>
          <p:cNvPr id="37" name="Shape 29"/>
          <p:cNvSpPr/>
          <p:nvPr/>
        </p:nvSpPr>
        <p:spPr>
          <a:xfrm>
            <a:off x="8229394" y="5308467"/>
            <a:ext cx="76198" cy="76198"/>
          </a:xfrm>
          <a:prstGeom prst="ellipse">
            <a:avLst/>
          </a:prstGeom>
          <a:solidFill>
            <a:srgbClr val="106BEF">
              <a:alpha val="78000"/>
            </a:srgbClr>
          </a:solidFill>
          <a:ln w="12700">
            <a:solidFill>
              <a:srgbClr val="FFFFFF">
                <a:alpha val="0"/>
              </a:srgbClr>
            </a:solidFill>
            <a:prstDash val="solid"/>
          </a:ln>
        </p:spPr>
      </p:sp>
      <p:sp>
        <p:nvSpPr>
          <p:cNvPr id="38" name="Shape 30"/>
          <p:cNvSpPr/>
          <p:nvPr/>
        </p:nvSpPr>
        <p:spPr>
          <a:xfrm>
            <a:off x="1079473" y="6057749"/>
            <a:ext cx="10032749" cy="406390"/>
          </a:xfrm>
          <a:prstGeom prst="roundRect">
            <a:avLst/>
          </a:prstGeom>
          <a:solidFill>
            <a:srgbClr val="FFFFFF"/>
          </a:solidFill>
          <a:ln w="12700">
            <a:solidFill>
              <a:srgbClr val="C4C6C1"/>
            </a:solidFill>
            <a:prstDash val="solid"/>
          </a:ln>
        </p:spPr>
      </p:sp>
      <p:sp>
        <p:nvSpPr>
          <p:cNvPr id="39" name="Shape 31"/>
          <p:cNvSpPr/>
          <p:nvPr/>
        </p:nvSpPr>
        <p:spPr>
          <a:xfrm>
            <a:off x="1523962" y="6165696"/>
            <a:ext cx="0" cy="190495"/>
          </a:xfrm>
          <a:prstGeom prst="line">
            <a:avLst/>
          </a:prstGeom>
          <a:noFill/>
          <a:ln w="50799">
            <a:solidFill>
              <a:srgbClr val="106BEF"/>
            </a:solidFill>
            <a:prstDash val="solid"/>
            <a:headEnd type="none"/>
            <a:tailEnd type="none"/>
          </a:ln>
        </p:spPr>
      </p:sp>
      <p:sp>
        <p:nvSpPr>
          <p:cNvPr id="40" name="Text 32"/>
          <p:cNvSpPr/>
          <p:nvPr/>
        </p:nvSpPr>
        <p:spPr>
          <a:xfrm>
            <a:off x="609585" y="927077"/>
            <a:ext cx="1381725"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产品化</a:t>
            </a:r>
            <a:endParaRPr lang="en-US" sz="3000" dirty="0"/>
          </a:p>
        </p:txBody>
      </p:sp>
      <p:sp>
        <p:nvSpPr>
          <p:cNvPr id="41" name="Text 33"/>
          <p:cNvSpPr/>
          <p:nvPr/>
        </p:nvSpPr>
        <p:spPr>
          <a:xfrm>
            <a:off x="634984" y="1549361"/>
            <a:ext cx="5058284"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主流工具正在把 Agent 能力收敛为 ADE 的工程基座。</a:t>
            </a:r>
            <a:endParaRPr lang="en-US" sz="1550" dirty="0"/>
          </a:p>
        </p:txBody>
      </p:sp>
      <p:sp>
        <p:nvSpPr>
          <p:cNvPr id="42" name="Text 34"/>
          <p:cNvSpPr/>
          <p:nvPr/>
        </p:nvSpPr>
        <p:spPr>
          <a:xfrm>
            <a:off x="2374841" y="2400240"/>
            <a:ext cx="507987" cy="294633"/>
          </a:xfrm>
          <a:prstGeom prst="rect">
            <a:avLst/>
          </a:prstGeom>
          <a:noFill/>
          <a:ln/>
        </p:spPr>
        <p:txBody>
          <a:bodyPr wrap="square" lIns="0" tIns="0" rIns="0" bIns="0" rtlCol="0" anchor="t">
            <a:normAutofit/>
          </a:bodyPr>
          <a:lstStyle/>
          <a:p>
            <a:pPr algn="l" indent="0" marL="0">
              <a:buNone/>
            </a:pPr>
            <a:r>
              <a:rPr lang="en-US" sz="1600" b="1" dirty="0">
                <a:solidFill>
                  <a:srgbClr val="106BEF"/>
                </a:solidFill>
                <a:latin typeface="Arial" pitchFamily="34" charset="0"/>
                <a:ea typeface="Arial" pitchFamily="34" charset="-122"/>
                <a:cs typeface="Arial" pitchFamily="34" charset="-120"/>
              </a:rPr>
              <a:t>01</a:t>
            </a:r>
            <a:endParaRPr lang="en-US" sz="1600" dirty="0"/>
          </a:p>
        </p:txBody>
      </p:sp>
      <p:sp>
        <p:nvSpPr>
          <p:cNvPr id="43" name="Text 35"/>
          <p:cNvSpPr/>
          <p:nvPr/>
        </p:nvSpPr>
        <p:spPr>
          <a:xfrm>
            <a:off x="2755831" y="2406590"/>
            <a:ext cx="1219805"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入口与委托</a:t>
            </a:r>
            <a:endParaRPr lang="en-US" sz="1550" dirty="0"/>
          </a:p>
        </p:txBody>
      </p:sp>
      <p:sp>
        <p:nvSpPr>
          <p:cNvPr id="44" name="Text 36"/>
          <p:cNvSpPr/>
          <p:nvPr/>
        </p:nvSpPr>
        <p:spPr>
          <a:xfrm>
            <a:off x="8155228" y="2279593"/>
            <a:ext cx="1761192" cy="177796"/>
          </a:xfrm>
          <a:prstGeom prst="rect">
            <a:avLst/>
          </a:prstGeom>
          <a:noFill/>
          <a:ln/>
        </p:spPr>
        <p:txBody>
          <a:bodyPr wrap="square" lIns="0" tIns="0" rIns="0" bIns="0" rtlCol="0" anchor="ctr">
            <a:normAutofit/>
          </a:bodyPr>
          <a:lstStyle/>
          <a:p>
            <a:pPr algn="ctr" indent="0" marL="0">
              <a:buNone/>
            </a:pPr>
            <a:r>
              <a:rPr lang="en-US" sz="900" b="1" dirty="0">
                <a:solidFill>
                  <a:srgbClr val="106BEF"/>
                </a:solidFill>
                <a:latin typeface="Microsoft YaHei" pitchFamily="34" charset="0"/>
                <a:ea typeface="Microsoft YaHei" pitchFamily="34" charset="-122"/>
                <a:cs typeface="Microsoft YaHei" pitchFamily="34" charset="-120"/>
              </a:rPr>
              <a:t>GitHub / Codex / Agent HQ</a:t>
            </a:r>
            <a:endParaRPr lang="en-US" sz="900" dirty="0"/>
          </a:p>
        </p:txBody>
      </p:sp>
      <p:sp>
        <p:nvSpPr>
          <p:cNvPr id="45" name="Text 37"/>
          <p:cNvSpPr/>
          <p:nvPr/>
        </p:nvSpPr>
        <p:spPr>
          <a:xfrm>
            <a:off x="3111422" y="2730432"/>
            <a:ext cx="190342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Issue / Chat / CLI 触发</a:t>
            </a:r>
            <a:endParaRPr lang="en-US" sz="1100" dirty="0"/>
          </a:p>
        </p:txBody>
      </p:sp>
      <p:sp>
        <p:nvSpPr>
          <p:cNvPr id="46" name="Text 38"/>
          <p:cNvSpPr/>
          <p:nvPr/>
        </p:nvSpPr>
        <p:spPr>
          <a:xfrm>
            <a:off x="5727557" y="2730432"/>
            <a:ext cx="1355818"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隔离环境承接执行</a:t>
            </a:r>
            <a:endParaRPr lang="en-US" sz="1100" dirty="0"/>
          </a:p>
        </p:txBody>
      </p:sp>
      <p:sp>
        <p:nvSpPr>
          <p:cNvPr id="47" name="Text 39"/>
          <p:cNvSpPr/>
          <p:nvPr/>
        </p:nvSpPr>
        <p:spPr>
          <a:xfrm>
            <a:off x="8407190" y="2730432"/>
            <a:ext cx="1428460"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结果回到分支 / PR</a:t>
            </a:r>
            <a:endParaRPr lang="en-US" sz="1100" dirty="0"/>
          </a:p>
        </p:txBody>
      </p:sp>
      <p:sp>
        <p:nvSpPr>
          <p:cNvPr id="48" name="Text 40"/>
          <p:cNvSpPr/>
          <p:nvPr/>
        </p:nvSpPr>
        <p:spPr>
          <a:xfrm>
            <a:off x="2374841" y="3670208"/>
            <a:ext cx="507987" cy="294633"/>
          </a:xfrm>
          <a:prstGeom prst="rect">
            <a:avLst/>
          </a:prstGeom>
          <a:noFill/>
          <a:ln/>
        </p:spPr>
        <p:txBody>
          <a:bodyPr wrap="square" lIns="0" tIns="0" rIns="0" bIns="0" rtlCol="0" anchor="t">
            <a:normAutofit/>
          </a:bodyPr>
          <a:lstStyle/>
          <a:p>
            <a:pPr algn="l" indent="0" marL="0">
              <a:buNone/>
            </a:pPr>
            <a:r>
              <a:rPr lang="en-US" sz="1600" b="1" dirty="0">
                <a:solidFill>
                  <a:srgbClr val="FF5A1F"/>
                </a:solidFill>
                <a:latin typeface="Arial" pitchFamily="34" charset="0"/>
                <a:ea typeface="Arial" pitchFamily="34" charset="-122"/>
                <a:cs typeface="Arial" pitchFamily="34" charset="-120"/>
              </a:rPr>
              <a:t>02</a:t>
            </a:r>
            <a:endParaRPr lang="en-US" sz="1600" dirty="0"/>
          </a:p>
        </p:txBody>
      </p:sp>
      <p:sp>
        <p:nvSpPr>
          <p:cNvPr id="49" name="Text 41"/>
          <p:cNvSpPr/>
          <p:nvPr/>
        </p:nvSpPr>
        <p:spPr>
          <a:xfrm>
            <a:off x="2755831" y="3676558"/>
            <a:ext cx="1219805"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治理与护栏</a:t>
            </a:r>
            <a:endParaRPr lang="en-US" sz="1550" dirty="0"/>
          </a:p>
        </p:txBody>
      </p:sp>
      <p:sp>
        <p:nvSpPr>
          <p:cNvPr id="50" name="Text 42"/>
          <p:cNvSpPr/>
          <p:nvPr/>
        </p:nvSpPr>
        <p:spPr>
          <a:xfrm>
            <a:off x="8130083" y="3549561"/>
            <a:ext cx="1811483" cy="177796"/>
          </a:xfrm>
          <a:prstGeom prst="rect">
            <a:avLst/>
          </a:prstGeom>
          <a:noFill/>
          <a:ln/>
        </p:spPr>
        <p:txBody>
          <a:bodyPr wrap="square" lIns="0" tIns="0" rIns="0" bIns="0" rtlCol="0" anchor="ctr">
            <a:normAutofit/>
          </a:bodyPr>
          <a:lstStyle/>
          <a:p>
            <a:pPr algn="ctr" indent="0" marL="0">
              <a:buNone/>
            </a:pPr>
            <a:r>
              <a:rPr lang="en-US" sz="900" b="1" dirty="0">
                <a:solidFill>
                  <a:srgbClr val="FF5A1F"/>
                </a:solidFill>
                <a:latin typeface="Microsoft YaHei" pitchFamily="34" charset="0"/>
                <a:ea typeface="Microsoft YaHei" pitchFamily="34" charset="-122"/>
                <a:cs typeface="Microsoft YaHei" pitchFamily="34" charset="-120"/>
              </a:rPr>
              <a:t>Copilot / Claude / Lobster</a:t>
            </a:r>
            <a:endParaRPr lang="en-US" sz="900" dirty="0"/>
          </a:p>
        </p:txBody>
      </p:sp>
      <p:sp>
        <p:nvSpPr>
          <p:cNvPr id="51" name="Text 43"/>
          <p:cNvSpPr/>
          <p:nvPr/>
        </p:nvSpPr>
        <p:spPr>
          <a:xfrm>
            <a:off x="3111422" y="4000400"/>
            <a:ext cx="164079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模型与角色按任务选择</a:t>
            </a:r>
            <a:endParaRPr lang="en-US" sz="1100" dirty="0"/>
          </a:p>
        </p:txBody>
      </p:sp>
      <p:sp>
        <p:nvSpPr>
          <p:cNvPr id="52" name="Text 44"/>
          <p:cNvSpPr/>
          <p:nvPr/>
        </p:nvSpPr>
        <p:spPr>
          <a:xfrm>
            <a:off x="5727557" y="4000400"/>
            <a:ext cx="1763732"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权限、Hooks、审批拦截</a:t>
            </a:r>
            <a:endParaRPr lang="en-US" sz="1100" dirty="0"/>
          </a:p>
        </p:txBody>
      </p:sp>
      <p:sp>
        <p:nvSpPr>
          <p:cNvPr id="53" name="Text 45"/>
          <p:cNvSpPr/>
          <p:nvPr/>
        </p:nvSpPr>
        <p:spPr>
          <a:xfrm>
            <a:off x="8407190" y="4000400"/>
            <a:ext cx="149830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隔离与恢复并入流程</a:t>
            </a:r>
            <a:endParaRPr lang="en-US" sz="1100" dirty="0"/>
          </a:p>
        </p:txBody>
      </p:sp>
      <p:sp>
        <p:nvSpPr>
          <p:cNvPr id="54" name="Text 46"/>
          <p:cNvSpPr/>
          <p:nvPr/>
        </p:nvSpPr>
        <p:spPr>
          <a:xfrm>
            <a:off x="2374841" y="4940176"/>
            <a:ext cx="507987" cy="294633"/>
          </a:xfrm>
          <a:prstGeom prst="rect">
            <a:avLst/>
          </a:prstGeom>
          <a:noFill/>
          <a:ln/>
        </p:spPr>
        <p:txBody>
          <a:bodyPr wrap="square" lIns="0" tIns="0" rIns="0" bIns="0" rtlCol="0" anchor="t">
            <a:normAutofit/>
          </a:bodyPr>
          <a:lstStyle/>
          <a:p>
            <a:pPr algn="l" indent="0" marL="0">
              <a:buNone/>
            </a:pPr>
            <a:r>
              <a:rPr lang="en-US" sz="1600" b="1" dirty="0">
                <a:solidFill>
                  <a:srgbClr val="106BEF"/>
                </a:solidFill>
                <a:latin typeface="Arial" pitchFamily="34" charset="0"/>
                <a:ea typeface="Arial" pitchFamily="34" charset="-122"/>
                <a:cs typeface="Arial" pitchFamily="34" charset="-120"/>
              </a:rPr>
              <a:t>03</a:t>
            </a:r>
            <a:endParaRPr lang="en-US" sz="1600" dirty="0"/>
          </a:p>
        </p:txBody>
      </p:sp>
      <p:sp>
        <p:nvSpPr>
          <p:cNvPr id="55" name="Text 47"/>
          <p:cNvSpPr/>
          <p:nvPr/>
        </p:nvSpPr>
        <p:spPr>
          <a:xfrm>
            <a:off x="2755831" y="4946526"/>
            <a:ext cx="1219805"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证据与复盘</a:t>
            </a:r>
            <a:endParaRPr lang="en-US" sz="1550" dirty="0"/>
          </a:p>
        </p:txBody>
      </p:sp>
      <p:sp>
        <p:nvSpPr>
          <p:cNvPr id="56" name="Text 48"/>
          <p:cNvSpPr/>
          <p:nvPr/>
        </p:nvSpPr>
        <p:spPr>
          <a:xfrm>
            <a:off x="8276383" y="4819530"/>
            <a:ext cx="1518882" cy="177796"/>
          </a:xfrm>
          <a:prstGeom prst="rect">
            <a:avLst/>
          </a:prstGeom>
          <a:noFill/>
          <a:ln/>
        </p:spPr>
        <p:txBody>
          <a:bodyPr wrap="square" lIns="0" tIns="0" rIns="0" bIns="0" rtlCol="0" anchor="ctr">
            <a:normAutofit/>
          </a:bodyPr>
          <a:lstStyle/>
          <a:p>
            <a:pPr algn="ctr" indent="0" marL="0">
              <a:buNone/>
            </a:pPr>
            <a:r>
              <a:rPr lang="en-US" sz="900" b="1" dirty="0">
                <a:solidFill>
                  <a:srgbClr val="106BEF"/>
                </a:solidFill>
                <a:latin typeface="Microsoft YaHei" pitchFamily="34" charset="0"/>
                <a:ea typeface="Microsoft YaHei" pitchFamily="34" charset="-122"/>
                <a:cs typeface="Microsoft YaHei" pitchFamily="34" charset="-120"/>
              </a:rPr>
              <a:t>Trace / Evals / AIDev</a:t>
            </a:r>
            <a:endParaRPr lang="en-US" sz="900" dirty="0"/>
          </a:p>
        </p:txBody>
      </p:sp>
      <p:sp>
        <p:nvSpPr>
          <p:cNvPr id="57" name="Text 49"/>
          <p:cNvSpPr/>
          <p:nvPr/>
        </p:nvSpPr>
        <p:spPr>
          <a:xfrm>
            <a:off x="3111422" y="5270368"/>
            <a:ext cx="178328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规则上下文随仓库版本化</a:t>
            </a:r>
            <a:endParaRPr lang="en-US" sz="1100" dirty="0"/>
          </a:p>
        </p:txBody>
      </p:sp>
      <p:sp>
        <p:nvSpPr>
          <p:cNvPr id="58" name="Text 50"/>
          <p:cNvSpPr/>
          <p:nvPr/>
        </p:nvSpPr>
        <p:spPr>
          <a:xfrm>
            <a:off x="5727557" y="5270368"/>
            <a:ext cx="164079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日志、评审、自检前置</a:t>
            </a:r>
            <a:endParaRPr lang="en-US" sz="1100" dirty="0"/>
          </a:p>
        </p:txBody>
      </p:sp>
      <p:sp>
        <p:nvSpPr>
          <p:cNvPr id="59" name="Text 51"/>
          <p:cNvSpPr/>
          <p:nvPr/>
        </p:nvSpPr>
        <p:spPr>
          <a:xfrm>
            <a:off x="8407190" y="5270368"/>
            <a:ext cx="1640799" cy="202560"/>
          </a:xfrm>
          <a:prstGeom prst="rect">
            <a:avLst/>
          </a:prstGeom>
          <a:noFill/>
          <a:ln/>
        </p:spPr>
        <p:txBody>
          <a:bodyPr wrap="square" lIns="0" tIns="0" rIns="0" bIns="0" rtlCol="0" anchor="t">
            <a:normAutofit/>
          </a:bodyPr>
          <a:lstStyle/>
          <a:p>
            <a:pPr algn="l" indent="0" marL="0">
              <a:buNone/>
            </a:pPr>
            <a:r>
              <a:rPr lang="en-US" sz="1100" b="1" dirty="0">
                <a:solidFill>
                  <a:srgbClr val="050608"/>
                </a:solidFill>
                <a:latin typeface="Microsoft YaHei" pitchFamily="34" charset="0"/>
                <a:ea typeface="Microsoft YaHei" pitchFamily="34" charset="-122"/>
                <a:cs typeface="Microsoft YaHei" pitchFamily="34" charset="-120"/>
              </a:rPr>
              <a:t>失败样本变成评估资产</a:t>
            </a:r>
            <a:endParaRPr lang="en-US" sz="1100" dirty="0"/>
          </a:p>
        </p:txBody>
      </p:sp>
      <p:sp>
        <p:nvSpPr>
          <p:cNvPr id="60" name="Text 52"/>
          <p:cNvSpPr/>
          <p:nvPr/>
        </p:nvSpPr>
        <p:spPr>
          <a:xfrm>
            <a:off x="1079473" y="6060447"/>
            <a:ext cx="10032749" cy="248596"/>
          </a:xfrm>
          <a:prstGeom prst="rect">
            <a:avLst/>
          </a:prstGeom>
          <a:noFill/>
          <a:ln/>
        </p:spPr>
        <p:txBody>
          <a:bodyPr wrap="square" lIns="0" tIns="0" rIns="0" bIns="0" rtlCol="0" anchor="ctr">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BitFun/ADE：在 IDE 与本地工程上下文中组织规则、权限、证据和协作边界。</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06-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06-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06-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019250"/>
            <a:ext cx="711182" cy="0"/>
          </a:xfrm>
          <a:prstGeom prst="line">
            <a:avLst/>
          </a:prstGeom>
          <a:noFill/>
          <a:ln w="50799">
            <a:solidFill>
              <a:srgbClr val="106BEF"/>
            </a:solidFill>
            <a:prstDash val="solid"/>
            <a:headEnd type="none"/>
            <a:tailEnd type="none"/>
          </a:ln>
        </p:spPr>
      </p:sp>
      <p:sp>
        <p:nvSpPr>
          <p:cNvPr id="10" name="Shape 5"/>
          <p:cNvSpPr/>
          <p:nvPr/>
        </p:nvSpPr>
        <p:spPr>
          <a:xfrm>
            <a:off x="1425539" y="1984325"/>
            <a:ext cx="69848" cy="69848"/>
          </a:xfrm>
          <a:prstGeom prst="ellipse">
            <a:avLst/>
          </a:prstGeom>
          <a:solidFill>
            <a:srgbClr val="FF5A1F"/>
          </a:solidFill>
          <a:ln w="12700">
            <a:solidFill>
              <a:srgbClr val="FFFFFF">
                <a:alpha val="0"/>
              </a:srgbClr>
            </a:solidFill>
            <a:prstDash val="solid"/>
          </a:ln>
        </p:spPr>
      </p:sp>
      <p:sp>
        <p:nvSpPr>
          <p:cNvPr id="11" name="Shape 6"/>
          <p:cNvSpPr/>
          <p:nvPr/>
        </p:nvSpPr>
        <p:spPr>
          <a:xfrm>
            <a:off x="1663658" y="3213020"/>
            <a:ext cx="8864378" cy="0"/>
          </a:xfrm>
          <a:prstGeom prst="line">
            <a:avLst/>
          </a:prstGeom>
          <a:noFill/>
          <a:ln w="31749">
            <a:solidFill>
              <a:srgbClr val="C4C6C1"/>
            </a:solidFill>
            <a:prstDash val="solid"/>
            <a:headEnd type="none"/>
            <a:tailEnd type="none"/>
          </a:ln>
        </p:spPr>
      </p:sp>
      <p:sp>
        <p:nvSpPr>
          <p:cNvPr id="12" name="Shape 7"/>
          <p:cNvSpPr/>
          <p:nvPr/>
        </p:nvSpPr>
        <p:spPr>
          <a:xfrm>
            <a:off x="1663658" y="3213020"/>
            <a:ext cx="8864378" cy="0"/>
          </a:xfrm>
          <a:prstGeom prst="line">
            <a:avLst/>
          </a:prstGeom>
          <a:noFill/>
          <a:ln w="31749">
            <a:solidFill>
              <a:srgbClr val="106BEF">
                <a:alpha val="78000"/>
              </a:srgbClr>
            </a:solidFill>
            <a:prstDash val="solid"/>
            <a:headEnd type="none"/>
            <a:tailEnd type="none"/>
          </a:ln>
        </p:spPr>
      </p:sp>
      <p:sp>
        <p:nvSpPr>
          <p:cNvPr id="13" name="Shape 8"/>
          <p:cNvSpPr/>
          <p:nvPr/>
        </p:nvSpPr>
        <p:spPr>
          <a:xfrm>
            <a:off x="698483" y="2489138"/>
            <a:ext cx="1904952" cy="15874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4" name="Shape 9"/>
          <p:cNvSpPr/>
          <p:nvPr/>
        </p:nvSpPr>
        <p:spPr>
          <a:xfrm>
            <a:off x="1447764" y="2590735"/>
            <a:ext cx="406390" cy="406390"/>
          </a:xfrm>
          <a:prstGeom prst="ellipse">
            <a:avLst/>
          </a:prstGeom>
          <a:solidFill>
            <a:srgbClr val="106BEF">
              <a:alpha val="11000"/>
            </a:srgbClr>
          </a:solidFill>
          <a:ln w="12700">
            <a:solidFill>
              <a:srgbClr val="FFFFFF">
                <a:alpha val="0"/>
              </a:srgbClr>
            </a:solidFill>
            <a:prstDash val="solid"/>
          </a:ln>
        </p:spPr>
      </p:sp>
      <p:pic>
        <p:nvPicPr>
          <p:cNvPr id="15" name="Image 3" descr="D:\workspace\worktree_for_vcoder\BitFun\docs\report\ai-redefines-software-development-presentation\agents_are_the_new_Agile-slides-png-v0.18\slide-06-layer-14.png">    </p:cNvPr>
          <p:cNvPicPr>
            <a:picLocks noChangeAspect="1"/>
          </p:cNvPicPr>
          <p:nvPr/>
        </p:nvPicPr>
        <p:blipFill>
          <a:blip r:embed="rId4"/>
          <a:stretch>
            <a:fillRect/>
          </a:stretch>
        </p:blipFill>
        <p:spPr>
          <a:xfrm>
            <a:off x="0" y="0"/>
            <a:ext cx="12191695" cy="6858000"/>
          </a:xfrm>
          <a:prstGeom prst="rect">
            <a:avLst/>
          </a:prstGeom>
        </p:spPr>
      </p:pic>
      <p:sp>
        <p:nvSpPr>
          <p:cNvPr id="16" name="Shape 10"/>
          <p:cNvSpPr/>
          <p:nvPr/>
        </p:nvSpPr>
        <p:spPr>
          <a:xfrm>
            <a:off x="990575" y="3492413"/>
            <a:ext cx="1320767" cy="0"/>
          </a:xfrm>
          <a:prstGeom prst="line">
            <a:avLst/>
          </a:prstGeom>
          <a:noFill/>
          <a:ln w="22224">
            <a:solidFill>
              <a:srgbClr val="106BEF">
                <a:alpha val="62000"/>
              </a:srgbClr>
            </a:solidFill>
            <a:prstDash val="solid"/>
            <a:headEnd type="none"/>
            <a:tailEnd type="none"/>
          </a:ln>
        </p:spPr>
      </p:sp>
      <p:sp>
        <p:nvSpPr>
          <p:cNvPr id="17" name="Shape 11"/>
          <p:cNvSpPr/>
          <p:nvPr/>
        </p:nvSpPr>
        <p:spPr>
          <a:xfrm>
            <a:off x="2971726" y="2489138"/>
            <a:ext cx="1904952" cy="15874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8" name="Shape 12"/>
          <p:cNvSpPr/>
          <p:nvPr/>
        </p:nvSpPr>
        <p:spPr>
          <a:xfrm>
            <a:off x="3721007" y="2590735"/>
            <a:ext cx="406390" cy="406390"/>
          </a:xfrm>
          <a:prstGeom prst="ellipse">
            <a:avLst/>
          </a:prstGeom>
          <a:solidFill>
            <a:srgbClr val="106BEF">
              <a:alpha val="11000"/>
            </a:srgbClr>
          </a:solidFill>
          <a:ln w="12700">
            <a:solidFill>
              <a:srgbClr val="FFFFFF">
                <a:alpha val="0"/>
              </a:srgbClr>
            </a:solidFill>
            <a:prstDash val="solid"/>
          </a:ln>
        </p:spPr>
      </p:sp>
      <p:pic>
        <p:nvPicPr>
          <p:cNvPr id="19" name="Image 4" descr="D:\workspace\worktree_for_vcoder\BitFun\docs\report\ai-redefines-software-development-presentation\agents_are_the_new_Agile-slides-png-v0.18\slide-06-layer-18.png">    </p:cNvPr>
          <p:cNvPicPr>
            <a:picLocks noChangeAspect="1"/>
          </p:cNvPicPr>
          <p:nvPr/>
        </p:nvPicPr>
        <p:blipFill>
          <a:blip r:embed="rId5"/>
          <a:stretch>
            <a:fillRect/>
          </a:stretch>
        </p:blipFill>
        <p:spPr>
          <a:xfrm>
            <a:off x="0" y="0"/>
            <a:ext cx="12191695" cy="6858000"/>
          </a:xfrm>
          <a:prstGeom prst="rect">
            <a:avLst/>
          </a:prstGeom>
        </p:spPr>
      </p:pic>
      <p:sp>
        <p:nvSpPr>
          <p:cNvPr id="20" name="Shape 13"/>
          <p:cNvSpPr/>
          <p:nvPr/>
        </p:nvSpPr>
        <p:spPr>
          <a:xfrm>
            <a:off x="3263818" y="3492413"/>
            <a:ext cx="1320767" cy="0"/>
          </a:xfrm>
          <a:prstGeom prst="line">
            <a:avLst/>
          </a:prstGeom>
          <a:noFill/>
          <a:ln w="22224">
            <a:solidFill>
              <a:srgbClr val="106BEF">
                <a:alpha val="62000"/>
              </a:srgbClr>
            </a:solidFill>
            <a:prstDash val="solid"/>
            <a:headEnd type="none"/>
            <a:tailEnd type="none"/>
          </a:ln>
        </p:spPr>
      </p:sp>
      <p:sp>
        <p:nvSpPr>
          <p:cNvPr id="21" name="Shape 14"/>
          <p:cNvSpPr/>
          <p:nvPr/>
        </p:nvSpPr>
        <p:spPr>
          <a:xfrm>
            <a:off x="5244969" y="2489138"/>
            <a:ext cx="1904952" cy="15874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2" name="Shape 15"/>
          <p:cNvSpPr/>
          <p:nvPr/>
        </p:nvSpPr>
        <p:spPr>
          <a:xfrm>
            <a:off x="5994250" y="2590735"/>
            <a:ext cx="406390" cy="406390"/>
          </a:xfrm>
          <a:prstGeom prst="ellipse">
            <a:avLst/>
          </a:prstGeom>
          <a:solidFill>
            <a:srgbClr val="FF5A1F">
              <a:alpha val="11000"/>
            </a:srgbClr>
          </a:solidFill>
          <a:ln w="12700">
            <a:solidFill>
              <a:srgbClr val="FFFFFF">
                <a:alpha val="0"/>
              </a:srgbClr>
            </a:solidFill>
            <a:prstDash val="solid"/>
          </a:ln>
        </p:spPr>
      </p:sp>
      <p:pic>
        <p:nvPicPr>
          <p:cNvPr id="23" name="Image 5" descr="D:\workspace\worktree_for_vcoder\BitFun\docs\report\ai-redefines-software-development-presentation\agents_are_the_new_Agile-slides-png-v0.18\slide-06-layer-22.png">    </p:cNvPr>
          <p:cNvPicPr>
            <a:picLocks noChangeAspect="1"/>
          </p:cNvPicPr>
          <p:nvPr/>
        </p:nvPicPr>
        <p:blipFill>
          <a:blip r:embed="rId6"/>
          <a:stretch>
            <a:fillRect/>
          </a:stretch>
        </p:blipFill>
        <p:spPr>
          <a:xfrm>
            <a:off x="0" y="0"/>
            <a:ext cx="12191695" cy="6858000"/>
          </a:xfrm>
          <a:prstGeom prst="rect">
            <a:avLst/>
          </a:prstGeom>
        </p:spPr>
      </p:pic>
      <p:sp>
        <p:nvSpPr>
          <p:cNvPr id="24" name="Shape 16"/>
          <p:cNvSpPr/>
          <p:nvPr/>
        </p:nvSpPr>
        <p:spPr>
          <a:xfrm>
            <a:off x="5537062" y="3492413"/>
            <a:ext cx="1320767" cy="0"/>
          </a:xfrm>
          <a:prstGeom prst="line">
            <a:avLst/>
          </a:prstGeom>
          <a:noFill/>
          <a:ln w="22224">
            <a:solidFill>
              <a:srgbClr val="FF5A1F">
                <a:alpha val="62000"/>
              </a:srgbClr>
            </a:solidFill>
            <a:prstDash val="solid"/>
            <a:headEnd type="none"/>
            <a:tailEnd type="none"/>
          </a:ln>
        </p:spPr>
      </p:sp>
      <p:sp>
        <p:nvSpPr>
          <p:cNvPr id="25" name="Shape 17"/>
          <p:cNvSpPr/>
          <p:nvPr/>
        </p:nvSpPr>
        <p:spPr>
          <a:xfrm>
            <a:off x="7518212" y="2489138"/>
            <a:ext cx="1904952" cy="15874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6" name="Shape 18"/>
          <p:cNvSpPr/>
          <p:nvPr/>
        </p:nvSpPr>
        <p:spPr>
          <a:xfrm>
            <a:off x="8267493" y="2590735"/>
            <a:ext cx="406390" cy="406390"/>
          </a:xfrm>
          <a:prstGeom prst="ellipse">
            <a:avLst/>
          </a:prstGeom>
          <a:solidFill>
            <a:srgbClr val="FF5A1F">
              <a:alpha val="11000"/>
            </a:srgbClr>
          </a:solidFill>
          <a:ln w="12700">
            <a:solidFill>
              <a:srgbClr val="FFFFFF">
                <a:alpha val="0"/>
              </a:srgbClr>
            </a:solidFill>
            <a:prstDash val="solid"/>
          </a:ln>
        </p:spPr>
      </p:sp>
      <p:pic>
        <p:nvPicPr>
          <p:cNvPr id="27" name="Image 6" descr="D:\workspace\worktree_for_vcoder\BitFun\docs\report\ai-redefines-software-development-presentation\agents_are_the_new_Agile-slides-png-v0.18\slide-06-layer-26.png">    </p:cNvPr>
          <p:cNvPicPr>
            <a:picLocks noChangeAspect="1"/>
          </p:cNvPicPr>
          <p:nvPr/>
        </p:nvPicPr>
        <p:blipFill>
          <a:blip r:embed="rId7"/>
          <a:stretch>
            <a:fillRect/>
          </a:stretch>
        </p:blipFill>
        <p:spPr>
          <a:xfrm>
            <a:off x="0" y="0"/>
            <a:ext cx="12191695" cy="6858000"/>
          </a:xfrm>
          <a:prstGeom prst="rect">
            <a:avLst/>
          </a:prstGeom>
        </p:spPr>
      </p:pic>
      <p:sp>
        <p:nvSpPr>
          <p:cNvPr id="28" name="Shape 19"/>
          <p:cNvSpPr/>
          <p:nvPr/>
        </p:nvSpPr>
        <p:spPr>
          <a:xfrm>
            <a:off x="7810305" y="3492413"/>
            <a:ext cx="1320767" cy="0"/>
          </a:xfrm>
          <a:prstGeom prst="line">
            <a:avLst/>
          </a:prstGeom>
          <a:noFill/>
          <a:ln w="22224">
            <a:solidFill>
              <a:srgbClr val="FF5A1F">
                <a:alpha val="62000"/>
              </a:srgbClr>
            </a:solidFill>
            <a:prstDash val="solid"/>
            <a:headEnd type="none"/>
            <a:tailEnd type="none"/>
          </a:ln>
        </p:spPr>
      </p:sp>
      <p:sp>
        <p:nvSpPr>
          <p:cNvPr id="29" name="Shape 20"/>
          <p:cNvSpPr/>
          <p:nvPr/>
        </p:nvSpPr>
        <p:spPr>
          <a:xfrm>
            <a:off x="9791455" y="2489138"/>
            <a:ext cx="1904952" cy="15874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30" name="Shape 21"/>
          <p:cNvSpPr/>
          <p:nvPr/>
        </p:nvSpPr>
        <p:spPr>
          <a:xfrm>
            <a:off x="10540736" y="2590735"/>
            <a:ext cx="406390" cy="406390"/>
          </a:xfrm>
          <a:prstGeom prst="ellipse">
            <a:avLst/>
          </a:prstGeom>
          <a:solidFill>
            <a:srgbClr val="106BEF">
              <a:alpha val="11000"/>
            </a:srgbClr>
          </a:solidFill>
          <a:ln w="12700">
            <a:solidFill>
              <a:srgbClr val="FFFFFF">
                <a:alpha val="0"/>
              </a:srgbClr>
            </a:solidFill>
            <a:prstDash val="solid"/>
          </a:ln>
        </p:spPr>
      </p:sp>
      <p:pic>
        <p:nvPicPr>
          <p:cNvPr id="31" name="Image 7" descr="D:\workspace\worktree_for_vcoder\BitFun\docs\report\ai-redefines-software-development-presentation\agents_are_the_new_Agile-slides-png-v0.18\slide-06-layer-30.png">    </p:cNvPr>
          <p:cNvPicPr>
            <a:picLocks noChangeAspect="1"/>
          </p:cNvPicPr>
          <p:nvPr/>
        </p:nvPicPr>
        <p:blipFill>
          <a:blip r:embed="rId8"/>
          <a:stretch>
            <a:fillRect/>
          </a:stretch>
        </p:blipFill>
        <p:spPr>
          <a:xfrm>
            <a:off x="0" y="0"/>
            <a:ext cx="12191695" cy="6858000"/>
          </a:xfrm>
          <a:prstGeom prst="rect">
            <a:avLst/>
          </a:prstGeom>
        </p:spPr>
      </p:pic>
      <p:sp>
        <p:nvSpPr>
          <p:cNvPr id="32" name="Shape 22"/>
          <p:cNvSpPr/>
          <p:nvPr/>
        </p:nvSpPr>
        <p:spPr>
          <a:xfrm>
            <a:off x="10083548" y="3492413"/>
            <a:ext cx="1320767" cy="0"/>
          </a:xfrm>
          <a:prstGeom prst="line">
            <a:avLst/>
          </a:prstGeom>
          <a:noFill/>
          <a:ln w="22224">
            <a:solidFill>
              <a:srgbClr val="106BEF">
                <a:alpha val="62000"/>
              </a:srgbClr>
            </a:solidFill>
            <a:prstDash val="solid"/>
            <a:headEnd type="none"/>
            <a:tailEnd type="none"/>
          </a:ln>
        </p:spPr>
      </p:sp>
      <p:sp>
        <p:nvSpPr>
          <p:cNvPr id="33" name="Shape 23"/>
          <p:cNvSpPr/>
          <p:nvPr/>
        </p:nvSpPr>
        <p:spPr>
          <a:xfrm>
            <a:off x="977876" y="4470288"/>
            <a:ext cx="10235944" cy="78738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34" name="Shape 24"/>
          <p:cNvSpPr/>
          <p:nvPr/>
        </p:nvSpPr>
        <p:spPr>
          <a:xfrm>
            <a:off x="1689058" y="4686183"/>
            <a:ext cx="76198" cy="76198"/>
          </a:xfrm>
          <a:prstGeom prst="ellipse">
            <a:avLst/>
          </a:prstGeom>
          <a:solidFill>
            <a:srgbClr val="106BEF"/>
          </a:solidFill>
          <a:ln w="12700">
            <a:solidFill>
              <a:srgbClr val="FFFFFF">
                <a:alpha val="0"/>
              </a:srgbClr>
            </a:solidFill>
            <a:prstDash val="solid"/>
          </a:ln>
        </p:spPr>
      </p:sp>
      <p:sp>
        <p:nvSpPr>
          <p:cNvPr id="35" name="Shape 25"/>
          <p:cNvSpPr/>
          <p:nvPr/>
        </p:nvSpPr>
        <p:spPr>
          <a:xfrm>
            <a:off x="4863978" y="4686183"/>
            <a:ext cx="76198" cy="76198"/>
          </a:xfrm>
          <a:prstGeom prst="ellipse">
            <a:avLst/>
          </a:prstGeom>
          <a:solidFill>
            <a:srgbClr val="FF5A1F"/>
          </a:solidFill>
          <a:ln w="12700">
            <a:solidFill>
              <a:srgbClr val="FFFFFF">
                <a:alpha val="0"/>
              </a:srgbClr>
            </a:solidFill>
            <a:prstDash val="solid"/>
          </a:ln>
        </p:spPr>
      </p:sp>
      <p:sp>
        <p:nvSpPr>
          <p:cNvPr id="36" name="Shape 26"/>
          <p:cNvSpPr/>
          <p:nvPr/>
        </p:nvSpPr>
        <p:spPr>
          <a:xfrm>
            <a:off x="8038899" y="4686183"/>
            <a:ext cx="76198" cy="76198"/>
          </a:xfrm>
          <a:prstGeom prst="ellipse">
            <a:avLst/>
          </a:prstGeom>
          <a:solidFill>
            <a:srgbClr val="106BEF"/>
          </a:solidFill>
          <a:ln w="12700">
            <a:solidFill>
              <a:srgbClr val="FFFFFF">
                <a:alpha val="0"/>
              </a:srgbClr>
            </a:solidFill>
            <a:prstDash val="solid"/>
          </a:ln>
        </p:spPr>
      </p:sp>
      <p:sp>
        <p:nvSpPr>
          <p:cNvPr id="37" name="Shape 27"/>
          <p:cNvSpPr/>
          <p:nvPr/>
        </p:nvSpPr>
        <p:spPr>
          <a:xfrm>
            <a:off x="1079473" y="6057749"/>
            <a:ext cx="10032749" cy="406390"/>
          </a:xfrm>
          <a:prstGeom prst="roundRect">
            <a:avLst/>
          </a:prstGeom>
          <a:solidFill>
            <a:srgbClr val="FFFFFF"/>
          </a:solidFill>
          <a:ln w="12700">
            <a:solidFill>
              <a:srgbClr val="C4C6C1"/>
            </a:solidFill>
            <a:prstDash val="solid"/>
          </a:ln>
        </p:spPr>
      </p:sp>
      <p:sp>
        <p:nvSpPr>
          <p:cNvPr id="38" name="Shape 28"/>
          <p:cNvSpPr/>
          <p:nvPr/>
        </p:nvSpPr>
        <p:spPr>
          <a:xfrm>
            <a:off x="1523962" y="6165696"/>
            <a:ext cx="0" cy="190495"/>
          </a:xfrm>
          <a:prstGeom prst="line">
            <a:avLst/>
          </a:prstGeom>
          <a:noFill/>
          <a:ln w="50799">
            <a:solidFill>
              <a:srgbClr val="106BEF"/>
            </a:solidFill>
            <a:prstDash val="solid"/>
            <a:headEnd type="none"/>
            <a:tailEnd type="none"/>
          </a:ln>
        </p:spPr>
      </p:sp>
      <p:sp>
        <p:nvSpPr>
          <p:cNvPr id="39" name="Text 29"/>
          <p:cNvSpPr/>
          <p:nvPr/>
        </p:nvSpPr>
        <p:spPr>
          <a:xfrm>
            <a:off x="609585" y="927077"/>
            <a:ext cx="1892253"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ADE 范围</a:t>
            </a:r>
            <a:endParaRPr lang="en-US" sz="3000" dirty="0"/>
          </a:p>
        </p:txBody>
      </p:sp>
      <p:sp>
        <p:nvSpPr>
          <p:cNvPr id="40" name="Text 30"/>
          <p:cNvSpPr/>
          <p:nvPr/>
        </p:nvSpPr>
        <p:spPr>
          <a:xfrm>
            <a:off x="634984" y="1549361"/>
            <a:ext cx="4833880"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把需求、实现、评审、发布和反馈连成可验证链路。</a:t>
            </a:r>
            <a:endParaRPr lang="en-US" sz="1550" dirty="0"/>
          </a:p>
        </p:txBody>
      </p:sp>
      <p:sp>
        <p:nvSpPr>
          <p:cNvPr id="41" name="Text 31"/>
          <p:cNvSpPr/>
          <p:nvPr/>
        </p:nvSpPr>
        <p:spPr>
          <a:xfrm>
            <a:off x="1396965"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106BEF"/>
                </a:solidFill>
                <a:latin typeface="Arial" pitchFamily="34" charset="0"/>
                <a:ea typeface="Arial" pitchFamily="34" charset="-122"/>
                <a:cs typeface="Arial" pitchFamily="34" charset="-120"/>
              </a:rPr>
              <a:t>01</a:t>
            </a:r>
            <a:endParaRPr lang="en-US" sz="1300" dirty="0"/>
          </a:p>
        </p:txBody>
      </p:sp>
      <p:sp>
        <p:nvSpPr>
          <p:cNvPr id="42" name="Text 32"/>
          <p:cNvSpPr/>
          <p:nvPr/>
        </p:nvSpPr>
        <p:spPr>
          <a:xfrm>
            <a:off x="1105825" y="3327317"/>
            <a:ext cx="1090268"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需求与场景</a:t>
            </a:r>
            <a:endParaRPr lang="en-US" sz="1350" dirty="0"/>
          </a:p>
        </p:txBody>
      </p:sp>
      <p:sp>
        <p:nvSpPr>
          <p:cNvPr id="43" name="Text 33"/>
          <p:cNvSpPr/>
          <p:nvPr/>
        </p:nvSpPr>
        <p:spPr>
          <a:xfrm>
            <a:off x="1078203" y="3695608"/>
            <a:ext cx="1145511"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PRD / 用户目标</a:t>
            </a:r>
            <a:endParaRPr lang="en-US" sz="1000" dirty="0"/>
          </a:p>
        </p:txBody>
      </p:sp>
      <p:sp>
        <p:nvSpPr>
          <p:cNvPr id="44" name="Text 34"/>
          <p:cNvSpPr/>
          <p:nvPr/>
        </p:nvSpPr>
        <p:spPr>
          <a:xfrm>
            <a:off x="1112302"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产品取舍与约束</a:t>
            </a:r>
            <a:endParaRPr lang="en-US" sz="950" dirty="0"/>
          </a:p>
        </p:txBody>
      </p:sp>
      <p:sp>
        <p:nvSpPr>
          <p:cNvPr id="45" name="Text 35"/>
          <p:cNvSpPr/>
          <p:nvPr/>
        </p:nvSpPr>
        <p:spPr>
          <a:xfrm>
            <a:off x="3670208"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106BEF"/>
                </a:solidFill>
                <a:latin typeface="Arial" pitchFamily="34" charset="0"/>
                <a:ea typeface="Arial" pitchFamily="34" charset="-122"/>
                <a:cs typeface="Arial" pitchFamily="34" charset="-120"/>
              </a:rPr>
              <a:t>02</a:t>
            </a:r>
            <a:endParaRPr lang="en-US" sz="1300" dirty="0"/>
          </a:p>
        </p:txBody>
      </p:sp>
      <p:sp>
        <p:nvSpPr>
          <p:cNvPr id="46" name="Text 36"/>
          <p:cNvSpPr/>
          <p:nvPr/>
        </p:nvSpPr>
        <p:spPr>
          <a:xfrm>
            <a:off x="3466505" y="3327317"/>
            <a:ext cx="915393"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任务说明</a:t>
            </a:r>
            <a:endParaRPr lang="en-US" sz="1350" dirty="0"/>
          </a:p>
        </p:txBody>
      </p:sp>
      <p:sp>
        <p:nvSpPr>
          <p:cNvPr id="47" name="Text 37"/>
          <p:cNvSpPr/>
          <p:nvPr/>
        </p:nvSpPr>
        <p:spPr>
          <a:xfrm>
            <a:off x="3416215" y="3695608"/>
            <a:ext cx="1015975"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目标 / 非目标</a:t>
            </a:r>
            <a:endParaRPr lang="en-US" sz="1000" dirty="0"/>
          </a:p>
        </p:txBody>
      </p:sp>
      <p:sp>
        <p:nvSpPr>
          <p:cNvPr id="48" name="Text 38"/>
          <p:cNvSpPr/>
          <p:nvPr/>
        </p:nvSpPr>
        <p:spPr>
          <a:xfrm>
            <a:off x="3385545"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验收与风险边界</a:t>
            </a:r>
            <a:endParaRPr lang="en-US" sz="950" dirty="0"/>
          </a:p>
        </p:txBody>
      </p:sp>
      <p:sp>
        <p:nvSpPr>
          <p:cNvPr id="49" name="Text 39"/>
          <p:cNvSpPr/>
          <p:nvPr/>
        </p:nvSpPr>
        <p:spPr>
          <a:xfrm>
            <a:off x="5943451"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FF5A1F"/>
                </a:solidFill>
                <a:latin typeface="Arial" pitchFamily="34" charset="0"/>
                <a:ea typeface="Arial" pitchFamily="34" charset="-122"/>
                <a:cs typeface="Arial" pitchFamily="34" charset="-120"/>
              </a:rPr>
              <a:t>03</a:t>
            </a:r>
            <a:endParaRPr lang="en-US" sz="1300" dirty="0"/>
          </a:p>
        </p:txBody>
      </p:sp>
      <p:sp>
        <p:nvSpPr>
          <p:cNvPr id="50" name="Text 40"/>
          <p:cNvSpPr/>
          <p:nvPr/>
        </p:nvSpPr>
        <p:spPr>
          <a:xfrm>
            <a:off x="5739749" y="3327317"/>
            <a:ext cx="915393"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实现验证</a:t>
            </a:r>
            <a:endParaRPr lang="en-US" sz="1350" dirty="0"/>
          </a:p>
        </p:txBody>
      </p:sp>
      <p:sp>
        <p:nvSpPr>
          <p:cNvPr id="51" name="Text 41"/>
          <p:cNvSpPr/>
          <p:nvPr/>
        </p:nvSpPr>
        <p:spPr>
          <a:xfrm>
            <a:off x="5548491" y="3695608"/>
            <a:ext cx="1297908"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代码 / 测试 / 日志</a:t>
            </a:r>
            <a:endParaRPr lang="en-US" sz="1000" dirty="0"/>
          </a:p>
        </p:txBody>
      </p:sp>
      <p:sp>
        <p:nvSpPr>
          <p:cNvPr id="52" name="Text 42"/>
          <p:cNvSpPr/>
          <p:nvPr/>
        </p:nvSpPr>
        <p:spPr>
          <a:xfrm>
            <a:off x="5658788"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隔离执行与证据</a:t>
            </a:r>
            <a:endParaRPr lang="en-US" sz="950" dirty="0"/>
          </a:p>
        </p:txBody>
      </p:sp>
      <p:sp>
        <p:nvSpPr>
          <p:cNvPr id="53" name="Text 43"/>
          <p:cNvSpPr/>
          <p:nvPr/>
        </p:nvSpPr>
        <p:spPr>
          <a:xfrm>
            <a:off x="8216695"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FF5A1F"/>
                </a:solidFill>
                <a:latin typeface="Arial" pitchFamily="34" charset="0"/>
                <a:ea typeface="Arial" pitchFamily="34" charset="-122"/>
                <a:cs typeface="Arial" pitchFamily="34" charset="-120"/>
              </a:rPr>
              <a:t>04</a:t>
            </a:r>
            <a:endParaRPr lang="en-US" sz="1300" dirty="0"/>
          </a:p>
        </p:txBody>
      </p:sp>
      <p:sp>
        <p:nvSpPr>
          <p:cNvPr id="54" name="Text 44"/>
          <p:cNvSpPr/>
          <p:nvPr/>
        </p:nvSpPr>
        <p:spPr>
          <a:xfrm>
            <a:off x="8012992" y="3327317"/>
            <a:ext cx="915393"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评审交付</a:t>
            </a:r>
            <a:endParaRPr lang="en-US" sz="1350" dirty="0"/>
          </a:p>
        </p:txBody>
      </p:sp>
      <p:sp>
        <p:nvSpPr>
          <p:cNvPr id="55" name="Text 45"/>
          <p:cNvSpPr/>
          <p:nvPr/>
        </p:nvSpPr>
        <p:spPr>
          <a:xfrm>
            <a:off x="7908092" y="3695608"/>
            <a:ext cx="1125192"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PR / Artifact</a:t>
            </a:r>
            <a:endParaRPr lang="en-US" sz="1000" dirty="0"/>
          </a:p>
        </p:txBody>
      </p:sp>
      <p:sp>
        <p:nvSpPr>
          <p:cNvPr id="56" name="Text 46"/>
          <p:cNvSpPr/>
          <p:nvPr/>
        </p:nvSpPr>
        <p:spPr>
          <a:xfrm>
            <a:off x="7932031"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责任与放行判断</a:t>
            </a:r>
            <a:endParaRPr lang="en-US" sz="950" dirty="0"/>
          </a:p>
        </p:txBody>
      </p:sp>
      <p:sp>
        <p:nvSpPr>
          <p:cNvPr id="57" name="Text 47"/>
          <p:cNvSpPr/>
          <p:nvPr/>
        </p:nvSpPr>
        <p:spPr>
          <a:xfrm>
            <a:off x="10489938" y="3098723"/>
            <a:ext cx="507987" cy="239389"/>
          </a:xfrm>
          <a:prstGeom prst="rect">
            <a:avLst/>
          </a:prstGeom>
          <a:noFill/>
          <a:ln/>
        </p:spPr>
        <p:txBody>
          <a:bodyPr wrap="square" lIns="0" tIns="0" rIns="0" bIns="0" rtlCol="0" anchor="t">
            <a:normAutofit/>
          </a:bodyPr>
          <a:lstStyle/>
          <a:p>
            <a:pPr algn="ctr" indent="0" marL="0">
              <a:buNone/>
            </a:pPr>
            <a:r>
              <a:rPr lang="en-US" sz="1300" b="1" dirty="0">
                <a:solidFill>
                  <a:srgbClr val="106BEF"/>
                </a:solidFill>
                <a:latin typeface="Arial" pitchFamily="34" charset="0"/>
                <a:ea typeface="Arial" pitchFamily="34" charset="-122"/>
                <a:cs typeface="Arial" pitchFamily="34" charset="-120"/>
              </a:rPr>
              <a:t>05</a:t>
            </a:r>
            <a:endParaRPr lang="en-US" sz="1300" dirty="0"/>
          </a:p>
        </p:txBody>
      </p:sp>
      <p:sp>
        <p:nvSpPr>
          <p:cNvPr id="58" name="Text 48"/>
          <p:cNvSpPr/>
          <p:nvPr/>
        </p:nvSpPr>
        <p:spPr>
          <a:xfrm>
            <a:off x="10286235" y="3327317"/>
            <a:ext cx="915393" cy="248596"/>
          </a:xfrm>
          <a:prstGeom prst="rect">
            <a:avLst/>
          </a:prstGeom>
          <a:noFill/>
          <a:ln/>
        </p:spPr>
        <p:txBody>
          <a:bodyPr wrap="square" lIns="0" tIns="0" rIns="0" bIns="0" rtlCol="0" anchor="t">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运维演进</a:t>
            </a:r>
            <a:endParaRPr lang="en-US" sz="1350" dirty="0"/>
          </a:p>
        </p:txBody>
      </p:sp>
      <p:sp>
        <p:nvSpPr>
          <p:cNvPr id="59" name="Text 49"/>
          <p:cNvSpPr/>
          <p:nvPr/>
        </p:nvSpPr>
        <p:spPr>
          <a:xfrm>
            <a:off x="10300712" y="3695608"/>
            <a:ext cx="886438" cy="184145"/>
          </a:xfrm>
          <a:prstGeom prst="rect">
            <a:avLst/>
          </a:prstGeom>
          <a:noFill/>
          <a:ln/>
        </p:spPr>
        <p:txBody>
          <a:bodyPr wrap="square" lIns="0" tIns="0" rIns="0" bIns="0" rtlCol="0" anchor="t">
            <a:normAutofit/>
          </a:bodyPr>
          <a:lstStyle/>
          <a:p>
            <a:pPr algn="ctr" indent="0" marL="0">
              <a:buNone/>
            </a:pPr>
            <a:r>
              <a:rPr lang="en-US" sz="1000" b="1" dirty="0">
                <a:solidFill>
                  <a:srgbClr val="050608"/>
                </a:solidFill>
                <a:latin typeface="Microsoft YaHei" pitchFamily="34" charset="0"/>
                <a:ea typeface="Microsoft YaHei" pitchFamily="34" charset="-122"/>
                <a:cs typeface="Microsoft YaHei" pitchFamily="34" charset="-120"/>
              </a:rPr>
              <a:t>反馈 / 复盘</a:t>
            </a:r>
            <a:endParaRPr lang="en-US" sz="1000" dirty="0"/>
          </a:p>
        </p:txBody>
      </p:sp>
      <p:sp>
        <p:nvSpPr>
          <p:cNvPr id="60" name="Text 50"/>
          <p:cNvSpPr/>
          <p:nvPr/>
        </p:nvSpPr>
        <p:spPr>
          <a:xfrm>
            <a:off x="10205274" y="3911502"/>
            <a:ext cx="1077314" cy="177796"/>
          </a:xfrm>
          <a:prstGeom prst="rect">
            <a:avLst/>
          </a:prstGeom>
          <a:noFill/>
          <a:ln/>
        </p:spPr>
        <p:txBody>
          <a:bodyPr wrap="square" lIns="0" tIns="0" rIns="0" bIns="0" rtlCol="0" anchor="t">
            <a:normAutofit/>
          </a:bodyPr>
          <a:lstStyle/>
          <a:p>
            <a:pPr algn="ctr" indent="0" marL="0">
              <a:buNone/>
            </a:pPr>
            <a:r>
              <a:rPr lang="en-US" sz="950" b="1" dirty="0">
                <a:solidFill>
                  <a:srgbClr val="5F6670"/>
                </a:solidFill>
                <a:latin typeface="Microsoft YaHei" pitchFamily="34" charset="0"/>
                <a:ea typeface="Microsoft YaHei" pitchFamily="34" charset="-122"/>
                <a:cs typeface="Microsoft YaHei" pitchFamily="34" charset="-120"/>
              </a:rPr>
              <a:t>沉淀规则和架构</a:t>
            </a:r>
            <a:endParaRPr lang="en-US" sz="950" dirty="0"/>
          </a:p>
        </p:txBody>
      </p:sp>
      <p:sp>
        <p:nvSpPr>
          <p:cNvPr id="61" name="Text 51"/>
          <p:cNvSpPr/>
          <p:nvPr/>
        </p:nvSpPr>
        <p:spPr>
          <a:xfrm>
            <a:off x="1917652" y="4641734"/>
            <a:ext cx="837671"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个人原型</a:t>
            </a:r>
            <a:endParaRPr lang="en-US" sz="1200" dirty="0"/>
          </a:p>
        </p:txBody>
      </p:sp>
      <p:sp>
        <p:nvSpPr>
          <p:cNvPr id="62" name="Text 52"/>
          <p:cNvSpPr/>
          <p:nvPr/>
        </p:nvSpPr>
        <p:spPr>
          <a:xfrm>
            <a:off x="1917652" y="4946526"/>
            <a:ext cx="2168090"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快速验证 / 可回滚 / 低协作成本</a:t>
            </a:r>
            <a:endParaRPr lang="en-US" sz="1050" dirty="0"/>
          </a:p>
        </p:txBody>
      </p:sp>
      <p:sp>
        <p:nvSpPr>
          <p:cNvPr id="63" name="Text 53"/>
          <p:cNvSpPr/>
          <p:nvPr/>
        </p:nvSpPr>
        <p:spPr>
          <a:xfrm>
            <a:off x="5092573" y="4641734"/>
            <a:ext cx="837671" cy="220974"/>
          </a:xfrm>
          <a:prstGeom prst="rect">
            <a:avLst/>
          </a:prstGeom>
          <a:noFill/>
          <a:ln/>
        </p:spPr>
        <p:txBody>
          <a:bodyPr wrap="square" lIns="0" tIns="0" rIns="0" bIns="0" rtlCol="0" anchor="t">
            <a:normAutofit/>
          </a:bodyPr>
          <a:lstStyle/>
          <a:p>
            <a:pPr algn="l" indent="0" marL="0">
              <a:buNone/>
            </a:pPr>
            <a:r>
              <a:rPr lang="en-US" sz="1200" b="1" dirty="0">
                <a:solidFill>
                  <a:srgbClr val="FF5A1F"/>
                </a:solidFill>
                <a:latin typeface="Microsoft YaHei" pitchFamily="34" charset="0"/>
                <a:ea typeface="Microsoft YaHei" pitchFamily="34" charset="-122"/>
                <a:cs typeface="Microsoft YaHei" pitchFamily="34" charset="-120"/>
              </a:rPr>
              <a:t>开源仓库</a:t>
            </a:r>
            <a:endParaRPr lang="en-US" sz="1200" dirty="0"/>
          </a:p>
        </p:txBody>
      </p:sp>
      <p:sp>
        <p:nvSpPr>
          <p:cNvPr id="64" name="Text 54"/>
          <p:cNvSpPr/>
          <p:nvPr/>
        </p:nvSpPr>
        <p:spPr>
          <a:xfrm>
            <a:off x="5092573" y="4946526"/>
            <a:ext cx="2256099"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PR 质量 / 维护者信任 / 公共责任</a:t>
            </a:r>
            <a:endParaRPr lang="en-US" sz="1050" dirty="0"/>
          </a:p>
        </p:txBody>
      </p:sp>
      <p:sp>
        <p:nvSpPr>
          <p:cNvPr id="65" name="Text 55"/>
          <p:cNvSpPr/>
          <p:nvPr/>
        </p:nvSpPr>
        <p:spPr>
          <a:xfrm>
            <a:off x="8267493" y="4641734"/>
            <a:ext cx="837671"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企业工程</a:t>
            </a:r>
            <a:endParaRPr lang="en-US" sz="1200" dirty="0"/>
          </a:p>
        </p:txBody>
      </p:sp>
      <p:sp>
        <p:nvSpPr>
          <p:cNvPr id="66" name="Text 56"/>
          <p:cNvSpPr/>
          <p:nvPr/>
        </p:nvSpPr>
        <p:spPr>
          <a:xfrm>
            <a:off x="8267493" y="4946526"/>
            <a:ext cx="2304103"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权限合规 / 跨团队协作 / 线上稳定</a:t>
            </a:r>
            <a:endParaRPr lang="en-US" sz="1050" dirty="0"/>
          </a:p>
        </p:txBody>
      </p:sp>
      <p:sp>
        <p:nvSpPr>
          <p:cNvPr id="67" name="Text 57"/>
          <p:cNvSpPr/>
          <p:nvPr/>
        </p:nvSpPr>
        <p:spPr>
          <a:xfrm>
            <a:off x="1079473" y="6060447"/>
            <a:ext cx="10032749" cy="248596"/>
          </a:xfrm>
          <a:prstGeom prst="rect">
            <a:avLst/>
          </a:prstGeom>
          <a:noFill/>
          <a:ln/>
        </p:spPr>
        <p:txBody>
          <a:bodyPr wrap="square" lIns="0" tIns="0" rIns="0" bIns="0" rtlCol="0" anchor="ctr">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ADE 的价值：让 Agent 能力沿研发链路沉淀为可验证、可放行、可复盘的交付过程。</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07-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07-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07-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019250"/>
            <a:ext cx="711182" cy="0"/>
          </a:xfrm>
          <a:prstGeom prst="line">
            <a:avLst/>
          </a:prstGeom>
          <a:noFill/>
          <a:ln w="50799">
            <a:solidFill>
              <a:srgbClr val="106BEF"/>
            </a:solidFill>
            <a:prstDash val="solid"/>
            <a:headEnd type="none"/>
            <a:tailEnd type="none"/>
          </a:ln>
        </p:spPr>
      </p:sp>
      <p:sp>
        <p:nvSpPr>
          <p:cNvPr id="10" name="Shape 5"/>
          <p:cNvSpPr/>
          <p:nvPr/>
        </p:nvSpPr>
        <p:spPr>
          <a:xfrm>
            <a:off x="1425539" y="1984325"/>
            <a:ext cx="69848" cy="69848"/>
          </a:xfrm>
          <a:prstGeom prst="ellipse">
            <a:avLst/>
          </a:prstGeom>
          <a:solidFill>
            <a:srgbClr val="FF5A1F"/>
          </a:solidFill>
          <a:ln w="12700">
            <a:solidFill>
              <a:srgbClr val="FFFFFF">
                <a:alpha val="0"/>
              </a:srgbClr>
            </a:solidFill>
            <a:prstDash val="solid"/>
          </a:ln>
        </p:spPr>
      </p:sp>
      <p:sp>
        <p:nvSpPr>
          <p:cNvPr id="11" name="Shape 6"/>
          <p:cNvSpPr/>
          <p:nvPr/>
        </p:nvSpPr>
        <p:spPr>
          <a:xfrm>
            <a:off x="736582" y="2527237"/>
            <a:ext cx="2730432" cy="2285943"/>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2" name="Shape 7"/>
          <p:cNvSpPr/>
          <p:nvPr/>
        </p:nvSpPr>
        <p:spPr>
          <a:xfrm>
            <a:off x="914377" y="2717732"/>
            <a:ext cx="507987" cy="507987"/>
          </a:xfrm>
          <a:prstGeom prst="ellipse">
            <a:avLst/>
          </a:prstGeom>
          <a:solidFill>
            <a:srgbClr val="106BEF">
              <a:alpha val="11000"/>
            </a:srgbClr>
          </a:solidFill>
          <a:ln w="12700">
            <a:solidFill>
              <a:srgbClr val="FFFFFF">
                <a:alpha val="0"/>
              </a:srgbClr>
            </a:solidFill>
            <a:prstDash val="solid"/>
          </a:ln>
        </p:spPr>
      </p:sp>
      <p:pic>
        <p:nvPicPr>
          <p:cNvPr id="13" name="Image 3" descr="D:\workspace\worktree_for_vcoder\BitFun\docs\report\ai-redefines-software-development-presentation\agents_are_the_new_Agile-slides-png-v0.18\slide-07-layer-12.png">    </p:cNvPr>
          <p:cNvPicPr>
            <a:picLocks noChangeAspect="1"/>
          </p:cNvPicPr>
          <p:nvPr/>
        </p:nvPicPr>
        <p:blipFill>
          <a:blip r:embed="rId4"/>
          <a:stretch>
            <a:fillRect/>
          </a:stretch>
        </p:blipFill>
        <p:spPr>
          <a:xfrm>
            <a:off x="0" y="0"/>
            <a:ext cx="12191695" cy="6858000"/>
          </a:xfrm>
          <a:prstGeom prst="rect">
            <a:avLst/>
          </a:prstGeom>
        </p:spPr>
      </p:pic>
      <p:sp>
        <p:nvSpPr>
          <p:cNvPr id="14" name="Shape 8"/>
          <p:cNvSpPr/>
          <p:nvPr/>
        </p:nvSpPr>
        <p:spPr>
          <a:xfrm>
            <a:off x="1041374" y="3428914"/>
            <a:ext cx="2120847" cy="0"/>
          </a:xfrm>
          <a:prstGeom prst="line">
            <a:avLst/>
          </a:prstGeom>
          <a:noFill/>
          <a:ln w="24129">
            <a:solidFill>
              <a:srgbClr val="106BEF">
                <a:alpha val="62000"/>
              </a:srgbClr>
            </a:solidFill>
            <a:prstDash val="solid"/>
            <a:headEnd type="none"/>
            <a:tailEnd type="none"/>
          </a:ln>
        </p:spPr>
      </p:sp>
      <p:sp>
        <p:nvSpPr>
          <p:cNvPr id="15" name="Shape 9"/>
          <p:cNvSpPr/>
          <p:nvPr/>
        </p:nvSpPr>
        <p:spPr>
          <a:xfrm>
            <a:off x="1092173" y="3721007"/>
            <a:ext cx="76198" cy="76198"/>
          </a:xfrm>
          <a:prstGeom prst="ellipse">
            <a:avLst/>
          </a:prstGeom>
          <a:solidFill>
            <a:srgbClr val="106BEF">
              <a:alpha val="82000"/>
            </a:srgbClr>
          </a:solidFill>
          <a:ln w="12700">
            <a:solidFill>
              <a:srgbClr val="FFFFFF">
                <a:alpha val="0"/>
              </a:srgbClr>
            </a:solidFill>
            <a:prstDash val="solid"/>
          </a:ln>
        </p:spPr>
      </p:sp>
      <p:sp>
        <p:nvSpPr>
          <p:cNvPr id="16" name="Shape 10"/>
          <p:cNvSpPr/>
          <p:nvPr/>
        </p:nvSpPr>
        <p:spPr>
          <a:xfrm>
            <a:off x="1092173" y="4063898"/>
            <a:ext cx="76198" cy="76198"/>
          </a:xfrm>
          <a:prstGeom prst="ellipse">
            <a:avLst/>
          </a:prstGeom>
          <a:solidFill>
            <a:srgbClr val="106BEF">
              <a:alpha val="82000"/>
            </a:srgbClr>
          </a:solidFill>
          <a:ln w="12700">
            <a:solidFill>
              <a:srgbClr val="FFFFFF">
                <a:alpha val="0"/>
              </a:srgbClr>
            </a:solidFill>
            <a:prstDash val="solid"/>
          </a:ln>
        </p:spPr>
      </p:sp>
      <p:sp>
        <p:nvSpPr>
          <p:cNvPr id="17" name="Shape 11"/>
          <p:cNvSpPr/>
          <p:nvPr/>
        </p:nvSpPr>
        <p:spPr>
          <a:xfrm>
            <a:off x="1092173" y="4406790"/>
            <a:ext cx="76198" cy="76198"/>
          </a:xfrm>
          <a:prstGeom prst="ellipse">
            <a:avLst/>
          </a:prstGeom>
          <a:solidFill>
            <a:srgbClr val="106BEF">
              <a:alpha val="82000"/>
            </a:srgbClr>
          </a:solidFill>
          <a:ln w="12700">
            <a:solidFill>
              <a:srgbClr val="FFFFFF">
                <a:alpha val="0"/>
              </a:srgbClr>
            </a:solidFill>
            <a:prstDash val="solid"/>
          </a:ln>
        </p:spPr>
      </p:sp>
      <p:pic>
        <p:nvPicPr>
          <p:cNvPr id="18" name="Image 4" descr="D:\workspace\worktree_for_vcoder\BitFun\docs\report\ai-redefines-software-development-presentation\agents_are_the_new_Agile-slides-png-v0.18\slide-07-layer-17.png">    </p:cNvPr>
          <p:cNvPicPr>
            <a:picLocks noChangeAspect="1"/>
          </p:cNvPicPr>
          <p:nvPr/>
        </p:nvPicPr>
        <p:blipFill>
          <a:blip r:embed="rId5"/>
          <a:stretch>
            <a:fillRect/>
          </a:stretch>
        </p:blipFill>
        <p:spPr>
          <a:xfrm>
            <a:off x="0" y="0"/>
            <a:ext cx="12191695" cy="6858000"/>
          </a:xfrm>
          <a:prstGeom prst="rect">
            <a:avLst/>
          </a:prstGeom>
        </p:spPr>
      </p:pic>
      <p:sp>
        <p:nvSpPr>
          <p:cNvPr id="19" name="Shape 12"/>
          <p:cNvSpPr/>
          <p:nvPr/>
        </p:nvSpPr>
        <p:spPr>
          <a:xfrm>
            <a:off x="4730632" y="2527237"/>
            <a:ext cx="2730432" cy="2285943"/>
          </a:xfrm>
          <a:prstGeom prst="roundRect">
            <a:avLst/>
          </a:prstGeom>
          <a:solidFill>
            <a:srgbClr val="FFFFFF"/>
          </a:solidFill>
          <a:ln w="15240">
            <a:solidFill>
              <a:srgbClr val="106BEF"/>
            </a:solidFill>
            <a:prstDash val="solid"/>
          </a:ln>
          <a:effectLst>
            <a:outerShdw sx="100000" sy="100000" kx="0" ky="0" algn="bl" rotWithShape="0" blurRad="20320" dist="50800" dir="2700000">
              <a:srgbClr val="4B5563">
                <a:alpha val="13000"/>
              </a:srgbClr>
            </a:outerShdw>
          </a:effectLst>
        </p:spPr>
      </p:sp>
      <p:sp>
        <p:nvSpPr>
          <p:cNvPr id="20" name="Shape 13"/>
          <p:cNvSpPr/>
          <p:nvPr/>
        </p:nvSpPr>
        <p:spPr>
          <a:xfrm>
            <a:off x="4908427" y="2717732"/>
            <a:ext cx="507987" cy="507987"/>
          </a:xfrm>
          <a:prstGeom prst="ellipse">
            <a:avLst/>
          </a:prstGeom>
          <a:solidFill>
            <a:srgbClr val="106BEF">
              <a:alpha val="11000"/>
            </a:srgbClr>
          </a:solidFill>
          <a:ln w="12700">
            <a:solidFill>
              <a:srgbClr val="FFFFFF">
                <a:alpha val="0"/>
              </a:srgbClr>
            </a:solidFill>
            <a:prstDash val="solid"/>
          </a:ln>
        </p:spPr>
      </p:sp>
      <p:pic>
        <p:nvPicPr>
          <p:cNvPr id="21" name="Image 5" descr="D:\workspace\worktree_for_vcoder\BitFun\docs\report\ai-redefines-software-development-presentation\agents_are_the_new_Agile-slides-png-v0.18\slide-07-layer-20.png">    </p:cNvPr>
          <p:cNvPicPr>
            <a:picLocks noChangeAspect="1"/>
          </p:cNvPicPr>
          <p:nvPr/>
        </p:nvPicPr>
        <p:blipFill>
          <a:blip r:embed="rId6"/>
          <a:stretch>
            <a:fillRect/>
          </a:stretch>
        </p:blipFill>
        <p:spPr>
          <a:xfrm>
            <a:off x="0" y="0"/>
            <a:ext cx="12191695" cy="6858000"/>
          </a:xfrm>
          <a:prstGeom prst="rect">
            <a:avLst/>
          </a:prstGeom>
        </p:spPr>
      </p:pic>
      <p:sp>
        <p:nvSpPr>
          <p:cNvPr id="22" name="Shape 14"/>
          <p:cNvSpPr/>
          <p:nvPr/>
        </p:nvSpPr>
        <p:spPr>
          <a:xfrm>
            <a:off x="5035424" y="3428914"/>
            <a:ext cx="2120847" cy="0"/>
          </a:xfrm>
          <a:prstGeom prst="line">
            <a:avLst/>
          </a:prstGeom>
          <a:noFill/>
          <a:ln w="24129">
            <a:solidFill>
              <a:srgbClr val="106BEF">
                <a:alpha val="62000"/>
              </a:srgbClr>
            </a:solidFill>
            <a:prstDash val="solid"/>
            <a:headEnd type="none"/>
            <a:tailEnd type="none"/>
          </a:ln>
        </p:spPr>
      </p:sp>
      <p:sp>
        <p:nvSpPr>
          <p:cNvPr id="23" name="Shape 15"/>
          <p:cNvSpPr/>
          <p:nvPr/>
        </p:nvSpPr>
        <p:spPr>
          <a:xfrm>
            <a:off x="5111622" y="3619410"/>
            <a:ext cx="76198" cy="76198"/>
          </a:xfrm>
          <a:prstGeom prst="ellipse">
            <a:avLst/>
          </a:prstGeom>
          <a:solidFill>
            <a:srgbClr val="106BEF">
              <a:alpha val="82000"/>
            </a:srgbClr>
          </a:solidFill>
          <a:ln w="12700">
            <a:solidFill>
              <a:srgbClr val="FFFFFF">
                <a:alpha val="0"/>
              </a:srgbClr>
            </a:solidFill>
            <a:prstDash val="solid"/>
          </a:ln>
        </p:spPr>
      </p:sp>
      <p:sp>
        <p:nvSpPr>
          <p:cNvPr id="24" name="Shape 16"/>
          <p:cNvSpPr/>
          <p:nvPr/>
        </p:nvSpPr>
        <p:spPr>
          <a:xfrm>
            <a:off x="5111622" y="3911502"/>
            <a:ext cx="76198" cy="76198"/>
          </a:xfrm>
          <a:prstGeom prst="ellipse">
            <a:avLst/>
          </a:prstGeom>
          <a:solidFill>
            <a:srgbClr val="FF5A1F">
              <a:alpha val="82000"/>
            </a:srgbClr>
          </a:solidFill>
          <a:ln w="12700">
            <a:solidFill>
              <a:srgbClr val="FFFFFF">
                <a:alpha val="0"/>
              </a:srgbClr>
            </a:solidFill>
            <a:prstDash val="solid"/>
          </a:ln>
        </p:spPr>
      </p:sp>
      <p:sp>
        <p:nvSpPr>
          <p:cNvPr id="25" name="Shape 17"/>
          <p:cNvSpPr/>
          <p:nvPr/>
        </p:nvSpPr>
        <p:spPr>
          <a:xfrm>
            <a:off x="5111622" y="4203595"/>
            <a:ext cx="76198" cy="76198"/>
          </a:xfrm>
          <a:prstGeom prst="ellipse">
            <a:avLst/>
          </a:prstGeom>
          <a:solidFill>
            <a:srgbClr val="106BEF">
              <a:alpha val="82000"/>
            </a:srgbClr>
          </a:solidFill>
          <a:ln w="12700">
            <a:solidFill>
              <a:srgbClr val="FFFFFF">
                <a:alpha val="0"/>
              </a:srgbClr>
            </a:solidFill>
            <a:prstDash val="solid"/>
          </a:ln>
        </p:spPr>
      </p:sp>
      <p:sp>
        <p:nvSpPr>
          <p:cNvPr id="26" name="Shape 18"/>
          <p:cNvSpPr/>
          <p:nvPr/>
        </p:nvSpPr>
        <p:spPr>
          <a:xfrm>
            <a:off x="5111622" y="4495688"/>
            <a:ext cx="76198" cy="76198"/>
          </a:xfrm>
          <a:prstGeom prst="ellipse">
            <a:avLst/>
          </a:prstGeom>
          <a:solidFill>
            <a:srgbClr val="FF5A1F">
              <a:alpha val="82000"/>
            </a:srgbClr>
          </a:solidFill>
          <a:ln w="12700">
            <a:solidFill>
              <a:srgbClr val="FFFFFF">
                <a:alpha val="0"/>
              </a:srgbClr>
            </a:solidFill>
            <a:prstDash val="solid"/>
          </a:ln>
        </p:spPr>
      </p:sp>
      <p:pic>
        <p:nvPicPr>
          <p:cNvPr id="27" name="Image 6" descr="D:\workspace\worktree_for_vcoder\BitFun\docs\report\ai-redefines-software-development-presentation\agents_are_the_new_Agile-slides-png-v0.18\slide-07-layer-26.png">    </p:cNvPr>
          <p:cNvPicPr>
            <a:picLocks noChangeAspect="1"/>
          </p:cNvPicPr>
          <p:nvPr/>
        </p:nvPicPr>
        <p:blipFill>
          <a:blip r:embed="rId7"/>
          <a:stretch>
            <a:fillRect/>
          </a:stretch>
        </p:blipFill>
        <p:spPr>
          <a:xfrm>
            <a:off x="0" y="0"/>
            <a:ext cx="12191695" cy="6858000"/>
          </a:xfrm>
          <a:prstGeom prst="rect">
            <a:avLst/>
          </a:prstGeom>
        </p:spPr>
      </p:pic>
      <p:sp>
        <p:nvSpPr>
          <p:cNvPr id="28" name="Shape 19"/>
          <p:cNvSpPr/>
          <p:nvPr/>
        </p:nvSpPr>
        <p:spPr>
          <a:xfrm>
            <a:off x="8724682" y="2527237"/>
            <a:ext cx="2730432" cy="2285943"/>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9" name="Shape 20"/>
          <p:cNvSpPr/>
          <p:nvPr/>
        </p:nvSpPr>
        <p:spPr>
          <a:xfrm>
            <a:off x="8902477" y="2717732"/>
            <a:ext cx="507987" cy="507987"/>
          </a:xfrm>
          <a:prstGeom prst="ellipse">
            <a:avLst/>
          </a:prstGeom>
          <a:solidFill>
            <a:srgbClr val="FF5A1F">
              <a:alpha val="11000"/>
            </a:srgbClr>
          </a:solidFill>
          <a:ln w="12700">
            <a:solidFill>
              <a:srgbClr val="FFFFFF">
                <a:alpha val="0"/>
              </a:srgbClr>
            </a:solidFill>
            <a:prstDash val="solid"/>
          </a:ln>
        </p:spPr>
      </p:sp>
      <p:pic>
        <p:nvPicPr>
          <p:cNvPr id="30" name="Image 7" descr="D:\workspace\worktree_for_vcoder\BitFun\docs\report\ai-redefines-software-development-presentation\agents_are_the_new_Agile-slides-png-v0.18\slide-07-layer-29.png">    </p:cNvPr>
          <p:cNvPicPr>
            <a:picLocks noChangeAspect="1"/>
          </p:cNvPicPr>
          <p:nvPr/>
        </p:nvPicPr>
        <p:blipFill>
          <a:blip r:embed="rId8"/>
          <a:stretch>
            <a:fillRect/>
          </a:stretch>
        </p:blipFill>
        <p:spPr>
          <a:xfrm>
            <a:off x="0" y="0"/>
            <a:ext cx="12191695" cy="6858000"/>
          </a:xfrm>
          <a:prstGeom prst="rect">
            <a:avLst/>
          </a:prstGeom>
        </p:spPr>
      </p:pic>
      <p:sp>
        <p:nvSpPr>
          <p:cNvPr id="31" name="Shape 21"/>
          <p:cNvSpPr/>
          <p:nvPr/>
        </p:nvSpPr>
        <p:spPr>
          <a:xfrm>
            <a:off x="9029474" y="3428914"/>
            <a:ext cx="2120847" cy="0"/>
          </a:xfrm>
          <a:prstGeom prst="line">
            <a:avLst/>
          </a:prstGeom>
          <a:noFill/>
          <a:ln w="24129">
            <a:solidFill>
              <a:srgbClr val="FF5A1F">
                <a:alpha val="62000"/>
              </a:srgbClr>
            </a:solidFill>
            <a:prstDash val="solid"/>
            <a:headEnd type="none"/>
            <a:tailEnd type="none"/>
          </a:ln>
        </p:spPr>
      </p:sp>
      <p:sp>
        <p:nvSpPr>
          <p:cNvPr id="32" name="Shape 22"/>
          <p:cNvSpPr/>
          <p:nvPr/>
        </p:nvSpPr>
        <p:spPr>
          <a:xfrm>
            <a:off x="9080273" y="3721007"/>
            <a:ext cx="76198" cy="76198"/>
          </a:xfrm>
          <a:prstGeom prst="ellipse">
            <a:avLst/>
          </a:prstGeom>
          <a:solidFill>
            <a:srgbClr val="FF5A1F">
              <a:alpha val="82000"/>
            </a:srgbClr>
          </a:solidFill>
          <a:ln w="12700">
            <a:solidFill>
              <a:srgbClr val="FFFFFF">
                <a:alpha val="0"/>
              </a:srgbClr>
            </a:solidFill>
            <a:prstDash val="solid"/>
          </a:ln>
        </p:spPr>
      </p:sp>
      <p:sp>
        <p:nvSpPr>
          <p:cNvPr id="33" name="Shape 23"/>
          <p:cNvSpPr/>
          <p:nvPr/>
        </p:nvSpPr>
        <p:spPr>
          <a:xfrm>
            <a:off x="9080273" y="4063898"/>
            <a:ext cx="76198" cy="76198"/>
          </a:xfrm>
          <a:prstGeom prst="ellipse">
            <a:avLst/>
          </a:prstGeom>
          <a:solidFill>
            <a:srgbClr val="FF5A1F">
              <a:alpha val="82000"/>
            </a:srgbClr>
          </a:solidFill>
          <a:ln w="12700">
            <a:solidFill>
              <a:srgbClr val="FFFFFF">
                <a:alpha val="0"/>
              </a:srgbClr>
            </a:solidFill>
            <a:prstDash val="solid"/>
          </a:ln>
        </p:spPr>
      </p:sp>
      <p:sp>
        <p:nvSpPr>
          <p:cNvPr id="34" name="Shape 24"/>
          <p:cNvSpPr/>
          <p:nvPr/>
        </p:nvSpPr>
        <p:spPr>
          <a:xfrm>
            <a:off x="9080273" y="4406790"/>
            <a:ext cx="76198" cy="76198"/>
          </a:xfrm>
          <a:prstGeom prst="ellipse">
            <a:avLst/>
          </a:prstGeom>
          <a:solidFill>
            <a:srgbClr val="FF5A1F">
              <a:alpha val="82000"/>
            </a:srgbClr>
          </a:solidFill>
          <a:ln w="12700">
            <a:solidFill>
              <a:srgbClr val="FFFFFF">
                <a:alpha val="0"/>
              </a:srgbClr>
            </a:solidFill>
            <a:prstDash val="solid"/>
          </a:ln>
        </p:spPr>
      </p:sp>
      <p:sp>
        <p:nvSpPr>
          <p:cNvPr id="35" name="Shape 25"/>
          <p:cNvSpPr/>
          <p:nvPr/>
        </p:nvSpPr>
        <p:spPr>
          <a:xfrm>
            <a:off x="1079473" y="6057749"/>
            <a:ext cx="10032749" cy="406390"/>
          </a:xfrm>
          <a:prstGeom prst="roundRect">
            <a:avLst/>
          </a:prstGeom>
          <a:solidFill>
            <a:srgbClr val="FFFFFF"/>
          </a:solidFill>
          <a:ln w="12700">
            <a:solidFill>
              <a:srgbClr val="C4C6C1"/>
            </a:solidFill>
            <a:prstDash val="solid"/>
          </a:ln>
        </p:spPr>
      </p:sp>
      <p:sp>
        <p:nvSpPr>
          <p:cNvPr id="36" name="Shape 26"/>
          <p:cNvSpPr/>
          <p:nvPr/>
        </p:nvSpPr>
        <p:spPr>
          <a:xfrm>
            <a:off x="1523962" y="6165696"/>
            <a:ext cx="0" cy="190495"/>
          </a:xfrm>
          <a:prstGeom prst="line">
            <a:avLst/>
          </a:prstGeom>
          <a:noFill/>
          <a:ln w="50799">
            <a:solidFill>
              <a:srgbClr val="106BEF"/>
            </a:solidFill>
            <a:prstDash val="solid"/>
            <a:headEnd type="none"/>
            <a:tailEnd type="none"/>
          </a:ln>
        </p:spPr>
      </p:sp>
      <p:sp>
        <p:nvSpPr>
          <p:cNvPr id="37" name="Text 27"/>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需求到任务</a:t>
            </a:r>
            <a:endParaRPr lang="en-US" sz="3000" dirty="0"/>
          </a:p>
        </p:txBody>
      </p:sp>
      <p:sp>
        <p:nvSpPr>
          <p:cNvPr id="38" name="Text 28"/>
          <p:cNvSpPr/>
          <p:nvPr/>
        </p:nvSpPr>
        <p:spPr>
          <a:xfrm>
            <a:off x="634984" y="1549361"/>
            <a:ext cx="6038572"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把模糊需求转成可执行任务说明：先定义目标、验收和风险边界。</a:t>
            </a:r>
            <a:endParaRPr lang="en-US" sz="1550" dirty="0"/>
          </a:p>
        </p:txBody>
      </p:sp>
      <p:sp>
        <p:nvSpPr>
          <p:cNvPr id="39" name="Text 29"/>
          <p:cNvSpPr/>
          <p:nvPr/>
        </p:nvSpPr>
        <p:spPr>
          <a:xfrm>
            <a:off x="1587460" y="2819330"/>
            <a:ext cx="507987" cy="202560"/>
          </a:xfrm>
          <a:prstGeom prst="rect">
            <a:avLst/>
          </a:prstGeom>
          <a:noFill/>
          <a:ln/>
        </p:spPr>
        <p:txBody>
          <a:bodyPr wrap="square" lIns="0" tIns="0" rIns="0" bIns="0" rtlCol="0" anchor="t">
            <a:normAutofit/>
          </a:bodyPr>
          <a:lstStyle/>
          <a:p>
            <a:pPr algn="l" indent="0" marL="0">
              <a:buNone/>
            </a:pPr>
            <a:r>
              <a:rPr lang="en-US" sz="1100" b="1" dirty="0">
                <a:solidFill>
                  <a:srgbClr val="106BEF"/>
                </a:solidFill>
                <a:latin typeface="Microsoft YaHei" pitchFamily="34" charset="0"/>
                <a:ea typeface="Microsoft YaHei" pitchFamily="34" charset="-122"/>
                <a:cs typeface="Microsoft YaHei" pitchFamily="34" charset="-120"/>
              </a:rPr>
              <a:t>输入</a:t>
            </a:r>
            <a:endParaRPr lang="en-US" sz="1100" dirty="0"/>
          </a:p>
        </p:txBody>
      </p:sp>
      <p:sp>
        <p:nvSpPr>
          <p:cNvPr id="40" name="Text 30"/>
          <p:cNvSpPr/>
          <p:nvPr/>
        </p:nvSpPr>
        <p:spPr>
          <a:xfrm>
            <a:off x="1587460" y="3086023"/>
            <a:ext cx="1019023"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产品材料</a:t>
            </a:r>
            <a:endParaRPr lang="en-US" sz="1550" dirty="0"/>
          </a:p>
        </p:txBody>
      </p:sp>
      <p:sp>
        <p:nvSpPr>
          <p:cNvPr id="41" name="Text 31"/>
          <p:cNvSpPr/>
          <p:nvPr/>
        </p:nvSpPr>
        <p:spPr>
          <a:xfrm>
            <a:off x="1295368" y="3670208"/>
            <a:ext cx="1582888"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用户场景 / 业务目标</a:t>
            </a:r>
            <a:endParaRPr lang="en-US" sz="1150" dirty="0"/>
          </a:p>
        </p:txBody>
      </p:sp>
      <p:sp>
        <p:nvSpPr>
          <p:cNvPr id="42" name="Text 32"/>
          <p:cNvSpPr/>
          <p:nvPr/>
        </p:nvSpPr>
        <p:spPr>
          <a:xfrm>
            <a:off x="1295368" y="4013100"/>
            <a:ext cx="1582888"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设计约束 / 历史决策</a:t>
            </a:r>
            <a:endParaRPr lang="en-US" sz="1150" dirty="0"/>
          </a:p>
        </p:txBody>
      </p:sp>
      <p:sp>
        <p:nvSpPr>
          <p:cNvPr id="43" name="Text 33"/>
          <p:cNvSpPr/>
          <p:nvPr/>
        </p:nvSpPr>
        <p:spPr>
          <a:xfrm>
            <a:off x="1295368" y="4355991"/>
            <a:ext cx="1407633"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非目标与风险来源</a:t>
            </a:r>
            <a:endParaRPr lang="en-US" sz="1150" dirty="0"/>
          </a:p>
        </p:txBody>
      </p:sp>
      <p:sp>
        <p:nvSpPr>
          <p:cNvPr id="44" name="Text 34"/>
          <p:cNvSpPr/>
          <p:nvPr/>
        </p:nvSpPr>
        <p:spPr>
          <a:xfrm>
            <a:off x="5581510" y="2819330"/>
            <a:ext cx="785856" cy="202560"/>
          </a:xfrm>
          <a:prstGeom prst="rect">
            <a:avLst/>
          </a:prstGeom>
          <a:noFill/>
          <a:ln/>
        </p:spPr>
        <p:txBody>
          <a:bodyPr wrap="square" lIns="0" tIns="0" rIns="0" bIns="0" rtlCol="0" anchor="t">
            <a:normAutofit/>
          </a:bodyPr>
          <a:lstStyle/>
          <a:p>
            <a:pPr algn="l" indent="0" marL="0">
              <a:buNone/>
            </a:pPr>
            <a:r>
              <a:rPr lang="en-US" sz="1100" b="1" dirty="0">
                <a:solidFill>
                  <a:srgbClr val="106BEF"/>
                </a:solidFill>
                <a:latin typeface="Microsoft YaHei" pitchFamily="34" charset="0"/>
                <a:ea typeface="Microsoft YaHei" pitchFamily="34" charset="-122"/>
                <a:cs typeface="Microsoft YaHei" pitchFamily="34" charset="-120"/>
              </a:rPr>
              <a:t>阶段产物</a:t>
            </a:r>
            <a:endParaRPr lang="en-US" sz="1100" dirty="0"/>
          </a:p>
        </p:txBody>
      </p:sp>
      <p:sp>
        <p:nvSpPr>
          <p:cNvPr id="45" name="Text 35"/>
          <p:cNvSpPr/>
          <p:nvPr/>
        </p:nvSpPr>
        <p:spPr>
          <a:xfrm>
            <a:off x="5581510" y="3086023"/>
            <a:ext cx="1019023"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任务说明</a:t>
            </a:r>
            <a:endParaRPr lang="en-US" sz="1550" dirty="0"/>
          </a:p>
        </p:txBody>
      </p:sp>
      <p:sp>
        <p:nvSpPr>
          <p:cNvPr id="46" name="Text 36"/>
          <p:cNvSpPr/>
          <p:nvPr/>
        </p:nvSpPr>
        <p:spPr>
          <a:xfrm>
            <a:off x="5314817" y="3574961"/>
            <a:ext cx="513829"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目标</a:t>
            </a:r>
            <a:endParaRPr lang="en-US" sz="1150" dirty="0"/>
          </a:p>
        </p:txBody>
      </p:sp>
      <p:sp>
        <p:nvSpPr>
          <p:cNvPr id="47" name="Text 37"/>
          <p:cNvSpPr/>
          <p:nvPr/>
        </p:nvSpPr>
        <p:spPr>
          <a:xfrm>
            <a:off x="5886303" y="3581310"/>
            <a:ext cx="895963"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要解决什么</a:t>
            </a:r>
            <a:endParaRPr lang="en-US" sz="1050" dirty="0"/>
          </a:p>
        </p:txBody>
      </p:sp>
      <p:sp>
        <p:nvSpPr>
          <p:cNvPr id="48" name="Text 38"/>
          <p:cNvSpPr/>
          <p:nvPr/>
        </p:nvSpPr>
        <p:spPr>
          <a:xfrm>
            <a:off x="5314817" y="3867053"/>
            <a:ext cx="662796" cy="211767"/>
          </a:xfrm>
          <a:prstGeom prst="rect">
            <a:avLst/>
          </a:prstGeom>
          <a:noFill/>
          <a:ln/>
        </p:spPr>
        <p:txBody>
          <a:bodyPr wrap="square" lIns="0" tIns="0" rIns="0" bIns="0" rtlCol="0" anchor="t">
            <a:normAutofit/>
          </a:bodyPr>
          <a:lstStyle/>
          <a:p>
            <a:pPr algn="l" indent="0" marL="0">
              <a:buNone/>
            </a:pPr>
            <a:r>
              <a:rPr lang="en-US" sz="1150" b="1" dirty="0">
                <a:solidFill>
                  <a:srgbClr val="FF5A1F"/>
                </a:solidFill>
                <a:latin typeface="Microsoft YaHei" pitchFamily="34" charset="0"/>
                <a:ea typeface="Microsoft YaHei" pitchFamily="34" charset="-122"/>
                <a:cs typeface="Microsoft YaHei" pitchFamily="34" charset="-120"/>
              </a:rPr>
              <a:t>非目标</a:t>
            </a:r>
            <a:endParaRPr lang="en-US" sz="1150" dirty="0"/>
          </a:p>
        </p:txBody>
      </p:sp>
      <p:sp>
        <p:nvSpPr>
          <p:cNvPr id="49" name="Text 39"/>
          <p:cNvSpPr/>
          <p:nvPr/>
        </p:nvSpPr>
        <p:spPr>
          <a:xfrm>
            <a:off x="5886303" y="3873403"/>
            <a:ext cx="1031976"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本轮不做什么</a:t>
            </a:r>
            <a:endParaRPr lang="en-US" sz="1050" dirty="0"/>
          </a:p>
        </p:txBody>
      </p:sp>
      <p:sp>
        <p:nvSpPr>
          <p:cNvPr id="50" name="Text 40"/>
          <p:cNvSpPr/>
          <p:nvPr/>
        </p:nvSpPr>
        <p:spPr>
          <a:xfrm>
            <a:off x="5314817" y="4159146"/>
            <a:ext cx="513829"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验收</a:t>
            </a:r>
            <a:endParaRPr lang="en-US" sz="1150" dirty="0"/>
          </a:p>
        </p:txBody>
      </p:sp>
      <p:sp>
        <p:nvSpPr>
          <p:cNvPr id="51" name="Text 41"/>
          <p:cNvSpPr/>
          <p:nvPr/>
        </p:nvSpPr>
        <p:spPr>
          <a:xfrm>
            <a:off x="5886303" y="4165496"/>
            <a:ext cx="1031976"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如何判断完成</a:t>
            </a:r>
            <a:endParaRPr lang="en-US" sz="1050" dirty="0"/>
          </a:p>
        </p:txBody>
      </p:sp>
      <p:sp>
        <p:nvSpPr>
          <p:cNvPr id="52" name="Text 42"/>
          <p:cNvSpPr/>
          <p:nvPr/>
        </p:nvSpPr>
        <p:spPr>
          <a:xfrm>
            <a:off x="5314817" y="4451239"/>
            <a:ext cx="513829" cy="211767"/>
          </a:xfrm>
          <a:prstGeom prst="rect">
            <a:avLst/>
          </a:prstGeom>
          <a:noFill/>
          <a:ln/>
        </p:spPr>
        <p:txBody>
          <a:bodyPr wrap="square" lIns="0" tIns="0" rIns="0" bIns="0" rtlCol="0" anchor="t">
            <a:normAutofit/>
          </a:bodyPr>
          <a:lstStyle/>
          <a:p>
            <a:pPr algn="l" indent="0" marL="0">
              <a:buNone/>
            </a:pPr>
            <a:r>
              <a:rPr lang="en-US" sz="1150" b="1" dirty="0">
                <a:solidFill>
                  <a:srgbClr val="FF5A1F"/>
                </a:solidFill>
                <a:latin typeface="Microsoft YaHei" pitchFamily="34" charset="0"/>
                <a:ea typeface="Microsoft YaHei" pitchFamily="34" charset="-122"/>
                <a:cs typeface="Microsoft YaHei" pitchFamily="34" charset="-120"/>
              </a:rPr>
              <a:t>风险</a:t>
            </a:r>
            <a:endParaRPr lang="en-US" sz="1150" dirty="0"/>
          </a:p>
        </p:txBody>
      </p:sp>
      <p:sp>
        <p:nvSpPr>
          <p:cNvPr id="53" name="Text 43"/>
          <p:cNvSpPr/>
          <p:nvPr/>
        </p:nvSpPr>
        <p:spPr>
          <a:xfrm>
            <a:off x="5886303" y="4457589"/>
            <a:ext cx="1167990"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哪些边界要守住</a:t>
            </a:r>
            <a:endParaRPr lang="en-US" sz="1050" dirty="0"/>
          </a:p>
        </p:txBody>
      </p:sp>
      <p:sp>
        <p:nvSpPr>
          <p:cNvPr id="54" name="Text 44"/>
          <p:cNvSpPr/>
          <p:nvPr/>
        </p:nvSpPr>
        <p:spPr>
          <a:xfrm>
            <a:off x="9575561" y="2819330"/>
            <a:ext cx="507987" cy="202560"/>
          </a:xfrm>
          <a:prstGeom prst="rect">
            <a:avLst/>
          </a:prstGeom>
          <a:noFill/>
          <a:ln/>
        </p:spPr>
        <p:txBody>
          <a:bodyPr wrap="square" lIns="0" tIns="0" rIns="0" bIns="0" rtlCol="0" anchor="t">
            <a:normAutofit/>
          </a:bodyPr>
          <a:lstStyle/>
          <a:p>
            <a:pPr algn="l" indent="0" marL="0">
              <a:buNone/>
            </a:pPr>
            <a:r>
              <a:rPr lang="en-US" sz="1100" b="1" dirty="0">
                <a:solidFill>
                  <a:srgbClr val="FF5A1F"/>
                </a:solidFill>
                <a:latin typeface="Microsoft YaHei" pitchFamily="34" charset="0"/>
                <a:ea typeface="Microsoft YaHei" pitchFamily="34" charset="-122"/>
                <a:cs typeface="Microsoft YaHei" pitchFamily="34" charset="-120"/>
              </a:rPr>
              <a:t>判断</a:t>
            </a:r>
            <a:endParaRPr lang="en-US" sz="1100" dirty="0"/>
          </a:p>
        </p:txBody>
      </p:sp>
      <p:sp>
        <p:nvSpPr>
          <p:cNvPr id="55" name="Text 45"/>
          <p:cNvSpPr/>
          <p:nvPr/>
        </p:nvSpPr>
        <p:spPr>
          <a:xfrm>
            <a:off x="9575561" y="3086023"/>
            <a:ext cx="1019023" cy="285425"/>
          </a:xfrm>
          <a:prstGeom prst="rect">
            <a:avLst/>
          </a:prstGeom>
          <a:noFill/>
          <a:ln/>
        </p:spPr>
        <p:txBody>
          <a:bodyPr wrap="square" lIns="0" tIns="0" rIns="0" bIns="0" rtlCol="0" anchor="t">
            <a:normAutofit/>
          </a:bodyPr>
          <a:lstStyle/>
          <a:p>
            <a:pPr algn="l" indent="0" marL="0">
              <a:buNone/>
            </a:pPr>
            <a:r>
              <a:rPr lang="en-US" sz="1550" b="1" dirty="0">
                <a:solidFill>
                  <a:srgbClr val="050608"/>
                </a:solidFill>
                <a:latin typeface="Microsoft YaHei" pitchFamily="34" charset="0"/>
                <a:ea typeface="Microsoft YaHei" pitchFamily="34" charset="-122"/>
                <a:cs typeface="Microsoft YaHei" pitchFamily="34" charset="-120"/>
              </a:rPr>
              <a:t>人机分工</a:t>
            </a:r>
            <a:endParaRPr lang="en-US" sz="1550" dirty="0"/>
          </a:p>
        </p:txBody>
      </p:sp>
      <p:sp>
        <p:nvSpPr>
          <p:cNvPr id="56" name="Text 46"/>
          <p:cNvSpPr/>
          <p:nvPr/>
        </p:nvSpPr>
        <p:spPr>
          <a:xfrm>
            <a:off x="9283468" y="3670208"/>
            <a:ext cx="2056079"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人：取舍 / 责任 / 成功定义</a:t>
            </a:r>
            <a:endParaRPr lang="en-US" sz="1150" dirty="0"/>
          </a:p>
        </p:txBody>
      </p:sp>
      <p:sp>
        <p:nvSpPr>
          <p:cNvPr id="57" name="Text 47"/>
          <p:cNvSpPr/>
          <p:nvPr/>
        </p:nvSpPr>
        <p:spPr>
          <a:xfrm>
            <a:off x="9283468" y="4013100"/>
            <a:ext cx="2105734"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AI：拆解 / 检索 / 计划草稿</a:t>
            </a:r>
            <a:endParaRPr lang="en-US" sz="1150" dirty="0"/>
          </a:p>
        </p:txBody>
      </p:sp>
      <p:sp>
        <p:nvSpPr>
          <p:cNvPr id="58" name="Text 48"/>
          <p:cNvSpPr/>
          <p:nvPr/>
        </p:nvSpPr>
        <p:spPr>
          <a:xfrm>
            <a:off x="9283468" y="4355991"/>
            <a:ext cx="1705567"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系统：记录来源与边界</a:t>
            </a:r>
            <a:endParaRPr lang="en-US" sz="1150" dirty="0"/>
          </a:p>
        </p:txBody>
      </p:sp>
      <p:sp>
        <p:nvSpPr>
          <p:cNvPr id="59" name="Text 49"/>
          <p:cNvSpPr/>
          <p:nvPr/>
        </p:nvSpPr>
        <p:spPr>
          <a:xfrm>
            <a:off x="1079473" y="6060447"/>
            <a:ext cx="10032749" cy="248596"/>
          </a:xfrm>
          <a:prstGeom prst="rect">
            <a:avLst/>
          </a:prstGeom>
          <a:noFill/>
          <a:ln/>
        </p:spPr>
        <p:txBody>
          <a:bodyPr wrap="square" lIns="0" tIns="0" rIns="0" bIns="0" rtlCol="0" anchor="ctr">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任务说明定义 Agent 执行的准入条件：先明确目标、边界、验收与风险。</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08-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08-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08-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019250"/>
            <a:ext cx="711182" cy="0"/>
          </a:xfrm>
          <a:prstGeom prst="line">
            <a:avLst/>
          </a:prstGeom>
          <a:noFill/>
          <a:ln w="50799">
            <a:solidFill>
              <a:srgbClr val="106BEF"/>
            </a:solidFill>
            <a:prstDash val="solid"/>
            <a:headEnd type="none"/>
            <a:tailEnd type="none"/>
          </a:ln>
        </p:spPr>
      </p:sp>
      <p:sp>
        <p:nvSpPr>
          <p:cNvPr id="10" name="Shape 5"/>
          <p:cNvSpPr/>
          <p:nvPr/>
        </p:nvSpPr>
        <p:spPr>
          <a:xfrm>
            <a:off x="1425539" y="1984325"/>
            <a:ext cx="69848" cy="69848"/>
          </a:xfrm>
          <a:prstGeom prst="ellipse">
            <a:avLst/>
          </a:prstGeom>
          <a:solidFill>
            <a:srgbClr val="FF5A1F"/>
          </a:solidFill>
          <a:ln w="12700">
            <a:solidFill>
              <a:srgbClr val="FFFFFF">
                <a:alpha val="0"/>
              </a:srgbClr>
            </a:solidFill>
            <a:prstDash val="solid"/>
          </a:ln>
        </p:spPr>
      </p:sp>
      <p:sp>
        <p:nvSpPr>
          <p:cNvPr id="11" name="Shape 6"/>
          <p:cNvSpPr/>
          <p:nvPr/>
        </p:nvSpPr>
        <p:spPr>
          <a:xfrm>
            <a:off x="749281" y="2730432"/>
            <a:ext cx="2158946" cy="1765256"/>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2" name="Shape 7"/>
          <p:cNvSpPr/>
          <p:nvPr/>
        </p:nvSpPr>
        <p:spPr>
          <a:xfrm>
            <a:off x="914377" y="2908227"/>
            <a:ext cx="457189" cy="457189"/>
          </a:xfrm>
          <a:prstGeom prst="ellipse">
            <a:avLst/>
          </a:prstGeom>
          <a:solidFill>
            <a:srgbClr val="106BEF">
              <a:alpha val="11000"/>
            </a:srgbClr>
          </a:solidFill>
          <a:ln w="12700">
            <a:solidFill>
              <a:srgbClr val="FFFFFF">
                <a:alpha val="0"/>
              </a:srgbClr>
            </a:solidFill>
            <a:prstDash val="solid"/>
          </a:ln>
        </p:spPr>
      </p:sp>
      <p:pic>
        <p:nvPicPr>
          <p:cNvPr id="13" name="Image 3" descr="D:\workspace\worktree_for_vcoder\BitFun\docs\report\ai-redefines-software-development-presentation\agents_are_the_new_Agile-slides-png-v0.18\slide-08-layer-12.png">    </p:cNvPr>
          <p:cNvPicPr>
            <a:picLocks noChangeAspect="1"/>
          </p:cNvPicPr>
          <p:nvPr/>
        </p:nvPicPr>
        <p:blipFill>
          <a:blip r:embed="rId4"/>
          <a:stretch>
            <a:fillRect/>
          </a:stretch>
        </p:blipFill>
        <p:spPr>
          <a:xfrm>
            <a:off x="0" y="0"/>
            <a:ext cx="12191695" cy="6858000"/>
          </a:xfrm>
          <a:prstGeom prst="rect">
            <a:avLst/>
          </a:prstGeom>
        </p:spPr>
      </p:pic>
      <p:sp>
        <p:nvSpPr>
          <p:cNvPr id="14" name="Shape 8"/>
          <p:cNvSpPr/>
          <p:nvPr/>
        </p:nvSpPr>
        <p:spPr>
          <a:xfrm>
            <a:off x="1054074" y="3771806"/>
            <a:ext cx="1549361" cy="0"/>
          </a:xfrm>
          <a:prstGeom prst="line">
            <a:avLst/>
          </a:prstGeom>
          <a:noFill/>
          <a:ln w="22859">
            <a:solidFill>
              <a:srgbClr val="106BEF">
                <a:alpha val="62000"/>
              </a:srgbClr>
            </a:solidFill>
            <a:prstDash val="solid"/>
            <a:headEnd type="none"/>
            <a:tailEnd type="none"/>
          </a:ln>
        </p:spPr>
      </p:sp>
      <p:sp>
        <p:nvSpPr>
          <p:cNvPr id="15" name="Shape 9"/>
          <p:cNvSpPr/>
          <p:nvPr/>
        </p:nvSpPr>
        <p:spPr>
          <a:xfrm>
            <a:off x="3594010" y="2730432"/>
            <a:ext cx="2158946" cy="1765256"/>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6" name="Shape 10"/>
          <p:cNvSpPr/>
          <p:nvPr/>
        </p:nvSpPr>
        <p:spPr>
          <a:xfrm>
            <a:off x="3759106" y="2908227"/>
            <a:ext cx="457189" cy="457189"/>
          </a:xfrm>
          <a:prstGeom prst="ellipse">
            <a:avLst/>
          </a:prstGeom>
          <a:solidFill>
            <a:srgbClr val="FF5A1F">
              <a:alpha val="11000"/>
            </a:srgbClr>
          </a:solidFill>
          <a:ln w="12700">
            <a:solidFill>
              <a:srgbClr val="FFFFFF">
                <a:alpha val="0"/>
              </a:srgbClr>
            </a:solidFill>
            <a:prstDash val="solid"/>
          </a:ln>
        </p:spPr>
      </p:sp>
      <p:pic>
        <p:nvPicPr>
          <p:cNvPr id="17" name="Image 4" descr="D:\workspace\worktree_for_vcoder\BitFun\docs\report\ai-redefines-software-development-presentation\agents_are_the_new_Agile-slides-png-v0.18\slide-08-layer-16.png">    </p:cNvPr>
          <p:cNvPicPr>
            <a:picLocks noChangeAspect="1"/>
          </p:cNvPicPr>
          <p:nvPr/>
        </p:nvPicPr>
        <p:blipFill>
          <a:blip r:embed="rId5"/>
          <a:stretch>
            <a:fillRect/>
          </a:stretch>
        </p:blipFill>
        <p:spPr>
          <a:xfrm>
            <a:off x="0" y="0"/>
            <a:ext cx="12191695" cy="6858000"/>
          </a:xfrm>
          <a:prstGeom prst="rect">
            <a:avLst/>
          </a:prstGeom>
        </p:spPr>
      </p:pic>
      <p:sp>
        <p:nvSpPr>
          <p:cNvPr id="18" name="Shape 11"/>
          <p:cNvSpPr/>
          <p:nvPr/>
        </p:nvSpPr>
        <p:spPr>
          <a:xfrm>
            <a:off x="3898803" y="3771806"/>
            <a:ext cx="1549361" cy="0"/>
          </a:xfrm>
          <a:prstGeom prst="line">
            <a:avLst/>
          </a:prstGeom>
          <a:noFill/>
          <a:ln w="22859">
            <a:solidFill>
              <a:srgbClr val="FF5A1F">
                <a:alpha val="62000"/>
              </a:srgbClr>
            </a:solidFill>
            <a:prstDash val="solid"/>
            <a:headEnd type="none"/>
            <a:tailEnd type="none"/>
          </a:ln>
        </p:spPr>
      </p:sp>
      <p:sp>
        <p:nvSpPr>
          <p:cNvPr id="19" name="Shape 12"/>
          <p:cNvSpPr/>
          <p:nvPr/>
        </p:nvSpPr>
        <p:spPr>
          <a:xfrm>
            <a:off x="6438739" y="2730432"/>
            <a:ext cx="2158946" cy="1765256"/>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0" name="Shape 13"/>
          <p:cNvSpPr/>
          <p:nvPr/>
        </p:nvSpPr>
        <p:spPr>
          <a:xfrm>
            <a:off x="6603835" y="2908227"/>
            <a:ext cx="457189" cy="457189"/>
          </a:xfrm>
          <a:prstGeom prst="ellipse">
            <a:avLst/>
          </a:prstGeom>
          <a:solidFill>
            <a:srgbClr val="106BEF">
              <a:alpha val="11000"/>
            </a:srgbClr>
          </a:solidFill>
          <a:ln w="12700">
            <a:solidFill>
              <a:srgbClr val="FFFFFF">
                <a:alpha val="0"/>
              </a:srgbClr>
            </a:solidFill>
            <a:prstDash val="solid"/>
          </a:ln>
        </p:spPr>
      </p:sp>
      <p:pic>
        <p:nvPicPr>
          <p:cNvPr id="21" name="Image 5" descr="D:\workspace\worktree_for_vcoder\BitFun\docs\report\ai-redefines-software-development-presentation\agents_are_the_new_Agile-slides-png-v0.18\slide-08-layer-20.png">    </p:cNvPr>
          <p:cNvPicPr>
            <a:picLocks noChangeAspect="1"/>
          </p:cNvPicPr>
          <p:nvPr/>
        </p:nvPicPr>
        <p:blipFill>
          <a:blip r:embed="rId6"/>
          <a:stretch>
            <a:fillRect/>
          </a:stretch>
        </p:blipFill>
        <p:spPr>
          <a:xfrm>
            <a:off x="0" y="0"/>
            <a:ext cx="12191695" cy="6858000"/>
          </a:xfrm>
          <a:prstGeom prst="rect">
            <a:avLst/>
          </a:prstGeom>
        </p:spPr>
      </p:pic>
      <p:sp>
        <p:nvSpPr>
          <p:cNvPr id="22" name="Shape 14"/>
          <p:cNvSpPr/>
          <p:nvPr/>
        </p:nvSpPr>
        <p:spPr>
          <a:xfrm>
            <a:off x="6743531" y="3771806"/>
            <a:ext cx="1549361" cy="0"/>
          </a:xfrm>
          <a:prstGeom prst="line">
            <a:avLst/>
          </a:prstGeom>
          <a:noFill/>
          <a:ln w="22859">
            <a:solidFill>
              <a:srgbClr val="106BEF">
                <a:alpha val="62000"/>
              </a:srgbClr>
            </a:solidFill>
            <a:prstDash val="solid"/>
            <a:headEnd type="none"/>
            <a:tailEnd type="none"/>
          </a:ln>
        </p:spPr>
      </p:sp>
      <p:sp>
        <p:nvSpPr>
          <p:cNvPr id="23" name="Shape 15"/>
          <p:cNvSpPr/>
          <p:nvPr/>
        </p:nvSpPr>
        <p:spPr>
          <a:xfrm>
            <a:off x="9283468" y="2730432"/>
            <a:ext cx="2158946" cy="1765256"/>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4" name="Shape 16"/>
          <p:cNvSpPr/>
          <p:nvPr/>
        </p:nvSpPr>
        <p:spPr>
          <a:xfrm>
            <a:off x="9448564" y="2908227"/>
            <a:ext cx="457189" cy="457189"/>
          </a:xfrm>
          <a:prstGeom prst="ellipse">
            <a:avLst/>
          </a:prstGeom>
          <a:solidFill>
            <a:srgbClr val="FF5A1F">
              <a:alpha val="11000"/>
            </a:srgbClr>
          </a:solidFill>
          <a:ln w="12700">
            <a:solidFill>
              <a:srgbClr val="FFFFFF">
                <a:alpha val="0"/>
              </a:srgbClr>
            </a:solidFill>
            <a:prstDash val="solid"/>
          </a:ln>
        </p:spPr>
      </p:sp>
      <p:pic>
        <p:nvPicPr>
          <p:cNvPr id="25" name="Image 6" descr="D:\workspace\worktree_for_vcoder\BitFun\docs\report\ai-redefines-software-development-presentation\agents_are_the_new_Agile-slides-png-v0.18\slide-08-layer-24.png">    </p:cNvPr>
          <p:cNvPicPr>
            <a:picLocks noChangeAspect="1"/>
          </p:cNvPicPr>
          <p:nvPr/>
        </p:nvPicPr>
        <p:blipFill>
          <a:blip r:embed="rId7"/>
          <a:stretch>
            <a:fillRect/>
          </a:stretch>
        </p:blipFill>
        <p:spPr>
          <a:xfrm>
            <a:off x="0" y="0"/>
            <a:ext cx="12191695" cy="6858000"/>
          </a:xfrm>
          <a:prstGeom prst="rect">
            <a:avLst/>
          </a:prstGeom>
        </p:spPr>
      </p:pic>
      <p:sp>
        <p:nvSpPr>
          <p:cNvPr id="26" name="Shape 17"/>
          <p:cNvSpPr/>
          <p:nvPr/>
        </p:nvSpPr>
        <p:spPr>
          <a:xfrm>
            <a:off x="9588260" y="3771806"/>
            <a:ext cx="1549361" cy="0"/>
          </a:xfrm>
          <a:prstGeom prst="line">
            <a:avLst/>
          </a:prstGeom>
          <a:noFill/>
          <a:ln w="22859">
            <a:solidFill>
              <a:srgbClr val="FF5A1F">
                <a:alpha val="62000"/>
              </a:srgbClr>
            </a:solidFill>
            <a:prstDash val="solid"/>
            <a:headEnd type="none"/>
            <a:tailEnd type="none"/>
          </a:ln>
        </p:spPr>
      </p:sp>
      <p:pic>
        <p:nvPicPr>
          <p:cNvPr id="27" name="Image 7" descr="D:\workspace\worktree_for_vcoder\BitFun\docs\report\ai-redefines-software-development-presentation\agents_are_the_new_Agile-slides-png-v0.18\slide-08-layer-26.png">    </p:cNvPr>
          <p:cNvPicPr>
            <a:picLocks noChangeAspect="1"/>
          </p:cNvPicPr>
          <p:nvPr/>
        </p:nvPicPr>
        <p:blipFill>
          <a:blip r:embed="rId8"/>
          <a:stretch>
            <a:fillRect/>
          </a:stretch>
        </p:blipFill>
        <p:spPr>
          <a:xfrm>
            <a:off x="0" y="0"/>
            <a:ext cx="12191695" cy="6858000"/>
          </a:xfrm>
          <a:prstGeom prst="rect">
            <a:avLst/>
          </a:prstGeom>
        </p:spPr>
      </p:pic>
      <p:sp>
        <p:nvSpPr>
          <p:cNvPr id="28" name="Shape 18"/>
          <p:cNvSpPr/>
          <p:nvPr/>
        </p:nvSpPr>
        <p:spPr>
          <a:xfrm>
            <a:off x="1765256" y="5003675"/>
            <a:ext cx="8661183" cy="469888"/>
          </a:xfrm>
          <a:prstGeom prst="roundRect">
            <a:avLst/>
          </a:prstGeom>
          <a:solidFill>
            <a:srgbClr val="FBFAF7"/>
          </a:solidFill>
          <a:ln w="12700">
            <a:solidFill>
              <a:srgbClr val="C4C6C1"/>
            </a:solidFill>
            <a:prstDash val="solid"/>
          </a:ln>
        </p:spPr>
      </p:sp>
      <p:sp>
        <p:nvSpPr>
          <p:cNvPr id="29" name="Shape 19"/>
          <p:cNvSpPr/>
          <p:nvPr/>
        </p:nvSpPr>
        <p:spPr>
          <a:xfrm>
            <a:off x="1079473" y="6057749"/>
            <a:ext cx="10032749" cy="406390"/>
          </a:xfrm>
          <a:prstGeom prst="roundRect">
            <a:avLst/>
          </a:prstGeom>
          <a:solidFill>
            <a:srgbClr val="FFFFFF"/>
          </a:solidFill>
          <a:ln w="12700">
            <a:solidFill>
              <a:srgbClr val="C4C6C1"/>
            </a:solidFill>
            <a:prstDash val="solid"/>
          </a:ln>
        </p:spPr>
      </p:sp>
      <p:sp>
        <p:nvSpPr>
          <p:cNvPr id="30" name="Shape 20"/>
          <p:cNvSpPr/>
          <p:nvPr/>
        </p:nvSpPr>
        <p:spPr>
          <a:xfrm>
            <a:off x="1523962" y="6165696"/>
            <a:ext cx="0" cy="190495"/>
          </a:xfrm>
          <a:prstGeom prst="line">
            <a:avLst/>
          </a:prstGeom>
          <a:noFill/>
          <a:ln w="50799">
            <a:solidFill>
              <a:srgbClr val="106BEF"/>
            </a:solidFill>
            <a:prstDash val="solid"/>
            <a:headEnd type="none"/>
            <a:tailEnd type="none"/>
          </a:ln>
        </p:spPr>
      </p:sp>
      <p:sp>
        <p:nvSpPr>
          <p:cNvPr id="31" name="Text 21"/>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实现到验证</a:t>
            </a:r>
            <a:endParaRPr lang="en-US" sz="3000" dirty="0"/>
          </a:p>
        </p:txBody>
      </p:sp>
      <p:sp>
        <p:nvSpPr>
          <p:cNvPr id="32" name="Text 22"/>
          <p:cNvSpPr/>
          <p:nvPr/>
        </p:nvSpPr>
        <p:spPr>
          <a:xfrm>
            <a:off x="634984" y="1549361"/>
            <a:ext cx="6440136"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允许生成过程探索，但每轮实现必须产出可复现、可比较的验证证据。</a:t>
            </a:r>
            <a:endParaRPr lang="en-US" sz="1550" dirty="0"/>
          </a:p>
        </p:txBody>
      </p:sp>
      <p:sp>
        <p:nvSpPr>
          <p:cNvPr id="33" name="Text 23"/>
          <p:cNvSpPr/>
          <p:nvPr/>
        </p:nvSpPr>
        <p:spPr>
          <a:xfrm>
            <a:off x="812780" y="2260543"/>
            <a:ext cx="4238011"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核心原则：过程可以概率性探索，放行必须依赖确定性验证。</a:t>
            </a:r>
            <a:endParaRPr lang="en-US" sz="1150" dirty="0"/>
          </a:p>
        </p:txBody>
      </p:sp>
      <p:sp>
        <p:nvSpPr>
          <p:cNvPr id="34" name="Text 24"/>
          <p:cNvSpPr/>
          <p:nvPr/>
        </p:nvSpPr>
        <p:spPr>
          <a:xfrm>
            <a:off x="1549361" y="2959026"/>
            <a:ext cx="507987" cy="285425"/>
          </a:xfrm>
          <a:prstGeom prst="rect">
            <a:avLst/>
          </a:prstGeom>
          <a:noFill/>
          <a:ln/>
        </p:spPr>
        <p:txBody>
          <a:bodyPr wrap="square" lIns="0" tIns="0" rIns="0" bIns="0" rtlCol="0" anchor="t">
            <a:normAutofit/>
          </a:bodyPr>
          <a:lstStyle/>
          <a:p>
            <a:pPr algn="l" indent="0" marL="0">
              <a:buNone/>
            </a:pPr>
            <a:r>
              <a:rPr lang="en-US" sz="1550" b="1" dirty="0">
                <a:solidFill>
                  <a:srgbClr val="106BEF"/>
                </a:solidFill>
                <a:latin typeface="Arial" pitchFamily="34" charset="0"/>
                <a:ea typeface="Arial" pitchFamily="34" charset="-122"/>
                <a:cs typeface="Arial" pitchFamily="34" charset="-120"/>
              </a:rPr>
              <a:t>01</a:t>
            </a:r>
            <a:endParaRPr lang="en-US" sz="1550" dirty="0"/>
          </a:p>
        </p:txBody>
      </p:sp>
      <p:sp>
        <p:nvSpPr>
          <p:cNvPr id="35" name="Text 25"/>
          <p:cNvSpPr/>
          <p:nvPr/>
        </p:nvSpPr>
        <p:spPr>
          <a:xfrm>
            <a:off x="1549361" y="32257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隔离执行</a:t>
            </a:r>
            <a:endParaRPr lang="en-US" sz="1450" dirty="0"/>
          </a:p>
        </p:txBody>
      </p:sp>
      <p:sp>
        <p:nvSpPr>
          <p:cNvPr id="36" name="Text 26"/>
          <p:cNvSpPr/>
          <p:nvPr/>
        </p:nvSpPr>
        <p:spPr>
          <a:xfrm>
            <a:off x="1054074" y="3543211"/>
            <a:ext cx="1760049" cy="193353"/>
          </a:xfrm>
          <a:prstGeom prst="rect">
            <a:avLst/>
          </a:prstGeom>
          <a:noFill/>
          <a:ln/>
        </p:spPr>
        <p:txBody>
          <a:bodyPr wrap="square" lIns="0" tIns="0" rIns="0" bIns="0" rtlCol="0" anchor="t">
            <a:normAutofit/>
          </a:bodyPr>
          <a:lstStyle/>
          <a:p>
            <a:pPr algn="l" indent="0" marL="0">
              <a:buNone/>
            </a:pPr>
            <a:r>
              <a:rPr lang="en-US" sz="1050" b="1" dirty="0">
                <a:solidFill>
                  <a:srgbClr val="106BEF"/>
                </a:solidFill>
                <a:latin typeface="Microsoft YaHei" pitchFamily="34" charset="0"/>
                <a:ea typeface="Microsoft YaHei" pitchFamily="34" charset="-122"/>
                <a:cs typeface="Microsoft YaHei" pitchFamily="34" charset="-120"/>
              </a:rPr>
              <a:t>工作区 / 权限 / 工具轨迹</a:t>
            </a:r>
            <a:endParaRPr lang="en-US" sz="1050" dirty="0"/>
          </a:p>
        </p:txBody>
      </p:sp>
      <p:sp>
        <p:nvSpPr>
          <p:cNvPr id="37" name="Text 27"/>
          <p:cNvSpPr/>
          <p:nvPr/>
        </p:nvSpPr>
        <p:spPr>
          <a:xfrm>
            <a:off x="1054074" y="4000400"/>
            <a:ext cx="112265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探索不污染主线</a:t>
            </a:r>
            <a:endParaRPr lang="en-US" sz="1000" dirty="0"/>
          </a:p>
        </p:txBody>
      </p:sp>
      <p:sp>
        <p:nvSpPr>
          <p:cNvPr id="38" name="Text 28"/>
          <p:cNvSpPr/>
          <p:nvPr/>
        </p:nvSpPr>
        <p:spPr>
          <a:xfrm>
            <a:off x="1054074" y="4216295"/>
            <a:ext cx="1252189"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高风险操作可拦截</a:t>
            </a:r>
            <a:endParaRPr lang="en-US" sz="1000" dirty="0"/>
          </a:p>
        </p:txBody>
      </p:sp>
      <p:sp>
        <p:nvSpPr>
          <p:cNvPr id="39" name="Text 29"/>
          <p:cNvSpPr/>
          <p:nvPr/>
        </p:nvSpPr>
        <p:spPr>
          <a:xfrm>
            <a:off x="4394090" y="2959026"/>
            <a:ext cx="507987" cy="285425"/>
          </a:xfrm>
          <a:prstGeom prst="rect">
            <a:avLst/>
          </a:prstGeom>
          <a:noFill/>
          <a:ln/>
        </p:spPr>
        <p:txBody>
          <a:bodyPr wrap="square" lIns="0" tIns="0" rIns="0" bIns="0" rtlCol="0" anchor="t">
            <a:normAutofit/>
          </a:bodyPr>
          <a:lstStyle/>
          <a:p>
            <a:pPr algn="l" indent="0" marL="0">
              <a:buNone/>
            </a:pPr>
            <a:r>
              <a:rPr lang="en-US" sz="1550" b="1" dirty="0">
                <a:solidFill>
                  <a:srgbClr val="FF5A1F"/>
                </a:solidFill>
                <a:latin typeface="Arial" pitchFamily="34" charset="0"/>
                <a:ea typeface="Arial" pitchFamily="34" charset="-122"/>
                <a:cs typeface="Arial" pitchFamily="34" charset="-120"/>
              </a:rPr>
              <a:t>02</a:t>
            </a:r>
            <a:endParaRPr lang="en-US" sz="1550" dirty="0"/>
          </a:p>
        </p:txBody>
      </p:sp>
      <p:sp>
        <p:nvSpPr>
          <p:cNvPr id="40" name="Text 30"/>
          <p:cNvSpPr/>
          <p:nvPr/>
        </p:nvSpPr>
        <p:spPr>
          <a:xfrm>
            <a:off x="4394090" y="32257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生成修改</a:t>
            </a:r>
            <a:endParaRPr lang="en-US" sz="1450" dirty="0"/>
          </a:p>
        </p:txBody>
      </p:sp>
      <p:sp>
        <p:nvSpPr>
          <p:cNvPr id="41" name="Text 31"/>
          <p:cNvSpPr/>
          <p:nvPr/>
        </p:nvSpPr>
        <p:spPr>
          <a:xfrm>
            <a:off x="3898803" y="3543211"/>
            <a:ext cx="1352008" cy="193353"/>
          </a:xfrm>
          <a:prstGeom prst="rect">
            <a:avLst/>
          </a:prstGeom>
          <a:noFill/>
          <a:ln/>
        </p:spPr>
        <p:txBody>
          <a:bodyPr wrap="square" lIns="0" tIns="0" rIns="0" bIns="0" rtlCol="0" anchor="t">
            <a:normAutofit/>
          </a:bodyPr>
          <a:lstStyle/>
          <a:p>
            <a:pPr algn="l" indent="0" marL="0">
              <a:buNone/>
            </a:pPr>
            <a:r>
              <a:rPr lang="en-US" sz="1050" b="1" dirty="0">
                <a:solidFill>
                  <a:srgbClr val="FF5A1F"/>
                </a:solidFill>
                <a:latin typeface="Microsoft YaHei" pitchFamily="34" charset="0"/>
                <a:ea typeface="Microsoft YaHei" pitchFamily="34" charset="-122"/>
                <a:cs typeface="Microsoft YaHei" pitchFamily="34" charset="-120"/>
              </a:rPr>
              <a:t>代码 / 测试 / 文档</a:t>
            </a:r>
            <a:endParaRPr lang="en-US" sz="1050" dirty="0"/>
          </a:p>
        </p:txBody>
      </p:sp>
      <p:sp>
        <p:nvSpPr>
          <p:cNvPr id="42" name="Text 32"/>
          <p:cNvSpPr/>
          <p:nvPr/>
        </p:nvSpPr>
        <p:spPr>
          <a:xfrm>
            <a:off x="3898803" y="4000400"/>
            <a:ext cx="112265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按任务契约实施</a:t>
            </a:r>
            <a:endParaRPr lang="en-US" sz="1000" dirty="0"/>
          </a:p>
        </p:txBody>
      </p:sp>
      <p:sp>
        <p:nvSpPr>
          <p:cNvPr id="43" name="Text 33"/>
          <p:cNvSpPr/>
          <p:nvPr/>
        </p:nvSpPr>
        <p:spPr>
          <a:xfrm>
            <a:off x="3898803" y="4216295"/>
            <a:ext cx="1252189"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每轮记录改动意图</a:t>
            </a:r>
            <a:endParaRPr lang="en-US" sz="1000" dirty="0"/>
          </a:p>
        </p:txBody>
      </p:sp>
      <p:sp>
        <p:nvSpPr>
          <p:cNvPr id="44" name="Text 34"/>
          <p:cNvSpPr/>
          <p:nvPr/>
        </p:nvSpPr>
        <p:spPr>
          <a:xfrm>
            <a:off x="7238819" y="2959026"/>
            <a:ext cx="507987" cy="285425"/>
          </a:xfrm>
          <a:prstGeom prst="rect">
            <a:avLst/>
          </a:prstGeom>
          <a:noFill/>
          <a:ln/>
        </p:spPr>
        <p:txBody>
          <a:bodyPr wrap="square" lIns="0" tIns="0" rIns="0" bIns="0" rtlCol="0" anchor="t">
            <a:normAutofit/>
          </a:bodyPr>
          <a:lstStyle/>
          <a:p>
            <a:pPr algn="l" indent="0" marL="0">
              <a:buNone/>
            </a:pPr>
            <a:r>
              <a:rPr lang="en-US" sz="1550" b="1" dirty="0">
                <a:solidFill>
                  <a:srgbClr val="106BEF"/>
                </a:solidFill>
                <a:latin typeface="Arial" pitchFamily="34" charset="0"/>
                <a:ea typeface="Arial" pitchFamily="34" charset="-122"/>
                <a:cs typeface="Arial" pitchFamily="34" charset="-120"/>
              </a:rPr>
              <a:t>03</a:t>
            </a:r>
            <a:endParaRPr lang="en-US" sz="1550" dirty="0"/>
          </a:p>
        </p:txBody>
      </p:sp>
      <p:sp>
        <p:nvSpPr>
          <p:cNvPr id="45" name="Text 35"/>
          <p:cNvSpPr/>
          <p:nvPr/>
        </p:nvSpPr>
        <p:spPr>
          <a:xfrm>
            <a:off x="7238819" y="32257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验证矩阵</a:t>
            </a:r>
            <a:endParaRPr lang="en-US" sz="1450" dirty="0"/>
          </a:p>
        </p:txBody>
      </p:sp>
      <p:sp>
        <p:nvSpPr>
          <p:cNvPr id="46" name="Text 36"/>
          <p:cNvSpPr/>
          <p:nvPr/>
        </p:nvSpPr>
        <p:spPr>
          <a:xfrm>
            <a:off x="6743531" y="3543211"/>
            <a:ext cx="1938734" cy="193353"/>
          </a:xfrm>
          <a:prstGeom prst="rect">
            <a:avLst/>
          </a:prstGeom>
          <a:noFill/>
          <a:ln/>
        </p:spPr>
        <p:txBody>
          <a:bodyPr wrap="square" lIns="0" tIns="0" rIns="0" bIns="0" rtlCol="0" anchor="t">
            <a:normAutofit/>
          </a:bodyPr>
          <a:lstStyle/>
          <a:p>
            <a:pPr algn="l" indent="0" marL="0">
              <a:buNone/>
            </a:pPr>
            <a:r>
              <a:rPr lang="en-US" sz="1050" b="1" dirty="0">
                <a:solidFill>
                  <a:srgbClr val="106BEF"/>
                </a:solidFill>
                <a:latin typeface="Microsoft YaHei" pitchFamily="34" charset="0"/>
                <a:ea typeface="Microsoft YaHei" pitchFamily="34" charset="-122"/>
                <a:cs typeface="Microsoft YaHei" pitchFamily="34" charset="-120"/>
              </a:rPr>
              <a:t>lint / test / build / 回归</a:t>
            </a:r>
            <a:endParaRPr lang="en-US" sz="1050" dirty="0"/>
          </a:p>
        </p:txBody>
      </p:sp>
      <p:sp>
        <p:nvSpPr>
          <p:cNvPr id="47" name="Text 37"/>
          <p:cNvSpPr/>
          <p:nvPr/>
        </p:nvSpPr>
        <p:spPr>
          <a:xfrm>
            <a:off x="6743531" y="4000400"/>
            <a:ext cx="1381725"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按风险选择最小验证</a:t>
            </a:r>
            <a:endParaRPr lang="en-US" sz="1000" dirty="0"/>
          </a:p>
        </p:txBody>
      </p:sp>
      <p:sp>
        <p:nvSpPr>
          <p:cNvPr id="48" name="Text 38"/>
          <p:cNvSpPr/>
          <p:nvPr/>
        </p:nvSpPr>
        <p:spPr>
          <a:xfrm>
            <a:off x="6743531" y="4216295"/>
            <a:ext cx="1381725"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失败自动进入修复轮</a:t>
            </a:r>
            <a:endParaRPr lang="en-US" sz="1000" dirty="0"/>
          </a:p>
        </p:txBody>
      </p:sp>
      <p:sp>
        <p:nvSpPr>
          <p:cNvPr id="49" name="Text 39"/>
          <p:cNvSpPr/>
          <p:nvPr/>
        </p:nvSpPr>
        <p:spPr>
          <a:xfrm>
            <a:off x="10083548" y="2959026"/>
            <a:ext cx="507987" cy="285425"/>
          </a:xfrm>
          <a:prstGeom prst="rect">
            <a:avLst/>
          </a:prstGeom>
          <a:noFill/>
          <a:ln/>
        </p:spPr>
        <p:txBody>
          <a:bodyPr wrap="square" lIns="0" tIns="0" rIns="0" bIns="0" rtlCol="0" anchor="t">
            <a:normAutofit/>
          </a:bodyPr>
          <a:lstStyle/>
          <a:p>
            <a:pPr algn="l" indent="0" marL="0">
              <a:buNone/>
            </a:pPr>
            <a:r>
              <a:rPr lang="en-US" sz="1550" b="1" dirty="0">
                <a:solidFill>
                  <a:srgbClr val="FF5A1F"/>
                </a:solidFill>
                <a:latin typeface="Arial" pitchFamily="34" charset="0"/>
                <a:ea typeface="Arial" pitchFamily="34" charset="-122"/>
                <a:cs typeface="Arial" pitchFamily="34" charset="-120"/>
              </a:rPr>
              <a:t>04</a:t>
            </a:r>
            <a:endParaRPr lang="en-US" sz="1550" dirty="0"/>
          </a:p>
        </p:txBody>
      </p:sp>
      <p:sp>
        <p:nvSpPr>
          <p:cNvPr id="50" name="Text 40"/>
          <p:cNvSpPr/>
          <p:nvPr/>
        </p:nvSpPr>
        <p:spPr>
          <a:xfrm>
            <a:off x="10083548" y="3225719"/>
            <a:ext cx="779380"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证据包</a:t>
            </a:r>
            <a:endParaRPr lang="en-US" sz="1450" dirty="0"/>
          </a:p>
        </p:txBody>
      </p:sp>
      <p:sp>
        <p:nvSpPr>
          <p:cNvPr id="51" name="Text 41"/>
          <p:cNvSpPr/>
          <p:nvPr/>
        </p:nvSpPr>
        <p:spPr>
          <a:xfrm>
            <a:off x="9588260" y="3543211"/>
            <a:ext cx="1965403" cy="193353"/>
          </a:xfrm>
          <a:prstGeom prst="rect">
            <a:avLst/>
          </a:prstGeom>
          <a:noFill/>
          <a:ln/>
        </p:spPr>
        <p:txBody>
          <a:bodyPr wrap="square" lIns="0" tIns="0" rIns="0" bIns="0" rtlCol="0" anchor="t">
            <a:normAutofit/>
          </a:bodyPr>
          <a:lstStyle/>
          <a:p>
            <a:pPr algn="l" indent="0" marL="0">
              <a:buNone/>
            </a:pPr>
            <a:r>
              <a:rPr lang="en-US" sz="1050" b="1" dirty="0">
                <a:solidFill>
                  <a:srgbClr val="FF5A1F"/>
                </a:solidFill>
                <a:latin typeface="Microsoft YaHei" pitchFamily="34" charset="0"/>
                <a:ea typeface="Microsoft YaHei" pitchFamily="34" charset="-122"/>
                <a:cs typeface="Microsoft YaHei" pitchFamily="34" charset="-120"/>
              </a:rPr>
              <a:t>diff / log / risk / impact</a:t>
            </a:r>
            <a:endParaRPr lang="en-US" sz="1050" dirty="0"/>
          </a:p>
        </p:txBody>
      </p:sp>
      <p:sp>
        <p:nvSpPr>
          <p:cNvPr id="52" name="Text 42"/>
          <p:cNvSpPr/>
          <p:nvPr/>
        </p:nvSpPr>
        <p:spPr>
          <a:xfrm>
            <a:off x="9588260" y="4000400"/>
            <a:ext cx="151126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让评审不用倒推上下文</a:t>
            </a:r>
            <a:endParaRPr lang="en-US" sz="1000" dirty="0"/>
          </a:p>
        </p:txBody>
      </p:sp>
      <p:sp>
        <p:nvSpPr>
          <p:cNvPr id="53" name="Text 43"/>
          <p:cNvSpPr/>
          <p:nvPr/>
        </p:nvSpPr>
        <p:spPr>
          <a:xfrm>
            <a:off x="9588260" y="4216295"/>
            <a:ext cx="112265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保留可复现材料</a:t>
            </a:r>
            <a:endParaRPr lang="en-US" sz="1000" dirty="0"/>
          </a:p>
        </p:txBody>
      </p:sp>
      <p:sp>
        <p:nvSpPr>
          <p:cNvPr id="54" name="Text 44"/>
          <p:cNvSpPr/>
          <p:nvPr/>
        </p:nvSpPr>
        <p:spPr>
          <a:xfrm>
            <a:off x="3886357" y="5143371"/>
            <a:ext cx="4418982" cy="257804"/>
          </a:xfrm>
          <a:prstGeom prst="rect">
            <a:avLst/>
          </a:prstGeom>
          <a:noFill/>
          <a:ln/>
        </p:spPr>
        <p:txBody>
          <a:bodyPr wrap="square" lIns="0" tIns="0" rIns="0" bIns="0" rtlCol="0" anchor="t">
            <a:normAutofit/>
          </a:bodyPr>
          <a:lstStyle/>
          <a:p>
            <a:pPr algn="ctr" indent="0" marL="0">
              <a:buNone/>
            </a:pPr>
            <a:r>
              <a:rPr lang="en-US" sz="1400" b="1" dirty="0">
                <a:solidFill>
                  <a:srgbClr val="050608"/>
                </a:solidFill>
                <a:latin typeface="Microsoft YaHei" pitchFamily="34" charset="0"/>
                <a:ea typeface="Microsoft YaHei" pitchFamily="34" charset="-122"/>
                <a:cs typeface="Microsoft YaHei" pitchFamily="34" charset="-120"/>
              </a:rPr>
              <a:t>0.99 的多轮串联 需要被每轮验证证据打断和纠偏。</a:t>
            </a:r>
            <a:endParaRPr lang="en-US" sz="1400" dirty="0"/>
          </a:p>
        </p:txBody>
      </p:sp>
      <p:sp>
        <p:nvSpPr>
          <p:cNvPr id="55" name="Text 45"/>
          <p:cNvSpPr/>
          <p:nvPr/>
        </p:nvSpPr>
        <p:spPr>
          <a:xfrm>
            <a:off x="1079473" y="6060447"/>
            <a:ext cx="10032749" cy="248596"/>
          </a:xfrm>
          <a:prstGeom prst="rect">
            <a:avLst/>
          </a:prstGeom>
          <a:noFill/>
          <a:ln/>
        </p:spPr>
        <p:txBody>
          <a:bodyPr wrap="square" lIns="0" tIns="0" rIns="0" bIns="0" rtlCol="0" anchor="ctr">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隔离执行与验证矩阵把概率性探索切成可复现、可比较、可纠偏的小段。</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09-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09-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09-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019250"/>
            <a:ext cx="711182" cy="0"/>
          </a:xfrm>
          <a:prstGeom prst="line">
            <a:avLst/>
          </a:prstGeom>
          <a:noFill/>
          <a:ln w="50799">
            <a:solidFill>
              <a:srgbClr val="106BEF"/>
            </a:solidFill>
            <a:prstDash val="solid"/>
            <a:headEnd type="none"/>
            <a:tailEnd type="none"/>
          </a:ln>
        </p:spPr>
      </p:sp>
      <p:sp>
        <p:nvSpPr>
          <p:cNvPr id="10" name="Shape 5"/>
          <p:cNvSpPr/>
          <p:nvPr/>
        </p:nvSpPr>
        <p:spPr>
          <a:xfrm>
            <a:off x="1425539" y="1984325"/>
            <a:ext cx="69848" cy="69848"/>
          </a:xfrm>
          <a:prstGeom prst="ellipse">
            <a:avLst/>
          </a:prstGeom>
          <a:solidFill>
            <a:srgbClr val="FF5A1F"/>
          </a:solidFill>
          <a:ln w="12700">
            <a:solidFill>
              <a:srgbClr val="FFFFFF">
                <a:alpha val="0"/>
              </a:srgbClr>
            </a:solidFill>
            <a:prstDash val="solid"/>
          </a:ln>
        </p:spPr>
      </p:sp>
      <p:sp>
        <p:nvSpPr>
          <p:cNvPr id="11" name="Shape 6"/>
          <p:cNvSpPr/>
          <p:nvPr/>
        </p:nvSpPr>
        <p:spPr>
          <a:xfrm>
            <a:off x="673083" y="2552636"/>
            <a:ext cx="2158946" cy="2285943"/>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2" name="Shape 7"/>
          <p:cNvSpPr/>
          <p:nvPr/>
        </p:nvSpPr>
        <p:spPr>
          <a:xfrm>
            <a:off x="876278" y="2755831"/>
            <a:ext cx="482588" cy="482588"/>
          </a:xfrm>
          <a:prstGeom prst="ellipse">
            <a:avLst/>
          </a:prstGeom>
          <a:solidFill>
            <a:srgbClr val="106BEF">
              <a:alpha val="11000"/>
            </a:srgbClr>
          </a:solidFill>
          <a:ln w="12700">
            <a:solidFill>
              <a:srgbClr val="FFFFFF">
                <a:alpha val="0"/>
              </a:srgbClr>
            </a:solidFill>
            <a:prstDash val="solid"/>
          </a:ln>
        </p:spPr>
      </p:sp>
      <p:pic>
        <p:nvPicPr>
          <p:cNvPr id="13" name="Image 3" descr="D:\workspace\worktree_for_vcoder\BitFun\docs\report\ai-redefines-software-development-presentation\agents_are_the_new_Agile-slides-png-v0.18\slide-09-layer-12.png">    </p:cNvPr>
          <p:cNvPicPr>
            <a:picLocks noChangeAspect="1"/>
          </p:cNvPicPr>
          <p:nvPr/>
        </p:nvPicPr>
        <p:blipFill>
          <a:blip r:embed="rId4"/>
          <a:stretch>
            <a:fillRect/>
          </a:stretch>
        </p:blipFill>
        <p:spPr>
          <a:xfrm>
            <a:off x="0" y="0"/>
            <a:ext cx="12191695" cy="6858000"/>
          </a:xfrm>
          <a:prstGeom prst="rect">
            <a:avLst/>
          </a:prstGeom>
        </p:spPr>
      </p:pic>
      <p:sp>
        <p:nvSpPr>
          <p:cNvPr id="14" name="Shape 8"/>
          <p:cNvSpPr/>
          <p:nvPr/>
        </p:nvSpPr>
        <p:spPr>
          <a:xfrm>
            <a:off x="1041374" y="3682908"/>
            <a:ext cx="1422364" cy="0"/>
          </a:xfrm>
          <a:prstGeom prst="line">
            <a:avLst/>
          </a:prstGeom>
          <a:noFill/>
          <a:ln w="22859">
            <a:solidFill>
              <a:srgbClr val="106BEF">
                <a:alpha val="62000"/>
              </a:srgbClr>
            </a:solidFill>
            <a:prstDash val="solid"/>
            <a:headEnd type="none"/>
            <a:tailEnd type="none"/>
          </a:ln>
        </p:spPr>
      </p:sp>
      <p:sp>
        <p:nvSpPr>
          <p:cNvPr id="15" name="Shape 9"/>
          <p:cNvSpPr/>
          <p:nvPr/>
        </p:nvSpPr>
        <p:spPr>
          <a:xfrm>
            <a:off x="3086023" y="2552636"/>
            <a:ext cx="6019650" cy="2285943"/>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6" name="Shape 10"/>
          <p:cNvSpPr/>
          <p:nvPr/>
        </p:nvSpPr>
        <p:spPr>
          <a:xfrm>
            <a:off x="3784505" y="3568611"/>
            <a:ext cx="4622684" cy="0"/>
          </a:xfrm>
          <a:prstGeom prst="line">
            <a:avLst/>
          </a:prstGeom>
          <a:noFill/>
          <a:ln w="25399">
            <a:solidFill>
              <a:srgbClr val="FF5A1F">
                <a:alpha val="64000"/>
              </a:srgbClr>
            </a:solidFill>
            <a:prstDash val="solid"/>
            <a:headEnd type="none"/>
            <a:tailEnd type="none"/>
          </a:ln>
        </p:spPr>
      </p:sp>
      <p:sp>
        <p:nvSpPr>
          <p:cNvPr id="17" name="Shape 11"/>
          <p:cNvSpPr/>
          <p:nvPr/>
        </p:nvSpPr>
        <p:spPr>
          <a:xfrm>
            <a:off x="3975001" y="3822604"/>
            <a:ext cx="1244569" cy="317492"/>
          </a:xfrm>
          <a:prstGeom prst="roundRect">
            <a:avLst/>
          </a:prstGeom>
          <a:solidFill>
            <a:srgbClr val="FBFAF7"/>
          </a:solidFill>
          <a:ln w="11430">
            <a:solidFill>
              <a:srgbClr val="C4C6C1"/>
            </a:solidFill>
            <a:prstDash val="solid"/>
          </a:ln>
        </p:spPr>
      </p:sp>
      <p:sp>
        <p:nvSpPr>
          <p:cNvPr id="18" name="Shape 12"/>
          <p:cNvSpPr/>
          <p:nvPr/>
        </p:nvSpPr>
        <p:spPr>
          <a:xfrm>
            <a:off x="4127397" y="3949601"/>
            <a:ext cx="76198" cy="76198"/>
          </a:xfrm>
          <a:prstGeom prst="ellipse">
            <a:avLst/>
          </a:prstGeom>
          <a:solidFill>
            <a:srgbClr val="106BEF"/>
          </a:solidFill>
          <a:ln w="12700">
            <a:solidFill>
              <a:srgbClr val="FFFFFF">
                <a:alpha val="0"/>
              </a:srgbClr>
            </a:solidFill>
            <a:prstDash val="solid"/>
          </a:ln>
        </p:spPr>
      </p:sp>
      <p:sp>
        <p:nvSpPr>
          <p:cNvPr id="19" name="Shape 13"/>
          <p:cNvSpPr/>
          <p:nvPr/>
        </p:nvSpPr>
        <p:spPr>
          <a:xfrm>
            <a:off x="5448164" y="3822604"/>
            <a:ext cx="1244569" cy="317492"/>
          </a:xfrm>
          <a:prstGeom prst="roundRect">
            <a:avLst/>
          </a:prstGeom>
          <a:solidFill>
            <a:srgbClr val="FBFAF7"/>
          </a:solidFill>
          <a:ln w="11430">
            <a:solidFill>
              <a:srgbClr val="C4C6C1"/>
            </a:solidFill>
            <a:prstDash val="solid"/>
          </a:ln>
        </p:spPr>
      </p:sp>
      <p:sp>
        <p:nvSpPr>
          <p:cNvPr id="20" name="Shape 14"/>
          <p:cNvSpPr/>
          <p:nvPr/>
        </p:nvSpPr>
        <p:spPr>
          <a:xfrm>
            <a:off x="5600560" y="3949601"/>
            <a:ext cx="76198" cy="76198"/>
          </a:xfrm>
          <a:prstGeom prst="ellipse">
            <a:avLst/>
          </a:prstGeom>
          <a:solidFill>
            <a:srgbClr val="FF5A1F"/>
          </a:solidFill>
          <a:ln w="12700">
            <a:solidFill>
              <a:srgbClr val="FFFFFF">
                <a:alpha val="0"/>
              </a:srgbClr>
            </a:solidFill>
            <a:prstDash val="solid"/>
          </a:ln>
        </p:spPr>
      </p:sp>
      <p:sp>
        <p:nvSpPr>
          <p:cNvPr id="21" name="Shape 15"/>
          <p:cNvSpPr/>
          <p:nvPr/>
        </p:nvSpPr>
        <p:spPr>
          <a:xfrm>
            <a:off x="6921327" y="3822604"/>
            <a:ext cx="1244569" cy="317492"/>
          </a:xfrm>
          <a:prstGeom prst="roundRect">
            <a:avLst/>
          </a:prstGeom>
          <a:solidFill>
            <a:srgbClr val="FBFAF7"/>
          </a:solidFill>
          <a:ln w="11430">
            <a:solidFill>
              <a:srgbClr val="C4C6C1"/>
            </a:solidFill>
            <a:prstDash val="solid"/>
          </a:ln>
        </p:spPr>
      </p:sp>
      <p:sp>
        <p:nvSpPr>
          <p:cNvPr id="22" name="Shape 16"/>
          <p:cNvSpPr/>
          <p:nvPr/>
        </p:nvSpPr>
        <p:spPr>
          <a:xfrm>
            <a:off x="7073723" y="3949601"/>
            <a:ext cx="76198" cy="76198"/>
          </a:xfrm>
          <a:prstGeom prst="ellipse">
            <a:avLst/>
          </a:prstGeom>
          <a:solidFill>
            <a:srgbClr val="106BEF"/>
          </a:solidFill>
          <a:ln w="12700">
            <a:solidFill>
              <a:srgbClr val="FFFFFF">
                <a:alpha val="0"/>
              </a:srgbClr>
            </a:solidFill>
            <a:prstDash val="solid"/>
          </a:ln>
        </p:spPr>
      </p:sp>
      <p:sp>
        <p:nvSpPr>
          <p:cNvPr id="23" name="Shape 17"/>
          <p:cNvSpPr/>
          <p:nvPr/>
        </p:nvSpPr>
        <p:spPr>
          <a:xfrm>
            <a:off x="3975001" y="4305192"/>
            <a:ext cx="1244569" cy="317492"/>
          </a:xfrm>
          <a:prstGeom prst="roundRect">
            <a:avLst/>
          </a:prstGeom>
          <a:solidFill>
            <a:srgbClr val="FBFAF7"/>
          </a:solidFill>
          <a:ln w="11430">
            <a:solidFill>
              <a:srgbClr val="C4C6C1"/>
            </a:solidFill>
            <a:prstDash val="solid"/>
          </a:ln>
        </p:spPr>
      </p:sp>
      <p:sp>
        <p:nvSpPr>
          <p:cNvPr id="24" name="Shape 18"/>
          <p:cNvSpPr/>
          <p:nvPr/>
        </p:nvSpPr>
        <p:spPr>
          <a:xfrm>
            <a:off x="4127397" y="4432189"/>
            <a:ext cx="76198" cy="76198"/>
          </a:xfrm>
          <a:prstGeom prst="ellipse">
            <a:avLst/>
          </a:prstGeom>
          <a:solidFill>
            <a:srgbClr val="FF5A1F"/>
          </a:solidFill>
          <a:ln w="12700">
            <a:solidFill>
              <a:srgbClr val="FFFFFF">
                <a:alpha val="0"/>
              </a:srgbClr>
            </a:solidFill>
            <a:prstDash val="solid"/>
          </a:ln>
        </p:spPr>
      </p:sp>
      <p:sp>
        <p:nvSpPr>
          <p:cNvPr id="25" name="Shape 19"/>
          <p:cNvSpPr/>
          <p:nvPr/>
        </p:nvSpPr>
        <p:spPr>
          <a:xfrm>
            <a:off x="5448164" y="4305192"/>
            <a:ext cx="1244569" cy="317492"/>
          </a:xfrm>
          <a:prstGeom prst="roundRect">
            <a:avLst/>
          </a:prstGeom>
          <a:solidFill>
            <a:srgbClr val="FBFAF7"/>
          </a:solidFill>
          <a:ln w="11430">
            <a:solidFill>
              <a:srgbClr val="C4C6C1"/>
            </a:solidFill>
            <a:prstDash val="solid"/>
          </a:ln>
        </p:spPr>
      </p:sp>
      <p:sp>
        <p:nvSpPr>
          <p:cNvPr id="26" name="Shape 20"/>
          <p:cNvSpPr/>
          <p:nvPr/>
        </p:nvSpPr>
        <p:spPr>
          <a:xfrm>
            <a:off x="5600560" y="4432189"/>
            <a:ext cx="76198" cy="76198"/>
          </a:xfrm>
          <a:prstGeom prst="ellipse">
            <a:avLst/>
          </a:prstGeom>
          <a:solidFill>
            <a:srgbClr val="106BEF"/>
          </a:solidFill>
          <a:ln w="12700">
            <a:solidFill>
              <a:srgbClr val="FFFFFF">
                <a:alpha val="0"/>
              </a:srgbClr>
            </a:solidFill>
            <a:prstDash val="solid"/>
          </a:ln>
        </p:spPr>
      </p:sp>
      <p:sp>
        <p:nvSpPr>
          <p:cNvPr id="27" name="Shape 21"/>
          <p:cNvSpPr/>
          <p:nvPr/>
        </p:nvSpPr>
        <p:spPr>
          <a:xfrm>
            <a:off x="6921327" y="4305192"/>
            <a:ext cx="1244569" cy="317492"/>
          </a:xfrm>
          <a:prstGeom prst="roundRect">
            <a:avLst/>
          </a:prstGeom>
          <a:solidFill>
            <a:srgbClr val="FBFAF7"/>
          </a:solidFill>
          <a:ln w="11430">
            <a:solidFill>
              <a:srgbClr val="C4C6C1"/>
            </a:solidFill>
            <a:prstDash val="solid"/>
          </a:ln>
        </p:spPr>
      </p:sp>
      <p:sp>
        <p:nvSpPr>
          <p:cNvPr id="28" name="Shape 22"/>
          <p:cNvSpPr/>
          <p:nvPr/>
        </p:nvSpPr>
        <p:spPr>
          <a:xfrm>
            <a:off x="7073723" y="4432189"/>
            <a:ext cx="76198" cy="76198"/>
          </a:xfrm>
          <a:prstGeom prst="ellipse">
            <a:avLst/>
          </a:prstGeom>
          <a:solidFill>
            <a:srgbClr val="FF5A1F"/>
          </a:solidFill>
          <a:ln w="12700">
            <a:solidFill>
              <a:srgbClr val="FFFFFF">
                <a:alpha val="0"/>
              </a:srgbClr>
            </a:solidFill>
            <a:prstDash val="solid"/>
          </a:ln>
        </p:spPr>
      </p:sp>
      <p:sp>
        <p:nvSpPr>
          <p:cNvPr id="29" name="Shape 23"/>
          <p:cNvSpPr/>
          <p:nvPr/>
        </p:nvSpPr>
        <p:spPr>
          <a:xfrm>
            <a:off x="9359666" y="2552636"/>
            <a:ext cx="2158946" cy="2285943"/>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30" name="Shape 24"/>
          <p:cNvSpPr/>
          <p:nvPr/>
        </p:nvSpPr>
        <p:spPr>
          <a:xfrm>
            <a:off x="9562861" y="2755831"/>
            <a:ext cx="482588" cy="482588"/>
          </a:xfrm>
          <a:prstGeom prst="ellipse">
            <a:avLst/>
          </a:prstGeom>
          <a:solidFill>
            <a:srgbClr val="FF5A1F">
              <a:alpha val="11000"/>
            </a:srgbClr>
          </a:solidFill>
          <a:ln w="12700">
            <a:solidFill>
              <a:srgbClr val="FFFFFF">
                <a:alpha val="0"/>
              </a:srgbClr>
            </a:solidFill>
            <a:prstDash val="solid"/>
          </a:ln>
        </p:spPr>
      </p:sp>
      <p:pic>
        <p:nvPicPr>
          <p:cNvPr id="31" name="Image 4" descr="D:\workspace\worktree_for_vcoder\BitFun\docs\report\ai-redefines-software-development-presentation\agents_are_the_new_Agile-slides-png-v0.18\slide-09-layer-30.png">    </p:cNvPr>
          <p:cNvPicPr>
            <a:picLocks noChangeAspect="1"/>
          </p:cNvPicPr>
          <p:nvPr/>
        </p:nvPicPr>
        <p:blipFill>
          <a:blip r:embed="rId5"/>
          <a:stretch>
            <a:fillRect/>
          </a:stretch>
        </p:blipFill>
        <p:spPr>
          <a:xfrm>
            <a:off x="0" y="0"/>
            <a:ext cx="12191695" cy="6858000"/>
          </a:xfrm>
          <a:prstGeom prst="rect">
            <a:avLst/>
          </a:prstGeom>
        </p:spPr>
      </p:pic>
      <p:sp>
        <p:nvSpPr>
          <p:cNvPr id="32" name="Shape 25"/>
          <p:cNvSpPr/>
          <p:nvPr/>
        </p:nvSpPr>
        <p:spPr>
          <a:xfrm>
            <a:off x="9727957" y="3682908"/>
            <a:ext cx="1422364" cy="0"/>
          </a:xfrm>
          <a:prstGeom prst="line">
            <a:avLst/>
          </a:prstGeom>
          <a:noFill/>
          <a:ln w="22859">
            <a:solidFill>
              <a:srgbClr val="FF5A1F">
                <a:alpha val="62000"/>
              </a:srgbClr>
            </a:solidFill>
            <a:prstDash val="solid"/>
            <a:headEnd type="none"/>
            <a:tailEnd type="none"/>
          </a:ln>
        </p:spPr>
      </p:sp>
      <p:sp>
        <p:nvSpPr>
          <p:cNvPr id="33" name="Shape 26"/>
          <p:cNvSpPr/>
          <p:nvPr/>
        </p:nvSpPr>
        <p:spPr>
          <a:xfrm>
            <a:off x="1079473" y="6057749"/>
            <a:ext cx="10032749" cy="406390"/>
          </a:xfrm>
          <a:prstGeom prst="roundRect">
            <a:avLst/>
          </a:prstGeom>
          <a:solidFill>
            <a:srgbClr val="FFFFFF"/>
          </a:solidFill>
          <a:ln w="12700">
            <a:solidFill>
              <a:srgbClr val="C4C6C1"/>
            </a:solidFill>
            <a:prstDash val="solid"/>
          </a:ln>
        </p:spPr>
      </p:sp>
      <p:sp>
        <p:nvSpPr>
          <p:cNvPr id="34" name="Shape 27"/>
          <p:cNvSpPr/>
          <p:nvPr/>
        </p:nvSpPr>
        <p:spPr>
          <a:xfrm>
            <a:off x="1523962" y="6165696"/>
            <a:ext cx="0" cy="190495"/>
          </a:xfrm>
          <a:prstGeom prst="line">
            <a:avLst/>
          </a:prstGeom>
          <a:noFill/>
          <a:ln w="50799">
            <a:solidFill>
              <a:srgbClr val="106BEF"/>
            </a:solidFill>
            <a:prstDash val="solid"/>
            <a:headEnd type="none"/>
            <a:tailEnd type="none"/>
          </a:ln>
        </p:spPr>
      </p:sp>
      <p:sp>
        <p:nvSpPr>
          <p:cNvPr id="35" name="Text 28"/>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评审到交付</a:t>
            </a:r>
            <a:endParaRPr lang="en-US" sz="3000" dirty="0"/>
          </a:p>
        </p:txBody>
      </p:sp>
      <p:sp>
        <p:nvSpPr>
          <p:cNvPr id="36" name="Text 29"/>
          <p:cNvSpPr/>
          <p:nvPr/>
        </p:nvSpPr>
        <p:spPr>
          <a:xfrm>
            <a:off x="634984" y="1549361"/>
            <a:ext cx="6196048"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当 AI 放大变更吞吐，评审对象要从 diff 扩展为可追责的证据包。</a:t>
            </a:r>
            <a:endParaRPr lang="en-US" sz="1550" dirty="0"/>
          </a:p>
        </p:txBody>
      </p:sp>
      <p:sp>
        <p:nvSpPr>
          <p:cNvPr id="37" name="Text 30"/>
          <p:cNvSpPr/>
          <p:nvPr/>
        </p:nvSpPr>
        <p:spPr>
          <a:xfrm>
            <a:off x="1485863" y="2857429"/>
            <a:ext cx="785856" cy="202560"/>
          </a:xfrm>
          <a:prstGeom prst="rect">
            <a:avLst/>
          </a:prstGeom>
          <a:noFill/>
          <a:ln/>
        </p:spPr>
        <p:txBody>
          <a:bodyPr wrap="square" lIns="0" tIns="0" rIns="0" bIns="0" rtlCol="0" anchor="t">
            <a:normAutofit/>
          </a:bodyPr>
          <a:lstStyle/>
          <a:p>
            <a:pPr algn="l" indent="0" marL="0">
              <a:buNone/>
            </a:pPr>
            <a:r>
              <a:rPr lang="en-US" sz="1100" b="1" dirty="0">
                <a:solidFill>
                  <a:srgbClr val="106BEF"/>
                </a:solidFill>
                <a:latin typeface="Microsoft YaHei" pitchFamily="34" charset="0"/>
                <a:ea typeface="Microsoft YaHei" pitchFamily="34" charset="-122"/>
                <a:cs typeface="Microsoft YaHei" pitchFamily="34" charset="-120"/>
              </a:rPr>
              <a:t>开源仓库</a:t>
            </a:r>
            <a:endParaRPr lang="en-US" sz="1100" dirty="0"/>
          </a:p>
        </p:txBody>
      </p:sp>
      <p:sp>
        <p:nvSpPr>
          <p:cNvPr id="38" name="Text 31"/>
          <p:cNvSpPr/>
          <p:nvPr/>
        </p:nvSpPr>
        <p:spPr>
          <a:xfrm>
            <a:off x="1041374" y="3403515"/>
            <a:ext cx="1155036"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维护者信任</a:t>
            </a:r>
            <a:endParaRPr lang="en-US" sz="1450" dirty="0"/>
          </a:p>
        </p:txBody>
      </p:sp>
      <p:sp>
        <p:nvSpPr>
          <p:cNvPr id="39" name="Text 32"/>
          <p:cNvSpPr/>
          <p:nvPr/>
        </p:nvSpPr>
        <p:spPr>
          <a:xfrm>
            <a:off x="1041374" y="3962301"/>
            <a:ext cx="863578"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小批量变更</a:t>
            </a:r>
            <a:endParaRPr lang="en-US" sz="1000" dirty="0"/>
          </a:p>
        </p:txBody>
      </p:sp>
      <p:sp>
        <p:nvSpPr>
          <p:cNvPr id="40" name="Text 33"/>
          <p:cNvSpPr/>
          <p:nvPr/>
        </p:nvSpPr>
        <p:spPr>
          <a:xfrm>
            <a:off x="1041374" y="4228994"/>
            <a:ext cx="73404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公共责任</a:t>
            </a:r>
            <a:endParaRPr lang="en-US" sz="1000" dirty="0"/>
          </a:p>
        </p:txBody>
      </p:sp>
      <p:sp>
        <p:nvSpPr>
          <p:cNvPr id="41" name="Text 34"/>
          <p:cNvSpPr/>
          <p:nvPr/>
        </p:nvSpPr>
        <p:spPr>
          <a:xfrm>
            <a:off x="1041374" y="4495688"/>
            <a:ext cx="863578"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可复核证据</a:t>
            </a:r>
            <a:endParaRPr lang="en-US" sz="1000" dirty="0"/>
          </a:p>
        </p:txBody>
      </p:sp>
      <p:sp>
        <p:nvSpPr>
          <p:cNvPr id="42" name="Text 35"/>
          <p:cNvSpPr/>
          <p:nvPr/>
        </p:nvSpPr>
        <p:spPr>
          <a:xfrm>
            <a:off x="5502137" y="2908227"/>
            <a:ext cx="1187420" cy="230182"/>
          </a:xfrm>
          <a:prstGeom prst="rect">
            <a:avLst/>
          </a:prstGeom>
          <a:noFill/>
          <a:ln/>
        </p:spPr>
        <p:txBody>
          <a:bodyPr wrap="square" lIns="0" tIns="0" rIns="0" bIns="0" rtlCol="0" anchor="t">
            <a:normAutofit/>
          </a:bodyPr>
          <a:lstStyle/>
          <a:p>
            <a:pPr algn="ctr" indent="0" marL="0">
              <a:buNone/>
            </a:pPr>
            <a:r>
              <a:rPr lang="en-US" sz="1250" b="1" dirty="0">
                <a:solidFill>
                  <a:srgbClr val="FF5A1F"/>
                </a:solidFill>
                <a:latin typeface="Microsoft YaHei" pitchFamily="34" charset="0"/>
                <a:ea typeface="Microsoft YaHei" pitchFamily="34" charset="-122"/>
                <a:cs typeface="Microsoft YaHei" pitchFamily="34" charset="-120"/>
              </a:rPr>
              <a:t>评审对象升级</a:t>
            </a:r>
            <a:endParaRPr lang="en-US" sz="1250" dirty="0"/>
          </a:p>
        </p:txBody>
      </p:sp>
      <p:sp>
        <p:nvSpPr>
          <p:cNvPr id="43" name="Text 36"/>
          <p:cNvSpPr/>
          <p:nvPr/>
        </p:nvSpPr>
        <p:spPr>
          <a:xfrm>
            <a:off x="3961031" y="3314617"/>
            <a:ext cx="4269633" cy="368291"/>
          </a:xfrm>
          <a:prstGeom prst="rect">
            <a:avLst/>
          </a:prstGeom>
          <a:noFill/>
          <a:ln/>
        </p:spPr>
        <p:txBody>
          <a:bodyPr wrap="square" lIns="0" tIns="0" rIns="0" bIns="0" rtlCol="0" anchor="t">
            <a:normAutofit/>
          </a:bodyPr>
          <a:lstStyle/>
          <a:p>
            <a:pPr algn="ctr" indent="0" marL="0">
              <a:buNone/>
            </a:pPr>
            <a:r>
              <a:rPr lang="en-US" sz="2000" b="1" dirty="0">
                <a:solidFill>
                  <a:srgbClr val="050608"/>
                </a:solidFill>
                <a:latin typeface="Arial" pitchFamily="34" charset="0"/>
                <a:ea typeface="Arial" pitchFamily="34" charset="-122"/>
                <a:cs typeface="Arial" pitchFamily="34" charset="-120"/>
              </a:rPr>
              <a:t>Artifact 证据包 = PR 判断上下文</a:t>
            </a:r>
            <a:endParaRPr lang="en-US" sz="2000" dirty="0"/>
          </a:p>
        </p:txBody>
      </p:sp>
      <p:sp>
        <p:nvSpPr>
          <p:cNvPr id="44" name="Text 37"/>
          <p:cNvSpPr/>
          <p:nvPr/>
        </p:nvSpPr>
        <p:spPr>
          <a:xfrm>
            <a:off x="4306208" y="3930552"/>
            <a:ext cx="759949"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自动摘要</a:t>
            </a:r>
            <a:endParaRPr lang="en-US" sz="1050" dirty="0"/>
          </a:p>
        </p:txBody>
      </p:sp>
      <p:sp>
        <p:nvSpPr>
          <p:cNvPr id="45" name="Text 38"/>
          <p:cNvSpPr/>
          <p:nvPr/>
        </p:nvSpPr>
        <p:spPr>
          <a:xfrm>
            <a:off x="5803374" y="3930552"/>
            <a:ext cx="711944"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PR 绑定</a:t>
            </a:r>
            <a:endParaRPr lang="en-US" sz="1050" dirty="0"/>
          </a:p>
        </p:txBody>
      </p:sp>
      <p:sp>
        <p:nvSpPr>
          <p:cNvPr id="46" name="Text 39"/>
          <p:cNvSpPr/>
          <p:nvPr/>
        </p:nvSpPr>
        <p:spPr>
          <a:xfrm>
            <a:off x="7252535" y="3930552"/>
            <a:ext cx="759949"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测试日志</a:t>
            </a:r>
            <a:endParaRPr lang="en-US" sz="1050" dirty="0"/>
          </a:p>
        </p:txBody>
      </p:sp>
      <p:sp>
        <p:nvSpPr>
          <p:cNvPr id="47" name="Text 40"/>
          <p:cNvSpPr/>
          <p:nvPr/>
        </p:nvSpPr>
        <p:spPr>
          <a:xfrm>
            <a:off x="4226200" y="4413140"/>
            <a:ext cx="919965"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风险 Owner</a:t>
            </a:r>
            <a:endParaRPr lang="en-US" sz="1050" dirty="0"/>
          </a:p>
        </p:txBody>
      </p:sp>
      <p:sp>
        <p:nvSpPr>
          <p:cNvPr id="48" name="Text 41"/>
          <p:cNvSpPr/>
          <p:nvPr/>
        </p:nvSpPr>
        <p:spPr>
          <a:xfrm>
            <a:off x="5779372" y="4413140"/>
            <a:ext cx="759949"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回滚路径</a:t>
            </a:r>
            <a:endParaRPr lang="en-US" sz="1050" dirty="0"/>
          </a:p>
        </p:txBody>
      </p:sp>
      <p:sp>
        <p:nvSpPr>
          <p:cNvPr id="49" name="Text 42"/>
          <p:cNvSpPr/>
          <p:nvPr/>
        </p:nvSpPr>
        <p:spPr>
          <a:xfrm>
            <a:off x="7252535" y="4413140"/>
            <a:ext cx="759949" cy="193353"/>
          </a:xfrm>
          <a:prstGeom prst="rect">
            <a:avLst/>
          </a:prstGeom>
          <a:noFill/>
          <a:ln/>
        </p:spPr>
        <p:txBody>
          <a:bodyPr wrap="square" lIns="0" tIns="0" rIns="0" bIns="0" rtlCol="0" anchor="t">
            <a:normAutofit/>
          </a:bodyPr>
          <a:lstStyle/>
          <a:p>
            <a:pPr algn="ctr" indent="0" marL="0">
              <a:buNone/>
            </a:pPr>
            <a:r>
              <a:rPr lang="en-US" sz="1050" b="1" dirty="0">
                <a:solidFill>
                  <a:srgbClr val="050608"/>
                </a:solidFill>
                <a:latin typeface="Microsoft YaHei" pitchFamily="34" charset="0"/>
                <a:ea typeface="Microsoft YaHei" pitchFamily="34" charset="-122"/>
                <a:cs typeface="Microsoft YaHei" pitchFamily="34" charset="-120"/>
              </a:rPr>
              <a:t>复盘归档</a:t>
            </a:r>
            <a:endParaRPr lang="en-US" sz="1050" dirty="0"/>
          </a:p>
        </p:txBody>
      </p:sp>
      <p:sp>
        <p:nvSpPr>
          <p:cNvPr id="50" name="Text 43"/>
          <p:cNvSpPr/>
          <p:nvPr/>
        </p:nvSpPr>
        <p:spPr>
          <a:xfrm>
            <a:off x="10172446" y="2857429"/>
            <a:ext cx="785856" cy="202560"/>
          </a:xfrm>
          <a:prstGeom prst="rect">
            <a:avLst/>
          </a:prstGeom>
          <a:noFill/>
          <a:ln/>
        </p:spPr>
        <p:txBody>
          <a:bodyPr wrap="square" lIns="0" tIns="0" rIns="0" bIns="0" rtlCol="0" anchor="t">
            <a:normAutofit/>
          </a:bodyPr>
          <a:lstStyle/>
          <a:p>
            <a:pPr algn="l" indent="0" marL="0">
              <a:buNone/>
            </a:pPr>
            <a:r>
              <a:rPr lang="en-US" sz="1100" b="1" dirty="0">
                <a:solidFill>
                  <a:srgbClr val="FF5A1F"/>
                </a:solidFill>
                <a:latin typeface="Microsoft YaHei" pitchFamily="34" charset="0"/>
                <a:ea typeface="Microsoft YaHei" pitchFamily="34" charset="-122"/>
                <a:cs typeface="Microsoft YaHei" pitchFamily="34" charset="-120"/>
              </a:rPr>
              <a:t>企业工程</a:t>
            </a:r>
            <a:endParaRPr lang="en-US" sz="1100" dirty="0"/>
          </a:p>
        </p:txBody>
      </p:sp>
      <p:sp>
        <p:nvSpPr>
          <p:cNvPr id="51" name="Text 44"/>
          <p:cNvSpPr/>
          <p:nvPr/>
        </p:nvSpPr>
        <p:spPr>
          <a:xfrm>
            <a:off x="9727957" y="3403515"/>
            <a:ext cx="1155036"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跨团队放行</a:t>
            </a:r>
            <a:endParaRPr lang="en-US" sz="1450" dirty="0"/>
          </a:p>
        </p:txBody>
      </p:sp>
      <p:sp>
        <p:nvSpPr>
          <p:cNvPr id="52" name="Text 45"/>
          <p:cNvSpPr/>
          <p:nvPr/>
        </p:nvSpPr>
        <p:spPr>
          <a:xfrm>
            <a:off x="9727957" y="3962301"/>
            <a:ext cx="886438"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Owner 审批</a:t>
            </a:r>
            <a:endParaRPr lang="en-US" sz="1000" dirty="0"/>
          </a:p>
        </p:txBody>
      </p:sp>
      <p:sp>
        <p:nvSpPr>
          <p:cNvPr id="53" name="Text 46"/>
          <p:cNvSpPr/>
          <p:nvPr/>
        </p:nvSpPr>
        <p:spPr>
          <a:xfrm>
            <a:off x="9727957" y="4228994"/>
            <a:ext cx="863578"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合规与发布</a:t>
            </a:r>
            <a:endParaRPr lang="en-US" sz="1000" dirty="0"/>
          </a:p>
        </p:txBody>
      </p:sp>
      <p:sp>
        <p:nvSpPr>
          <p:cNvPr id="54" name="Text 47"/>
          <p:cNvSpPr/>
          <p:nvPr/>
        </p:nvSpPr>
        <p:spPr>
          <a:xfrm>
            <a:off x="9727957" y="4495688"/>
            <a:ext cx="734042" cy="184145"/>
          </a:xfrm>
          <a:prstGeom prst="rect">
            <a:avLst/>
          </a:prstGeom>
          <a:noFill/>
          <a:ln/>
        </p:spPr>
        <p:txBody>
          <a:bodyPr wrap="square" lIns="0" tIns="0" rIns="0" bIns="0" rtlCol="0" anchor="t">
            <a:normAutofit/>
          </a:bodyPr>
          <a:lstStyle/>
          <a:p>
            <a:pPr algn="l" indent="0" marL="0">
              <a:buNone/>
            </a:pPr>
            <a:r>
              <a:rPr lang="en-US" sz="1000" b="1" dirty="0">
                <a:solidFill>
                  <a:srgbClr val="050608"/>
                </a:solidFill>
                <a:latin typeface="Microsoft YaHei" pitchFamily="34" charset="0"/>
                <a:ea typeface="Microsoft YaHei" pitchFamily="34" charset="-122"/>
                <a:cs typeface="Microsoft YaHei" pitchFamily="34" charset="-120"/>
              </a:rPr>
              <a:t>线上责任</a:t>
            </a:r>
            <a:endParaRPr lang="en-US" sz="1000" dirty="0"/>
          </a:p>
        </p:txBody>
      </p:sp>
      <p:sp>
        <p:nvSpPr>
          <p:cNvPr id="55" name="Text 48"/>
          <p:cNvSpPr/>
          <p:nvPr/>
        </p:nvSpPr>
        <p:spPr>
          <a:xfrm>
            <a:off x="1079473" y="6060447"/>
            <a:ext cx="10032749" cy="248596"/>
          </a:xfrm>
          <a:prstGeom prst="rect">
            <a:avLst/>
          </a:prstGeom>
          <a:noFill/>
          <a:ln/>
        </p:spPr>
        <p:txBody>
          <a:bodyPr wrap="square" lIns="0" tIns="0" rIns="0" bIns="0" rtlCol="0" anchor="ctr">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Artifact 证据包应由平台自动生成、绑定 PR/发布记录，并提供人类可读摘要。</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10-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10-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10-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019250"/>
            <a:ext cx="711182" cy="0"/>
          </a:xfrm>
          <a:prstGeom prst="line">
            <a:avLst/>
          </a:prstGeom>
          <a:noFill/>
          <a:ln w="50799">
            <a:solidFill>
              <a:srgbClr val="106BEF"/>
            </a:solidFill>
            <a:prstDash val="solid"/>
            <a:headEnd type="none"/>
            <a:tailEnd type="none"/>
          </a:ln>
        </p:spPr>
      </p:sp>
      <p:sp>
        <p:nvSpPr>
          <p:cNvPr id="10" name="Shape 5"/>
          <p:cNvSpPr/>
          <p:nvPr/>
        </p:nvSpPr>
        <p:spPr>
          <a:xfrm>
            <a:off x="1425539" y="1984325"/>
            <a:ext cx="69848" cy="69848"/>
          </a:xfrm>
          <a:prstGeom prst="ellipse">
            <a:avLst/>
          </a:prstGeom>
          <a:solidFill>
            <a:srgbClr val="FF5A1F"/>
          </a:solidFill>
          <a:ln w="12700">
            <a:solidFill>
              <a:srgbClr val="FFFFFF">
                <a:alpha val="0"/>
              </a:srgbClr>
            </a:solidFill>
            <a:prstDash val="solid"/>
          </a:ln>
        </p:spPr>
      </p:sp>
      <p:sp>
        <p:nvSpPr>
          <p:cNvPr id="11" name="Shape 6"/>
          <p:cNvSpPr/>
          <p:nvPr/>
        </p:nvSpPr>
        <p:spPr>
          <a:xfrm>
            <a:off x="1930352" y="3632109"/>
            <a:ext cx="8330992" cy="0"/>
          </a:xfrm>
          <a:prstGeom prst="line">
            <a:avLst/>
          </a:prstGeom>
          <a:noFill/>
          <a:ln w="31749">
            <a:solidFill>
              <a:srgbClr val="C4C6C1"/>
            </a:solidFill>
            <a:prstDash val="solid"/>
            <a:headEnd type="none"/>
            <a:tailEnd type="none"/>
          </a:ln>
        </p:spPr>
      </p:sp>
      <p:sp>
        <p:nvSpPr>
          <p:cNvPr id="12" name="Shape 7"/>
          <p:cNvSpPr/>
          <p:nvPr/>
        </p:nvSpPr>
        <p:spPr>
          <a:xfrm>
            <a:off x="1930352" y="3632109"/>
            <a:ext cx="8330992" cy="0"/>
          </a:xfrm>
          <a:prstGeom prst="line">
            <a:avLst/>
          </a:prstGeom>
          <a:noFill/>
          <a:ln w="31749">
            <a:solidFill>
              <a:srgbClr val="106BEF">
                <a:alpha val="76000"/>
              </a:srgbClr>
            </a:solidFill>
            <a:prstDash val="solid"/>
            <a:headEnd type="none"/>
            <a:tailEnd type="none"/>
          </a:ln>
        </p:spPr>
      </p:sp>
      <p:sp>
        <p:nvSpPr>
          <p:cNvPr id="13" name="Shape 8"/>
          <p:cNvSpPr/>
          <p:nvPr/>
        </p:nvSpPr>
        <p:spPr>
          <a:xfrm>
            <a:off x="876278" y="2730432"/>
            <a:ext cx="2070048" cy="15874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4" name="Shape 9"/>
          <p:cNvSpPr/>
          <p:nvPr/>
        </p:nvSpPr>
        <p:spPr>
          <a:xfrm>
            <a:off x="1054074" y="2908227"/>
            <a:ext cx="457189" cy="457189"/>
          </a:xfrm>
          <a:prstGeom prst="ellipse">
            <a:avLst/>
          </a:prstGeom>
          <a:solidFill>
            <a:srgbClr val="106BEF">
              <a:alpha val="11000"/>
            </a:srgbClr>
          </a:solidFill>
          <a:ln w="12700">
            <a:solidFill>
              <a:srgbClr val="FFFFFF">
                <a:alpha val="0"/>
              </a:srgbClr>
            </a:solidFill>
            <a:prstDash val="solid"/>
          </a:ln>
        </p:spPr>
      </p:sp>
      <p:pic>
        <p:nvPicPr>
          <p:cNvPr id="15" name="Image 3" descr="D:\workspace\worktree_for_vcoder\BitFun\docs\report\ai-redefines-software-development-presentation\agents_are_the_new_Agile-slides-png-v0.18\slide-10-layer-14.png">    </p:cNvPr>
          <p:cNvPicPr>
            <a:picLocks noChangeAspect="1"/>
          </p:cNvPicPr>
          <p:nvPr/>
        </p:nvPicPr>
        <p:blipFill>
          <a:blip r:embed="rId4"/>
          <a:stretch>
            <a:fillRect/>
          </a:stretch>
        </p:blipFill>
        <p:spPr>
          <a:xfrm>
            <a:off x="0" y="0"/>
            <a:ext cx="12191695" cy="6858000"/>
          </a:xfrm>
          <a:prstGeom prst="rect">
            <a:avLst/>
          </a:prstGeom>
        </p:spPr>
      </p:pic>
      <p:sp>
        <p:nvSpPr>
          <p:cNvPr id="16" name="Shape 10"/>
          <p:cNvSpPr/>
          <p:nvPr/>
        </p:nvSpPr>
        <p:spPr>
          <a:xfrm>
            <a:off x="1181070" y="3632109"/>
            <a:ext cx="1460463" cy="0"/>
          </a:xfrm>
          <a:prstGeom prst="line">
            <a:avLst/>
          </a:prstGeom>
          <a:noFill/>
          <a:ln w="22859">
            <a:solidFill>
              <a:srgbClr val="106BEF">
                <a:alpha val="62000"/>
              </a:srgbClr>
            </a:solidFill>
            <a:prstDash val="solid"/>
            <a:headEnd type="none"/>
            <a:tailEnd type="none"/>
          </a:ln>
        </p:spPr>
      </p:sp>
      <p:sp>
        <p:nvSpPr>
          <p:cNvPr id="17" name="Shape 11"/>
          <p:cNvSpPr/>
          <p:nvPr/>
        </p:nvSpPr>
        <p:spPr>
          <a:xfrm>
            <a:off x="3517812" y="2730432"/>
            <a:ext cx="2070048" cy="15874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8" name="Shape 12"/>
          <p:cNvSpPr/>
          <p:nvPr/>
        </p:nvSpPr>
        <p:spPr>
          <a:xfrm>
            <a:off x="3695608" y="2908227"/>
            <a:ext cx="457189" cy="457189"/>
          </a:xfrm>
          <a:prstGeom prst="ellipse">
            <a:avLst/>
          </a:prstGeom>
          <a:solidFill>
            <a:srgbClr val="FF5A1F">
              <a:alpha val="11000"/>
            </a:srgbClr>
          </a:solidFill>
          <a:ln w="12700">
            <a:solidFill>
              <a:srgbClr val="FFFFFF">
                <a:alpha val="0"/>
              </a:srgbClr>
            </a:solidFill>
            <a:prstDash val="solid"/>
          </a:ln>
        </p:spPr>
      </p:sp>
      <p:pic>
        <p:nvPicPr>
          <p:cNvPr id="19" name="Image 4" descr="D:\workspace\worktree_for_vcoder\BitFun\docs\report\ai-redefines-software-development-presentation\agents_are_the_new_Agile-slides-png-v0.18\slide-10-layer-18.png">    </p:cNvPr>
          <p:cNvPicPr>
            <a:picLocks noChangeAspect="1"/>
          </p:cNvPicPr>
          <p:nvPr/>
        </p:nvPicPr>
        <p:blipFill>
          <a:blip r:embed="rId5"/>
          <a:stretch>
            <a:fillRect/>
          </a:stretch>
        </p:blipFill>
        <p:spPr>
          <a:xfrm>
            <a:off x="0" y="0"/>
            <a:ext cx="12191695" cy="6858000"/>
          </a:xfrm>
          <a:prstGeom prst="rect">
            <a:avLst/>
          </a:prstGeom>
        </p:spPr>
      </p:pic>
      <p:sp>
        <p:nvSpPr>
          <p:cNvPr id="20" name="Shape 13"/>
          <p:cNvSpPr/>
          <p:nvPr/>
        </p:nvSpPr>
        <p:spPr>
          <a:xfrm>
            <a:off x="3822604" y="3632109"/>
            <a:ext cx="1460463" cy="0"/>
          </a:xfrm>
          <a:prstGeom prst="line">
            <a:avLst/>
          </a:prstGeom>
          <a:noFill/>
          <a:ln w="22859">
            <a:solidFill>
              <a:srgbClr val="FF5A1F">
                <a:alpha val="62000"/>
              </a:srgbClr>
            </a:solidFill>
            <a:prstDash val="solid"/>
            <a:headEnd type="none"/>
            <a:tailEnd type="none"/>
          </a:ln>
        </p:spPr>
      </p:sp>
      <p:sp>
        <p:nvSpPr>
          <p:cNvPr id="21" name="Shape 14"/>
          <p:cNvSpPr/>
          <p:nvPr/>
        </p:nvSpPr>
        <p:spPr>
          <a:xfrm>
            <a:off x="6159346" y="2730432"/>
            <a:ext cx="2070048" cy="15874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2" name="Shape 15"/>
          <p:cNvSpPr/>
          <p:nvPr/>
        </p:nvSpPr>
        <p:spPr>
          <a:xfrm>
            <a:off x="6337142" y="2908227"/>
            <a:ext cx="457189" cy="457189"/>
          </a:xfrm>
          <a:prstGeom prst="ellipse">
            <a:avLst/>
          </a:prstGeom>
          <a:solidFill>
            <a:srgbClr val="106BEF">
              <a:alpha val="11000"/>
            </a:srgbClr>
          </a:solidFill>
          <a:ln w="12700">
            <a:solidFill>
              <a:srgbClr val="FFFFFF">
                <a:alpha val="0"/>
              </a:srgbClr>
            </a:solidFill>
            <a:prstDash val="solid"/>
          </a:ln>
        </p:spPr>
      </p:sp>
      <p:pic>
        <p:nvPicPr>
          <p:cNvPr id="23" name="Image 5" descr="D:\workspace\worktree_for_vcoder\BitFun\docs\report\ai-redefines-software-development-presentation\agents_are_the_new_Agile-slides-png-v0.18\slide-10-layer-22.png">    </p:cNvPr>
          <p:cNvPicPr>
            <a:picLocks noChangeAspect="1"/>
          </p:cNvPicPr>
          <p:nvPr/>
        </p:nvPicPr>
        <p:blipFill>
          <a:blip r:embed="rId6"/>
          <a:stretch>
            <a:fillRect/>
          </a:stretch>
        </p:blipFill>
        <p:spPr>
          <a:xfrm>
            <a:off x="0" y="0"/>
            <a:ext cx="12191695" cy="6858000"/>
          </a:xfrm>
          <a:prstGeom prst="rect">
            <a:avLst/>
          </a:prstGeom>
        </p:spPr>
      </p:pic>
      <p:sp>
        <p:nvSpPr>
          <p:cNvPr id="24" name="Shape 16"/>
          <p:cNvSpPr/>
          <p:nvPr/>
        </p:nvSpPr>
        <p:spPr>
          <a:xfrm>
            <a:off x="6464138" y="3632109"/>
            <a:ext cx="1460463" cy="0"/>
          </a:xfrm>
          <a:prstGeom prst="line">
            <a:avLst/>
          </a:prstGeom>
          <a:noFill/>
          <a:ln w="22859">
            <a:solidFill>
              <a:srgbClr val="106BEF">
                <a:alpha val="62000"/>
              </a:srgbClr>
            </a:solidFill>
            <a:prstDash val="solid"/>
            <a:headEnd type="none"/>
            <a:tailEnd type="none"/>
          </a:ln>
        </p:spPr>
      </p:sp>
      <p:sp>
        <p:nvSpPr>
          <p:cNvPr id="25" name="Shape 17"/>
          <p:cNvSpPr/>
          <p:nvPr/>
        </p:nvSpPr>
        <p:spPr>
          <a:xfrm>
            <a:off x="8800880" y="2730432"/>
            <a:ext cx="2070048" cy="1587460"/>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6" name="Shape 18"/>
          <p:cNvSpPr/>
          <p:nvPr/>
        </p:nvSpPr>
        <p:spPr>
          <a:xfrm>
            <a:off x="8978676" y="2908227"/>
            <a:ext cx="457189" cy="457189"/>
          </a:xfrm>
          <a:prstGeom prst="ellipse">
            <a:avLst/>
          </a:prstGeom>
          <a:solidFill>
            <a:srgbClr val="FF5A1F">
              <a:alpha val="11000"/>
            </a:srgbClr>
          </a:solidFill>
          <a:ln w="12700">
            <a:solidFill>
              <a:srgbClr val="FFFFFF">
                <a:alpha val="0"/>
              </a:srgbClr>
            </a:solidFill>
            <a:prstDash val="solid"/>
          </a:ln>
        </p:spPr>
      </p:sp>
      <p:pic>
        <p:nvPicPr>
          <p:cNvPr id="27" name="Image 6" descr="D:\workspace\worktree_for_vcoder\BitFun\docs\report\ai-redefines-software-development-presentation\agents_are_the_new_Agile-slides-png-v0.18\slide-10-layer-26.png">    </p:cNvPr>
          <p:cNvPicPr>
            <a:picLocks noChangeAspect="1"/>
          </p:cNvPicPr>
          <p:nvPr/>
        </p:nvPicPr>
        <p:blipFill>
          <a:blip r:embed="rId7"/>
          <a:stretch>
            <a:fillRect/>
          </a:stretch>
        </p:blipFill>
        <p:spPr>
          <a:xfrm>
            <a:off x="0" y="0"/>
            <a:ext cx="12191695" cy="6858000"/>
          </a:xfrm>
          <a:prstGeom prst="rect">
            <a:avLst/>
          </a:prstGeom>
        </p:spPr>
      </p:pic>
      <p:sp>
        <p:nvSpPr>
          <p:cNvPr id="28" name="Shape 19"/>
          <p:cNvSpPr/>
          <p:nvPr/>
        </p:nvSpPr>
        <p:spPr>
          <a:xfrm>
            <a:off x="9105672" y="3632109"/>
            <a:ext cx="1460463" cy="0"/>
          </a:xfrm>
          <a:prstGeom prst="line">
            <a:avLst/>
          </a:prstGeom>
          <a:noFill/>
          <a:ln w="22859">
            <a:solidFill>
              <a:srgbClr val="FF5A1F">
                <a:alpha val="62000"/>
              </a:srgbClr>
            </a:solidFill>
            <a:prstDash val="solid"/>
            <a:headEnd type="none"/>
            <a:tailEnd type="none"/>
          </a:ln>
        </p:spPr>
      </p:sp>
      <p:sp>
        <p:nvSpPr>
          <p:cNvPr id="29" name="Shape 20"/>
          <p:cNvSpPr/>
          <p:nvPr/>
        </p:nvSpPr>
        <p:spPr>
          <a:xfrm>
            <a:off x="1612860" y="4813180"/>
            <a:ext cx="8965976" cy="533387"/>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30" name="Shape 21"/>
          <p:cNvSpPr/>
          <p:nvPr/>
        </p:nvSpPr>
        <p:spPr>
          <a:xfrm>
            <a:off x="4425839" y="5035424"/>
            <a:ext cx="88898" cy="88898"/>
          </a:xfrm>
          <a:prstGeom prst="ellipse">
            <a:avLst/>
          </a:prstGeom>
          <a:solidFill>
            <a:srgbClr val="106BEF"/>
          </a:solidFill>
          <a:ln w="12700">
            <a:solidFill>
              <a:srgbClr val="FFFFFF">
                <a:alpha val="0"/>
              </a:srgbClr>
            </a:solidFill>
            <a:prstDash val="solid"/>
          </a:ln>
        </p:spPr>
      </p:sp>
      <p:sp>
        <p:nvSpPr>
          <p:cNvPr id="31" name="Shape 22"/>
          <p:cNvSpPr/>
          <p:nvPr/>
        </p:nvSpPr>
        <p:spPr>
          <a:xfrm>
            <a:off x="5772006" y="5035424"/>
            <a:ext cx="88898" cy="88898"/>
          </a:xfrm>
          <a:prstGeom prst="ellipse">
            <a:avLst/>
          </a:prstGeom>
          <a:solidFill>
            <a:srgbClr val="FF5A1F"/>
          </a:solidFill>
          <a:ln w="12700">
            <a:solidFill>
              <a:srgbClr val="FFFFFF">
                <a:alpha val="0"/>
              </a:srgbClr>
            </a:solidFill>
            <a:prstDash val="solid"/>
          </a:ln>
        </p:spPr>
      </p:sp>
      <p:sp>
        <p:nvSpPr>
          <p:cNvPr id="32" name="Shape 23"/>
          <p:cNvSpPr/>
          <p:nvPr/>
        </p:nvSpPr>
        <p:spPr>
          <a:xfrm>
            <a:off x="7118172" y="5035424"/>
            <a:ext cx="88898" cy="88898"/>
          </a:xfrm>
          <a:prstGeom prst="ellipse">
            <a:avLst/>
          </a:prstGeom>
          <a:solidFill>
            <a:srgbClr val="106BEF"/>
          </a:solidFill>
          <a:ln w="12700">
            <a:solidFill>
              <a:srgbClr val="FFFFFF">
                <a:alpha val="0"/>
              </a:srgbClr>
            </a:solidFill>
            <a:prstDash val="solid"/>
          </a:ln>
        </p:spPr>
      </p:sp>
      <p:sp>
        <p:nvSpPr>
          <p:cNvPr id="33" name="Shape 24"/>
          <p:cNvSpPr/>
          <p:nvPr/>
        </p:nvSpPr>
        <p:spPr>
          <a:xfrm>
            <a:off x="8464338" y="5035424"/>
            <a:ext cx="88898" cy="88898"/>
          </a:xfrm>
          <a:prstGeom prst="ellipse">
            <a:avLst/>
          </a:prstGeom>
          <a:solidFill>
            <a:srgbClr val="FF5A1F"/>
          </a:solidFill>
          <a:ln w="12700">
            <a:solidFill>
              <a:srgbClr val="FFFFFF">
                <a:alpha val="0"/>
              </a:srgbClr>
            </a:solidFill>
            <a:prstDash val="solid"/>
          </a:ln>
        </p:spPr>
      </p:sp>
      <p:sp>
        <p:nvSpPr>
          <p:cNvPr id="34" name="Shape 25"/>
          <p:cNvSpPr/>
          <p:nvPr/>
        </p:nvSpPr>
        <p:spPr>
          <a:xfrm>
            <a:off x="1079473" y="6057749"/>
            <a:ext cx="10032749" cy="406390"/>
          </a:xfrm>
          <a:prstGeom prst="roundRect">
            <a:avLst/>
          </a:prstGeom>
          <a:solidFill>
            <a:srgbClr val="FFFFFF"/>
          </a:solidFill>
          <a:ln w="12700">
            <a:solidFill>
              <a:srgbClr val="C4C6C1"/>
            </a:solidFill>
            <a:prstDash val="solid"/>
          </a:ln>
        </p:spPr>
      </p:sp>
      <p:sp>
        <p:nvSpPr>
          <p:cNvPr id="35" name="Shape 26"/>
          <p:cNvSpPr/>
          <p:nvPr/>
        </p:nvSpPr>
        <p:spPr>
          <a:xfrm>
            <a:off x="1523962" y="6165696"/>
            <a:ext cx="0" cy="190495"/>
          </a:xfrm>
          <a:prstGeom prst="line">
            <a:avLst/>
          </a:prstGeom>
          <a:noFill/>
          <a:ln w="50799">
            <a:solidFill>
              <a:srgbClr val="106BEF"/>
            </a:solidFill>
            <a:prstDash val="solid"/>
            <a:headEnd type="none"/>
            <a:tailEnd type="none"/>
          </a:ln>
        </p:spPr>
      </p:sp>
      <p:sp>
        <p:nvSpPr>
          <p:cNvPr id="36" name="Text 27"/>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发布到运维</a:t>
            </a:r>
            <a:endParaRPr lang="en-US" sz="3000" dirty="0"/>
          </a:p>
        </p:txBody>
      </p:sp>
      <p:sp>
        <p:nvSpPr>
          <p:cNvPr id="37" name="Text 28"/>
          <p:cNvSpPr/>
          <p:nvPr/>
        </p:nvSpPr>
        <p:spPr>
          <a:xfrm>
            <a:off x="634984" y="1549361"/>
            <a:ext cx="6440136"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交付不是终点：线上反馈要回到规则、测试、架构边界和上下文资产。</a:t>
            </a:r>
            <a:endParaRPr lang="en-US" sz="1550" dirty="0"/>
          </a:p>
        </p:txBody>
      </p:sp>
      <p:sp>
        <p:nvSpPr>
          <p:cNvPr id="38" name="Text 29"/>
          <p:cNvSpPr/>
          <p:nvPr/>
        </p:nvSpPr>
        <p:spPr>
          <a:xfrm>
            <a:off x="1676358" y="2971726"/>
            <a:ext cx="507987" cy="276218"/>
          </a:xfrm>
          <a:prstGeom prst="rect">
            <a:avLst/>
          </a:prstGeom>
          <a:noFill/>
          <a:ln/>
        </p:spPr>
        <p:txBody>
          <a:bodyPr wrap="square" lIns="0" tIns="0" rIns="0" bIns="0" rtlCol="0" anchor="t">
            <a:normAutofit/>
          </a:bodyPr>
          <a:lstStyle/>
          <a:p>
            <a:pPr algn="l" indent="0" marL="0">
              <a:buNone/>
            </a:pPr>
            <a:r>
              <a:rPr lang="en-US" sz="1500" b="1" dirty="0">
                <a:solidFill>
                  <a:srgbClr val="106BEF"/>
                </a:solidFill>
                <a:latin typeface="Arial" pitchFamily="34" charset="0"/>
                <a:ea typeface="Arial" pitchFamily="34" charset="-122"/>
                <a:cs typeface="Arial" pitchFamily="34" charset="-120"/>
              </a:rPr>
              <a:t>01</a:t>
            </a:r>
            <a:endParaRPr lang="en-US" sz="1500" dirty="0"/>
          </a:p>
        </p:txBody>
      </p:sp>
      <p:sp>
        <p:nvSpPr>
          <p:cNvPr id="39" name="Text 30"/>
          <p:cNvSpPr/>
          <p:nvPr/>
        </p:nvSpPr>
        <p:spPr>
          <a:xfrm>
            <a:off x="1676358" y="32384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发布控制</a:t>
            </a:r>
            <a:endParaRPr lang="en-US" sz="1450" dirty="0"/>
          </a:p>
        </p:txBody>
      </p:sp>
      <p:sp>
        <p:nvSpPr>
          <p:cNvPr id="40" name="Text 31"/>
          <p:cNvSpPr/>
          <p:nvPr/>
        </p:nvSpPr>
        <p:spPr>
          <a:xfrm>
            <a:off x="1181070" y="3898803"/>
            <a:ext cx="1976071"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灰度 / 回滚 / Feature Flag</a:t>
            </a:r>
            <a:endParaRPr lang="en-US" sz="1050" dirty="0"/>
          </a:p>
        </p:txBody>
      </p:sp>
      <p:sp>
        <p:nvSpPr>
          <p:cNvPr id="41" name="Text 32"/>
          <p:cNvSpPr/>
          <p:nvPr/>
        </p:nvSpPr>
        <p:spPr>
          <a:xfrm>
            <a:off x="4317892" y="2971726"/>
            <a:ext cx="507987" cy="276218"/>
          </a:xfrm>
          <a:prstGeom prst="rect">
            <a:avLst/>
          </a:prstGeom>
          <a:noFill/>
          <a:ln/>
        </p:spPr>
        <p:txBody>
          <a:bodyPr wrap="square" lIns="0" tIns="0" rIns="0" bIns="0" rtlCol="0" anchor="t">
            <a:normAutofit/>
          </a:bodyPr>
          <a:lstStyle/>
          <a:p>
            <a:pPr algn="l" indent="0" marL="0">
              <a:buNone/>
            </a:pPr>
            <a:r>
              <a:rPr lang="en-US" sz="1500" b="1" dirty="0">
                <a:solidFill>
                  <a:srgbClr val="FF5A1F"/>
                </a:solidFill>
                <a:latin typeface="Arial" pitchFamily="34" charset="0"/>
                <a:ea typeface="Arial" pitchFamily="34" charset="-122"/>
                <a:cs typeface="Arial" pitchFamily="34" charset="-120"/>
              </a:rPr>
              <a:t>02</a:t>
            </a:r>
            <a:endParaRPr lang="en-US" sz="1500" dirty="0"/>
          </a:p>
        </p:txBody>
      </p:sp>
      <p:sp>
        <p:nvSpPr>
          <p:cNvPr id="42" name="Text 33"/>
          <p:cNvSpPr/>
          <p:nvPr/>
        </p:nvSpPr>
        <p:spPr>
          <a:xfrm>
            <a:off x="4317892" y="32384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运行观测</a:t>
            </a:r>
            <a:endParaRPr lang="en-US" sz="1450" dirty="0"/>
          </a:p>
        </p:txBody>
      </p:sp>
      <p:sp>
        <p:nvSpPr>
          <p:cNvPr id="43" name="Text 34"/>
          <p:cNvSpPr/>
          <p:nvPr/>
        </p:nvSpPr>
        <p:spPr>
          <a:xfrm>
            <a:off x="3822604" y="3898803"/>
            <a:ext cx="1469353"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日志 / 指标 / Trace</a:t>
            </a:r>
            <a:endParaRPr lang="en-US" sz="1050" dirty="0"/>
          </a:p>
        </p:txBody>
      </p:sp>
      <p:sp>
        <p:nvSpPr>
          <p:cNvPr id="44" name="Text 35"/>
          <p:cNvSpPr/>
          <p:nvPr/>
        </p:nvSpPr>
        <p:spPr>
          <a:xfrm>
            <a:off x="6959426" y="2971726"/>
            <a:ext cx="507987" cy="276218"/>
          </a:xfrm>
          <a:prstGeom prst="rect">
            <a:avLst/>
          </a:prstGeom>
          <a:noFill/>
          <a:ln/>
        </p:spPr>
        <p:txBody>
          <a:bodyPr wrap="square" lIns="0" tIns="0" rIns="0" bIns="0" rtlCol="0" anchor="t">
            <a:normAutofit/>
          </a:bodyPr>
          <a:lstStyle/>
          <a:p>
            <a:pPr algn="l" indent="0" marL="0">
              <a:buNone/>
            </a:pPr>
            <a:r>
              <a:rPr lang="en-US" sz="1500" b="1" dirty="0">
                <a:solidFill>
                  <a:srgbClr val="106BEF"/>
                </a:solidFill>
                <a:latin typeface="Arial" pitchFamily="34" charset="0"/>
                <a:ea typeface="Arial" pitchFamily="34" charset="-122"/>
                <a:cs typeface="Arial" pitchFamily="34" charset="-120"/>
              </a:rPr>
              <a:t>03</a:t>
            </a:r>
            <a:endParaRPr lang="en-US" sz="1500" dirty="0"/>
          </a:p>
        </p:txBody>
      </p:sp>
      <p:sp>
        <p:nvSpPr>
          <p:cNvPr id="45" name="Text 36"/>
          <p:cNvSpPr/>
          <p:nvPr/>
        </p:nvSpPr>
        <p:spPr>
          <a:xfrm>
            <a:off x="6959426" y="32384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复盘学习</a:t>
            </a:r>
            <a:endParaRPr lang="en-US" sz="1450" dirty="0"/>
          </a:p>
        </p:txBody>
      </p:sp>
      <p:sp>
        <p:nvSpPr>
          <p:cNvPr id="46" name="Text 37"/>
          <p:cNvSpPr/>
          <p:nvPr/>
        </p:nvSpPr>
        <p:spPr>
          <a:xfrm>
            <a:off x="6464138" y="3898803"/>
            <a:ext cx="1624035"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事故 / 返工 / 失败模式</a:t>
            </a:r>
            <a:endParaRPr lang="en-US" sz="1050" dirty="0"/>
          </a:p>
        </p:txBody>
      </p:sp>
      <p:sp>
        <p:nvSpPr>
          <p:cNvPr id="47" name="Text 38"/>
          <p:cNvSpPr/>
          <p:nvPr/>
        </p:nvSpPr>
        <p:spPr>
          <a:xfrm>
            <a:off x="9600960" y="2971726"/>
            <a:ext cx="507987" cy="276218"/>
          </a:xfrm>
          <a:prstGeom prst="rect">
            <a:avLst/>
          </a:prstGeom>
          <a:noFill/>
          <a:ln/>
        </p:spPr>
        <p:txBody>
          <a:bodyPr wrap="square" lIns="0" tIns="0" rIns="0" bIns="0" rtlCol="0" anchor="t">
            <a:normAutofit/>
          </a:bodyPr>
          <a:lstStyle/>
          <a:p>
            <a:pPr algn="l" indent="0" marL="0">
              <a:buNone/>
            </a:pPr>
            <a:r>
              <a:rPr lang="en-US" sz="1500" b="1" dirty="0">
                <a:solidFill>
                  <a:srgbClr val="FF5A1F"/>
                </a:solidFill>
                <a:latin typeface="Arial" pitchFamily="34" charset="0"/>
                <a:ea typeface="Arial" pitchFamily="34" charset="-122"/>
                <a:cs typeface="Arial" pitchFamily="34" charset="-120"/>
              </a:rPr>
              <a:t>04</a:t>
            </a:r>
            <a:endParaRPr lang="en-US" sz="1500" dirty="0"/>
          </a:p>
        </p:txBody>
      </p:sp>
      <p:sp>
        <p:nvSpPr>
          <p:cNvPr id="48" name="Text 39"/>
          <p:cNvSpPr/>
          <p:nvPr/>
        </p:nvSpPr>
        <p:spPr>
          <a:xfrm>
            <a:off x="9600960" y="3238419"/>
            <a:ext cx="967208" cy="267011"/>
          </a:xfrm>
          <a:prstGeom prst="rect">
            <a:avLst/>
          </a:prstGeom>
          <a:noFill/>
          <a:ln/>
        </p:spPr>
        <p:txBody>
          <a:bodyPr wrap="square" lIns="0" tIns="0" rIns="0" bIns="0" rtlCol="0" anchor="t">
            <a:normAutofit/>
          </a:bodyPr>
          <a:lstStyle/>
          <a:p>
            <a:pPr algn="l" indent="0" marL="0">
              <a:buNone/>
            </a:pPr>
            <a:r>
              <a:rPr lang="en-US" sz="1450" b="1" dirty="0">
                <a:solidFill>
                  <a:srgbClr val="050608"/>
                </a:solidFill>
                <a:latin typeface="Microsoft YaHei" pitchFamily="34" charset="0"/>
                <a:ea typeface="Microsoft YaHei" pitchFamily="34" charset="-122"/>
                <a:cs typeface="Microsoft YaHei" pitchFamily="34" charset="-120"/>
              </a:rPr>
              <a:t>架构演进</a:t>
            </a:r>
            <a:endParaRPr lang="en-US" sz="1450" dirty="0"/>
          </a:p>
        </p:txBody>
      </p:sp>
      <p:sp>
        <p:nvSpPr>
          <p:cNvPr id="49" name="Text 40"/>
          <p:cNvSpPr/>
          <p:nvPr/>
        </p:nvSpPr>
        <p:spPr>
          <a:xfrm>
            <a:off x="9105672" y="3898803"/>
            <a:ext cx="1896063" cy="193353"/>
          </a:xfrm>
          <a:prstGeom prst="rect">
            <a:avLst/>
          </a:prstGeom>
          <a:noFill/>
          <a:ln/>
        </p:spPr>
        <p:txBody>
          <a:bodyPr wrap="square" lIns="0" tIns="0" rIns="0" bIns="0" rtlCol="0" anchor="t">
            <a:normAutofit/>
          </a:bodyPr>
          <a:lstStyle/>
          <a:p>
            <a:pPr algn="l" indent="0" marL="0">
              <a:buNone/>
            </a:pPr>
            <a:r>
              <a:rPr lang="en-US" sz="1050" b="1" dirty="0">
                <a:solidFill>
                  <a:srgbClr val="050608"/>
                </a:solidFill>
                <a:latin typeface="Microsoft YaHei" pitchFamily="34" charset="0"/>
                <a:ea typeface="Microsoft YaHei" pitchFamily="34" charset="-122"/>
                <a:cs typeface="Microsoft YaHei" pitchFamily="34" charset="-120"/>
              </a:rPr>
              <a:t>能力边界 / 接口 / 等价验证</a:t>
            </a:r>
            <a:endParaRPr lang="en-US" sz="1050" dirty="0"/>
          </a:p>
        </p:txBody>
      </p:sp>
      <p:sp>
        <p:nvSpPr>
          <p:cNvPr id="50" name="Text 41"/>
          <p:cNvSpPr/>
          <p:nvPr/>
        </p:nvSpPr>
        <p:spPr>
          <a:xfrm>
            <a:off x="2019250" y="5003675"/>
            <a:ext cx="1304003" cy="257804"/>
          </a:xfrm>
          <a:prstGeom prst="rect">
            <a:avLst/>
          </a:prstGeom>
          <a:noFill/>
          <a:ln/>
        </p:spPr>
        <p:txBody>
          <a:bodyPr wrap="square" lIns="0" tIns="0" rIns="0" bIns="0" rtlCol="0" anchor="t">
            <a:normAutofit/>
          </a:bodyPr>
          <a:lstStyle/>
          <a:p>
            <a:pPr algn="l" indent="0" marL="0">
              <a:buNone/>
            </a:pPr>
            <a:r>
              <a:rPr lang="en-US" sz="1400" b="1" dirty="0">
                <a:solidFill>
                  <a:srgbClr val="106BEF"/>
                </a:solidFill>
                <a:latin typeface="Microsoft YaHei" pitchFamily="34" charset="0"/>
                <a:ea typeface="Microsoft YaHei" pitchFamily="34" charset="-122"/>
                <a:cs typeface="Microsoft YaHei" pitchFamily="34" charset="-120"/>
              </a:rPr>
              <a:t>沉淀可用资产</a:t>
            </a:r>
            <a:endParaRPr lang="en-US" sz="1400" dirty="0"/>
          </a:p>
        </p:txBody>
      </p:sp>
      <p:sp>
        <p:nvSpPr>
          <p:cNvPr id="51" name="Text 42"/>
          <p:cNvSpPr/>
          <p:nvPr/>
        </p:nvSpPr>
        <p:spPr>
          <a:xfrm>
            <a:off x="4635384" y="4990975"/>
            <a:ext cx="1090268" cy="248596"/>
          </a:xfrm>
          <a:prstGeom prst="rect">
            <a:avLst/>
          </a:prstGeom>
          <a:noFill/>
          <a:ln/>
        </p:spPr>
        <p:txBody>
          <a:bodyPr wrap="square" lIns="0" tIns="0" rIns="0" bIns="0" rtlCol="0" anchor="t">
            <a:normAutofit/>
          </a:bodyPr>
          <a:lstStyle/>
          <a:p>
            <a:pPr algn="l" indent="0" marL="0">
              <a:buNone/>
            </a:pPr>
            <a:r>
              <a:rPr lang="en-US" sz="1350" b="1" dirty="0">
                <a:solidFill>
                  <a:srgbClr val="050608"/>
                </a:solidFill>
                <a:latin typeface="Microsoft YaHei" pitchFamily="34" charset="0"/>
                <a:ea typeface="Microsoft YaHei" pitchFamily="34" charset="-122"/>
                <a:cs typeface="Microsoft YaHei" pitchFamily="34" charset="-120"/>
              </a:rPr>
              <a:t>规则上下文</a:t>
            </a:r>
            <a:endParaRPr lang="en-US" sz="1350" dirty="0"/>
          </a:p>
        </p:txBody>
      </p:sp>
      <p:sp>
        <p:nvSpPr>
          <p:cNvPr id="52" name="Text 43"/>
          <p:cNvSpPr/>
          <p:nvPr/>
        </p:nvSpPr>
        <p:spPr>
          <a:xfrm>
            <a:off x="5981550" y="4990975"/>
            <a:ext cx="915393" cy="248596"/>
          </a:xfrm>
          <a:prstGeom prst="rect">
            <a:avLst/>
          </a:prstGeom>
          <a:noFill/>
          <a:ln/>
        </p:spPr>
        <p:txBody>
          <a:bodyPr wrap="square" lIns="0" tIns="0" rIns="0" bIns="0" rtlCol="0" anchor="t">
            <a:normAutofit/>
          </a:bodyPr>
          <a:lstStyle/>
          <a:p>
            <a:pPr algn="l" indent="0" marL="0">
              <a:buNone/>
            </a:pPr>
            <a:r>
              <a:rPr lang="en-US" sz="1350" b="1" dirty="0">
                <a:solidFill>
                  <a:srgbClr val="050608"/>
                </a:solidFill>
                <a:latin typeface="Microsoft YaHei" pitchFamily="34" charset="0"/>
                <a:ea typeface="Microsoft YaHei" pitchFamily="34" charset="-122"/>
                <a:cs typeface="Microsoft YaHei" pitchFamily="34" charset="-120"/>
              </a:rPr>
              <a:t>回归测试</a:t>
            </a:r>
            <a:endParaRPr lang="en-US" sz="1350" dirty="0"/>
          </a:p>
        </p:txBody>
      </p:sp>
      <p:sp>
        <p:nvSpPr>
          <p:cNvPr id="53" name="Text 44"/>
          <p:cNvSpPr/>
          <p:nvPr/>
        </p:nvSpPr>
        <p:spPr>
          <a:xfrm>
            <a:off x="7327717" y="4990975"/>
            <a:ext cx="915393" cy="248596"/>
          </a:xfrm>
          <a:prstGeom prst="rect">
            <a:avLst/>
          </a:prstGeom>
          <a:noFill/>
          <a:ln/>
        </p:spPr>
        <p:txBody>
          <a:bodyPr wrap="square" lIns="0" tIns="0" rIns="0" bIns="0" rtlCol="0" anchor="t">
            <a:normAutofit/>
          </a:bodyPr>
          <a:lstStyle/>
          <a:p>
            <a:pPr algn="l" indent="0" marL="0">
              <a:buNone/>
            </a:pPr>
            <a:r>
              <a:rPr lang="en-US" sz="1350" b="1" dirty="0">
                <a:solidFill>
                  <a:srgbClr val="050608"/>
                </a:solidFill>
                <a:latin typeface="Microsoft YaHei" pitchFamily="34" charset="0"/>
                <a:ea typeface="Microsoft YaHei" pitchFamily="34" charset="-122"/>
                <a:cs typeface="Microsoft YaHei" pitchFamily="34" charset="-120"/>
              </a:rPr>
              <a:t>架构边界</a:t>
            </a:r>
            <a:endParaRPr lang="en-US" sz="1350" dirty="0"/>
          </a:p>
        </p:txBody>
      </p:sp>
      <p:sp>
        <p:nvSpPr>
          <p:cNvPr id="54" name="Text 45"/>
          <p:cNvSpPr/>
          <p:nvPr/>
        </p:nvSpPr>
        <p:spPr>
          <a:xfrm>
            <a:off x="8673883" y="4990975"/>
            <a:ext cx="915393" cy="248596"/>
          </a:xfrm>
          <a:prstGeom prst="rect">
            <a:avLst/>
          </a:prstGeom>
          <a:noFill/>
          <a:ln/>
        </p:spPr>
        <p:txBody>
          <a:bodyPr wrap="square" lIns="0" tIns="0" rIns="0" bIns="0" rtlCol="0" anchor="t">
            <a:normAutofit/>
          </a:bodyPr>
          <a:lstStyle/>
          <a:p>
            <a:pPr algn="l" indent="0" marL="0">
              <a:buNone/>
            </a:pPr>
            <a:r>
              <a:rPr lang="en-US" sz="1350" b="1" dirty="0">
                <a:solidFill>
                  <a:srgbClr val="050608"/>
                </a:solidFill>
                <a:latin typeface="Microsoft YaHei" pitchFamily="34" charset="0"/>
                <a:ea typeface="Microsoft YaHei" pitchFamily="34" charset="-122"/>
                <a:cs typeface="Microsoft YaHei" pitchFamily="34" charset="-120"/>
              </a:rPr>
              <a:t>风险样本</a:t>
            </a:r>
            <a:endParaRPr lang="en-US" sz="1350" dirty="0"/>
          </a:p>
        </p:txBody>
      </p:sp>
      <p:sp>
        <p:nvSpPr>
          <p:cNvPr id="55" name="Text 46"/>
          <p:cNvSpPr/>
          <p:nvPr/>
        </p:nvSpPr>
        <p:spPr>
          <a:xfrm>
            <a:off x="1079473" y="6060447"/>
            <a:ext cx="10032749" cy="248596"/>
          </a:xfrm>
          <a:prstGeom prst="rect">
            <a:avLst/>
          </a:prstGeom>
          <a:noFill/>
          <a:ln/>
        </p:spPr>
        <p:txBody>
          <a:bodyPr wrap="square" lIns="0" tIns="0" rIns="0" bIns="0" rtlCol="0" anchor="ctr">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反馈记忆把线上证据回流到下一轮任务契约、测试与架构规则。</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11-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11-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11-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019250"/>
            <a:ext cx="711182" cy="0"/>
          </a:xfrm>
          <a:prstGeom prst="line">
            <a:avLst/>
          </a:prstGeom>
          <a:noFill/>
          <a:ln w="50799">
            <a:solidFill>
              <a:srgbClr val="106BEF"/>
            </a:solidFill>
            <a:prstDash val="solid"/>
            <a:headEnd type="none"/>
            <a:tailEnd type="none"/>
          </a:ln>
        </p:spPr>
      </p:sp>
      <p:sp>
        <p:nvSpPr>
          <p:cNvPr id="10" name="Shape 5"/>
          <p:cNvSpPr/>
          <p:nvPr/>
        </p:nvSpPr>
        <p:spPr>
          <a:xfrm>
            <a:off x="1425539" y="1984325"/>
            <a:ext cx="69848" cy="69848"/>
          </a:xfrm>
          <a:prstGeom prst="ellipse">
            <a:avLst/>
          </a:prstGeom>
          <a:solidFill>
            <a:srgbClr val="FF5A1F"/>
          </a:solidFill>
          <a:ln w="12700">
            <a:solidFill>
              <a:srgbClr val="FFFFFF">
                <a:alpha val="0"/>
              </a:srgbClr>
            </a:solidFill>
            <a:prstDash val="solid"/>
          </a:ln>
        </p:spPr>
      </p:sp>
      <p:sp>
        <p:nvSpPr>
          <p:cNvPr id="11" name="Shape 6"/>
          <p:cNvSpPr/>
          <p:nvPr/>
        </p:nvSpPr>
        <p:spPr>
          <a:xfrm>
            <a:off x="685783" y="2476438"/>
            <a:ext cx="3428914" cy="2882828"/>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2" name="Shape 7"/>
          <p:cNvSpPr/>
          <p:nvPr/>
        </p:nvSpPr>
        <p:spPr>
          <a:xfrm>
            <a:off x="901677" y="2692333"/>
            <a:ext cx="558786" cy="558786"/>
          </a:xfrm>
          <a:prstGeom prst="ellipse">
            <a:avLst/>
          </a:prstGeom>
          <a:solidFill>
            <a:srgbClr val="106BEF">
              <a:alpha val="10000"/>
            </a:srgbClr>
          </a:solidFill>
          <a:ln w="12700">
            <a:solidFill>
              <a:srgbClr val="FFFFFF">
                <a:alpha val="0"/>
              </a:srgbClr>
            </a:solidFill>
            <a:prstDash val="solid"/>
          </a:ln>
        </p:spPr>
      </p:sp>
      <p:pic>
        <p:nvPicPr>
          <p:cNvPr id="13" name="Image 3" descr="D:\workspace\worktree_for_vcoder\BitFun\docs\report\ai-redefines-software-development-presentation\agents_are_the_new_Agile-slides-png-v0.18\slide-11-layer-12.png">    </p:cNvPr>
          <p:cNvPicPr>
            <a:picLocks noChangeAspect="1"/>
          </p:cNvPicPr>
          <p:nvPr/>
        </p:nvPicPr>
        <p:blipFill>
          <a:blip r:embed="rId4"/>
          <a:stretch>
            <a:fillRect/>
          </a:stretch>
        </p:blipFill>
        <p:spPr>
          <a:xfrm>
            <a:off x="0" y="0"/>
            <a:ext cx="12191695" cy="6858000"/>
          </a:xfrm>
          <a:prstGeom prst="rect">
            <a:avLst/>
          </a:prstGeom>
        </p:spPr>
      </p:pic>
      <p:sp>
        <p:nvSpPr>
          <p:cNvPr id="14" name="Shape 8"/>
          <p:cNvSpPr/>
          <p:nvPr/>
        </p:nvSpPr>
        <p:spPr>
          <a:xfrm>
            <a:off x="1028674" y="3733707"/>
            <a:ext cx="2743131" cy="0"/>
          </a:xfrm>
          <a:prstGeom prst="line">
            <a:avLst/>
          </a:prstGeom>
          <a:noFill/>
          <a:ln w="25399">
            <a:solidFill>
              <a:srgbClr val="106BEF">
                <a:alpha val="62000"/>
              </a:srgbClr>
            </a:solidFill>
            <a:prstDash val="solid"/>
            <a:headEnd type="none"/>
            <a:tailEnd type="none"/>
          </a:ln>
        </p:spPr>
      </p:sp>
      <p:sp>
        <p:nvSpPr>
          <p:cNvPr id="15" name="Shape 9"/>
          <p:cNvSpPr/>
          <p:nvPr/>
        </p:nvSpPr>
        <p:spPr>
          <a:xfrm>
            <a:off x="1047724" y="4032149"/>
            <a:ext cx="88898" cy="88898"/>
          </a:xfrm>
          <a:prstGeom prst="ellipse">
            <a:avLst/>
          </a:prstGeom>
          <a:solidFill>
            <a:srgbClr val="106BEF">
              <a:alpha val="82000"/>
            </a:srgbClr>
          </a:solidFill>
          <a:ln w="12700">
            <a:solidFill>
              <a:srgbClr val="FFFFFF">
                <a:alpha val="0"/>
              </a:srgbClr>
            </a:solidFill>
            <a:prstDash val="solid"/>
          </a:ln>
        </p:spPr>
      </p:sp>
      <p:sp>
        <p:nvSpPr>
          <p:cNvPr id="16" name="Shape 10"/>
          <p:cNvSpPr/>
          <p:nvPr/>
        </p:nvSpPr>
        <p:spPr>
          <a:xfrm>
            <a:off x="1047724" y="4425839"/>
            <a:ext cx="88898" cy="88898"/>
          </a:xfrm>
          <a:prstGeom prst="ellipse">
            <a:avLst/>
          </a:prstGeom>
          <a:solidFill>
            <a:srgbClr val="106BEF">
              <a:alpha val="82000"/>
            </a:srgbClr>
          </a:solidFill>
          <a:ln w="12700">
            <a:solidFill>
              <a:srgbClr val="FFFFFF">
                <a:alpha val="0"/>
              </a:srgbClr>
            </a:solidFill>
            <a:prstDash val="solid"/>
          </a:ln>
        </p:spPr>
      </p:sp>
      <p:sp>
        <p:nvSpPr>
          <p:cNvPr id="17" name="Shape 11"/>
          <p:cNvSpPr/>
          <p:nvPr/>
        </p:nvSpPr>
        <p:spPr>
          <a:xfrm>
            <a:off x="1047724" y="4819530"/>
            <a:ext cx="88898" cy="88898"/>
          </a:xfrm>
          <a:prstGeom prst="ellipse">
            <a:avLst/>
          </a:prstGeom>
          <a:solidFill>
            <a:srgbClr val="106BEF">
              <a:alpha val="82000"/>
            </a:srgbClr>
          </a:solidFill>
          <a:ln w="12700">
            <a:solidFill>
              <a:srgbClr val="FFFFFF">
                <a:alpha val="0"/>
              </a:srgbClr>
            </a:solidFill>
            <a:prstDash val="solid"/>
          </a:ln>
        </p:spPr>
      </p:sp>
      <p:sp>
        <p:nvSpPr>
          <p:cNvPr id="18" name="Shape 12"/>
          <p:cNvSpPr/>
          <p:nvPr/>
        </p:nvSpPr>
        <p:spPr>
          <a:xfrm>
            <a:off x="4381390" y="2476438"/>
            <a:ext cx="3428914" cy="2882828"/>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9" name="Shape 13"/>
          <p:cNvSpPr/>
          <p:nvPr/>
        </p:nvSpPr>
        <p:spPr>
          <a:xfrm>
            <a:off x="4597285" y="2692333"/>
            <a:ext cx="558786" cy="558786"/>
          </a:xfrm>
          <a:prstGeom prst="ellipse">
            <a:avLst/>
          </a:prstGeom>
          <a:solidFill>
            <a:srgbClr val="FF5A1F">
              <a:alpha val="10000"/>
            </a:srgbClr>
          </a:solidFill>
          <a:ln w="12700">
            <a:solidFill>
              <a:srgbClr val="FFFFFF">
                <a:alpha val="0"/>
              </a:srgbClr>
            </a:solidFill>
            <a:prstDash val="solid"/>
          </a:ln>
        </p:spPr>
      </p:sp>
      <p:pic>
        <p:nvPicPr>
          <p:cNvPr id="20" name="Image 4" descr="D:\workspace\worktree_for_vcoder\BitFun\docs\report\ai-redefines-software-development-presentation\agents_are_the_new_Agile-slides-png-v0.18\slide-11-layer-19.png">    </p:cNvPr>
          <p:cNvPicPr>
            <a:picLocks noChangeAspect="1"/>
          </p:cNvPicPr>
          <p:nvPr/>
        </p:nvPicPr>
        <p:blipFill>
          <a:blip r:embed="rId5"/>
          <a:stretch>
            <a:fillRect/>
          </a:stretch>
        </p:blipFill>
        <p:spPr>
          <a:xfrm>
            <a:off x="0" y="0"/>
            <a:ext cx="12191695" cy="6858000"/>
          </a:xfrm>
          <a:prstGeom prst="rect">
            <a:avLst/>
          </a:prstGeom>
        </p:spPr>
      </p:pic>
      <p:sp>
        <p:nvSpPr>
          <p:cNvPr id="21" name="Shape 14"/>
          <p:cNvSpPr/>
          <p:nvPr/>
        </p:nvSpPr>
        <p:spPr>
          <a:xfrm>
            <a:off x="4724282" y="3733707"/>
            <a:ext cx="2743131" cy="0"/>
          </a:xfrm>
          <a:prstGeom prst="line">
            <a:avLst/>
          </a:prstGeom>
          <a:noFill/>
          <a:ln w="25399">
            <a:solidFill>
              <a:srgbClr val="FF5A1F">
                <a:alpha val="62000"/>
              </a:srgbClr>
            </a:solidFill>
            <a:prstDash val="solid"/>
            <a:headEnd type="none"/>
            <a:tailEnd type="none"/>
          </a:ln>
        </p:spPr>
      </p:sp>
      <p:sp>
        <p:nvSpPr>
          <p:cNvPr id="22" name="Shape 15"/>
          <p:cNvSpPr/>
          <p:nvPr/>
        </p:nvSpPr>
        <p:spPr>
          <a:xfrm>
            <a:off x="4743331" y="4032149"/>
            <a:ext cx="88898" cy="88898"/>
          </a:xfrm>
          <a:prstGeom prst="ellipse">
            <a:avLst/>
          </a:prstGeom>
          <a:solidFill>
            <a:srgbClr val="FF5A1F">
              <a:alpha val="82000"/>
            </a:srgbClr>
          </a:solidFill>
          <a:ln w="12700">
            <a:solidFill>
              <a:srgbClr val="FFFFFF">
                <a:alpha val="0"/>
              </a:srgbClr>
            </a:solidFill>
            <a:prstDash val="solid"/>
          </a:ln>
        </p:spPr>
      </p:sp>
      <p:sp>
        <p:nvSpPr>
          <p:cNvPr id="23" name="Shape 16"/>
          <p:cNvSpPr/>
          <p:nvPr/>
        </p:nvSpPr>
        <p:spPr>
          <a:xfrm>
            <a:off x="4743331" y="4425839"/>
            <a:ext cx="88898" cy="88898"/>
          </a:xfrm>
          <a:prstGeom prst="ellipse">
            <a:avLst/>
          </a:prstGeom>
          <a:solidFill>
            <a:srgbClr val="FF5A1F">
              <a:alpha val="82000"/>
            </a:srgbClr>
          </a:solidFill>
          <a:ln w="12700">
            <a:solidFill>
              <a:srgbClr val="FFFFFF">
                <a:alpha val="0"/>
              </a:srgbClr>
            </a:solidFill>
            <a:prstDash val="solid"/>
          </a:ln>
        </p:spPr>
      </p:sp>
      <p:sp>
        <p:nvSpPr>
          <p:cNvPr id="24" name="Shape 17"/>
          <p:cNvSpPr/>
          <p:nvPr/>
        </p:nvSpPr>
        <p:spPr>
          <a:xfrm>
            <a:off x="4743331" y="4819530"/>
            <a:ext cx="88898" cy="88898"/>
          </a:xfrm>
          <a:prstGeom prst="ellipse">
            <a:avLst/>
          </a:prstGeom>
          <a:solidFill>
            <a:srgbClr val="FF5A1F">
              <a:alpha val="82000"/>
            </a:srgbClr>
          </a:solidFill>
          <a:ln w="12700">
            <a:solidFill>
              <a:srgbClr val="FFFFFF">
                <a:alpha val="0"/>
              </a:srgbClr>
            </a:solidFill>
            <a:prstDash val="solid"/>
          </a:ln>
        </p:spPr>
      </p:sp>
      <p:sp>
        <p:nvSpPr>
          <p:cNvPr id="25" name="Shape 18"/>
          <p:cNvSpPr/>
          <p:nvPr/>
        </p:nvSpPr>
        <p:spPr>
          <a:xfrm>
            <a:off x="8076998" y="2476438"/>
            <a:ext cx="3428914" cy="2882828"/>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26" name="Shape 19"/>
          <p:cNvSpPr/>
          <p:nvPr/>
        </p:nvSpPr>
        <p:spPr>
          <a:xfrm>
            <a:off x="8292893" y="2692333"/>
            <a:ext cx="558786" cy="558786"/>
          </a:xfrm>
          <a:prstGeom prst="ellipse">
            <a:avLst/>
          </a:prstGeom>
          <a:solidFill>
            <a:srgbClr val="106BEF">
              <a:alpha val="10000"/>
            </a:srgbClr>
          </a:solidFill>
          <a:ln w="12700">
            <a:solidFill>
              <a:srgbClr val="FFFFFF">
                <a:alpha val="0"/>
              </a:srgbClr>
            </a:solidFill>
            <a:prstDash val="solid"/>
          </a:ln>
        </p:spPr>
      </p:sp>
      <p:pic>
        <p:nvPicPr>
          <p:cNvPr id="27" name="Image 5" descr="D:\workspace\worktree_for_vcoder\BitFun\docs\report\ai-redefines-software-development-presentation\agents_are_the_new_Agile-slides-png-v0.18\slide-11-layer-26.png">    </p:cNvPr>
          <p:cNvPicPr>
            <a:picLocks noChangeAspect="1"/>
          </p:cNvPicPr>
          <p:nvPr/>
        </p:nvPicPr>
        <p:blipFill>
          <a:blip r:embed="rId6"/>
          <a:stretch>
            <a:fillRect/>
          </a:stretch>
        </p:blipFill>
        <p:spPr>
          <a:xfrm>
            <a:off x="0" y="0"/>
            <a:ext cx="12191695" cy="6858000"/>
          </a:xfrm>
          <a:prstGeom prst="rect">
            <a:avLst/>
          </a:prstGeom>
        </p:spPr>
      </p:pic>
      <p:sp>
        <p:nvSpPr>
          <p:cNvPr id="28" name="Shape 20"/>
          <p:cNvSpPr/>
          <p:nvPr/>
        </p:nvSpPr>
        <p:spPr>
          <a:xfrm>
            <a:off x="8419889" y="3733707"/>
            <a:ext cx="2743131" cy="0"/>
          </a:xfrm>
          <a:prstGeom prst="line">
            <a:avLst/>
          </a:prstGeom>
          <a:noFill/>
          <a:ln w="25399">
            <a:solidFill>
              <a:srgbClr val="106BEF">
                <a:alpha val="62000"/>
              </a:srgbClr>
            </a:solidFill>
            <a:prstDash val="solid"/>
            <a:headEnd type="none"/>
            <a:tailEnd type="none"/>
          </a:ln>
        </p:spPr>
      </p:sp>
      <p:sp>
        <p:nvSpPr>
          <p:cNvPr id="29" name="Shape 21"/>
          <p:cNvSpPr/>
          <p:nvPr/>
        </p:nvSpPr>
        <p:spPr>
          <a:xfrm>
            <a:off x="8438939" y="4032149"/>
            <a:ext cx="88898" cy="88898"/>
          </a:xfrm>
          <a:prstGeom prst="ellipse">
            <a:avLst/>
          </a:prstGeom>
          <a:solidFill>
            <a:srgbClr val="106BEF">
              <a:alpha val="82000"/>
            </a:srgbClr>
          </a:solidFill>
          <a:ln w="12700">
            <a:solidFill>
              <a:srgbClr val="FFFFFF">
                <a:alpha val="0"/>
              </a:srgbClr>
            </a:solidFill>
            <a:prstDash val="solid"/>
          </a:ln>
        </p:spPr>
      </p:sp>
      <p:sp>
        <p:nvSpPr>
          <p:cNvPr id="30" name="Shape 22"/>
          <p:cNvSpPr/>
          <p:nvPr/>
        </p:nvSpPr>
        <p:spPr>
          <a:xfrm>
            <a:off x="8438939" y="4425839"/>
            <a:ext cx="88898" cy="88898"/>
          </a:xfrm>
          <a:prstGeom prst="ellipse">
            <a:avLst/>
          </a:prstGeom>
          <a:solidFill>
            <a:srgbClr val="106BEF">
              <a:alpha val="82000"/>
            </a:srgbClr>
          </a:solidFill>
          <a:ln w="12700">
            <a:solidFill>
              <a:srgbClr val="FFFFFF">
                <a:alpha val="0"/>
              </a:srgbClr>
            </a:solidFill>
            <a:prstDash val="solid"/>
          </a:ln>
        </p:spPr>
      </p:sp>
      <p:sp>
        <p:nvSpPr>
          <p:cNvPr id="31" name="Shape 23"/>
          <p:cNvSpPr/>
          <p:nvPr/>
        </p:nvSpPr>
        <p:spPr>
          <a:xfrm>
            <a:off x="8438939" y="4819530"/>
            <a:ext cx="88898" cy="88898"/>
          </a:xfrm>
          <a:prstGeom prst="ellipse">
            <a:avLst/>
          </a:prstGeom>
          <a:solidFill>
            <a:srgbClr val="106BEF">
              <a:alpha val="82000"/>
            </a:srgbClr>
          </a:solidFill>
          <a:ln w="12700">
            <a:solidFill>
              <a:srgbClr val="FFFFFF">
                <a:alpha val="0"/>
              </a:srgbClr>
            </a:solidFill>
            <a:prstDash val="solid"/>
          </a:ln>
        </p:spPr>
      </p:sp>
      <p:sp>
        <p:nvSpPr>
          <p:cNvPr id="32" name="Shape 24"/>
          <p:cNvSpPr/>
          <p:nvPr/>
        </p:nvSpPr>
        <p:spPr>
          <a:xfrm>
            <a:off x="1079473" y="6057749"/>
            <a:ext cx="10032749" cy="406390"/>
          </a:xfrm>
          <a:prstGeom prst="roundRect">
            <a:avLst/>
          </a:prstGeom>
          <a:solidFill>
            <a:srgbClr val="FFFFFF"/>
          </a:solidFill>
          <a:ln w="12700">
            <a:solidFill>
              <a:srgbClr val="C4C6C1"/>
            </a:solidFill>
            <a:prstDash val="solid"/>
          </a:ln>
        </p:spPr>
      </p:sp>
      <p:sp>
        <p:nvSpPr>
          <p:cNvPr id="33" name="Shape 25"/>
          <p:cNvSpPr/>
          <p:nvPr/>
        </p:nvSpPr>
        <p:spPr>
          <a:xfrm>
            <a:off x="1523962" y="6165696"/>
            <a:ext cx="0" cy="190495"/>
          </a:xfrm>
          <a:prstGeom prst="line">
            <a:avLst/>
          </a:prstGeom>
          <a:noFill/>
          <a:ln w="50799">
            <a:solidFill>
              <a:srgbClr val="106BEF"/>
            </a:solidFill>
            <a:prstDash val="solid"/>
            <a:headEnd type="none"/>
            <a:tailEnd type="none"/>
          </a:ln>
        </p:spPr>
      </p:sp>
      <p:sp>
        <p:nvSpPr>
          <p:cNvPr id="34" name="Text 26"/>
          <p:cNvSpPr/>
          <p:nvPr/>
        </p:nvSpPr>
        <p:spPr>
          <a:xfrm>
            <a:off x="609585" y="927077"/>
            <a:ext cx="2158946"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开发者角色</a:t>
            </a:r>
            <a:endParaRPr lang="en-US" sz="3000" dirty="0"/>
          </a:p>
        </p:txBody>
      </p:sp>
      <p:sp>
        <p:nvSpPr>
          <p:cNvPr id="35" name="Text 27"/>
          <p:cNvSpPr/>
          <p:nvPr/>
        </p:nvSpPr>
        <p:spPr>
          <a:xfrm>
            <a:off x="634984" y="1549361"/>
            <a:ext cx="7042482" cy="285425"/>
          </a:xfrm>
          <a:prstGeom prst="rect">
            <a:avLst/>
          </a:prstGeom>
          <a:noFill/>
          <a:ln/>
        </p:spPr>
        <p:txBody>
          <a:bodyPr wrap="square" lIns="0" tIns="0" rIns="0" bIns="0" rtlCol="0" anchor="t">
            <a:normAutofit/>
          </a:bodyPr>
          <a:lstStyle/>
          <a:p>
            <a:pPr algn="l" indent="0" marL="0">
              <a:buNone/>
            </a:pPr>
            <a:r>
              <a:rPr lang="en-US" sz="1550" b="1" dirty="0">
                <a:solidFill>
                  <a:srgbClr val="5F6670"/>
                </a:solidFill>
                <a:latin typeface="Microsoft YaHei" pitchFamily="34" charset="0"/>
                <a:ea typeface="Microsoft YaHei" pitchFamily="34" charset="-122"/>
                <a:cs typeface="Microsoft YaHei" pitchFamily="34" charset="-120"/>
              </a:rPr>
              <a:t>团队建设可治理系统，个人承担关键判断；新人要从实现者走向系统参与者。</a:t>
            </a:r>
            <a:endParaRPr lang="en-US" sz="1550" dirty="0"/>
          </a:p>
        </p:txBody>
      </p:sp>
      <p:sp>
        <p:nvSpPr>
          <p:cNvPr id="36" name="Text 28"/>
          <p:cNvSpPr/>
          <p:nvPr/>
        </p:nvSpPr>
        <p:spPr>
          <a:xfrm>
            <a:off x="1625559" y="2743131"/>
            <a:ext cx="526783"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团队</a:t>
            </a:r>
            <a:endParaRPr lang="en-US" sz="1200" dirty="0"/>
          </a:p>
        </p:txBody>
      </p:sp>
      <p:sp>
        <p:nvSpPr>
          <p:cNvPr id="37" name="Text 29"/>
          <p:cNvSpPr/>
          <p:nvPr/>
        </p:nvSpPr>
        <p:spPr>
          <a:xfrm>
            <a:off x="1028674" y="3378116"/>
            <a:ext cx="2197807"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Arial" pitchFamily="34" charset="0"/>
                <a:ea typeface="Arial" pitchFamily="34" charset="-122"/>
                <a:cs typeface="Arial" pitchFamily="34" charset="-120"/>
              </a:rPr>
              <a:t>建设可治理交付系统</a:t>
            </a:r>
            <a:endParaRPr lang="en-US" sz="1700" dirty="0"/>
          </a:p>
        </p:txBody>
      </p:sp>
      <p:sp>
        <p:nvSpPr>
          <p:cNvPr id="38" name="Text 30"/>
          <p:cNvSpPr/>
          <p:nvPr/>
        </p:nvSpPr>
        <p:spPr>
          <a:xfrm>
            <a:off x="1269968" y="3987700"/>
            <a:ext cx="1556600"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沉淀工程控制面能力</a:t>
            </a:r>
            <a:endParaRPr lang="en-US" sz="1150" dirty="0"/>
          </a:p>
        </p:txBody>
      </p:sp>
      <p:sp>
        <p:nvSpPr>
          <p:cNvPr id="39" name="Text 31"/>
          <p:cNvSpPr/>
          <p:nvPr/>
        </p:nvSpPr>
        <p:spPr>
          <a:xfrm>
            <a:off x="1269968" y="4381390"/>
            <a:ext cx="2301436"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把构建、轨迹、评审做成证据包</a:t>
            </a:r>
            <a:endParaRPr lang="en-US" sz="1150" dirty="0"/>
          </a:p>
        </p:txBody>
      </p:sp>
      <p:sp>
        <p:nvSpPr>
          <p:cNvPr id="40" name="Text 32"/>
          <p:cNvSpPr/>
          <p:nvPr/>
        </p:nvSpPr>
        <p:spPr>
          <a:xfrm>
            <a:off x="1269968" y="4775081"/>
            <a:ext cx="2748338"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用净时间、返工率、线上风险衡量收益</a:t>
            </a:r>
            <a:endParaRPr lang="en-US" sz="1150" dirty="0"/>
          </a:p>
        </p:txBody>
      </p:sp>
      <p:sp>
        <p:nvSpPr>
          <p:cNvPr id="41" name="Text 33"/>
          <p:cNvSpPr/>
          <p:nvPr/>
        </p:nvSpPr>
        <p:spPr>
          <a:xfrm>
            <a:off x="5321167" y="2743131"/>
            <a:ext cx="526783" cy="220974"/>
          </a:xfrm>
          <a:prstGeom prst="rect">
            <a:avLst/>
          </a:prstGeom>
          <a:noFill/>
          <a:ln/>
        </p:spPr>
        <p:txBody>
          <a:bodyPr wrap="square" lIns="0" tIns="0" rIns="0" bIns="0" rtlCol="0" anchor="t">
            <a:normAutofit/>
          </a:bodyPr>
          <a:lstStyle/>
          <a:p>
            <a:pPr algn="l" indent="0" marL="0">
              <a:buNone/>
            </a:pPr>
            <a:r>
              <a:rPr lang="en-US" sz="1200" b="1" dirty="0">
                <a:solidFill>
                  <a:srgbClr val="FF5A1F"/>
                </a:solidFill>
                <a:latin typeface="Microsoft YaHei" pitchFamily="34" charset="0"/>
                <a:ea typeface="Microsoft YaHei" pitchFamily="34" charset="-122"/>
                <a:cs typeface="Microsoft YaHei" pitchFamily="34" charset="-120"/>
              </a:rPr>
              <a:t>个人</a:t>
            </a:r>
            <a:endParaRPr lang="en-US" sz="1200" dirty="0"/>
          </a:p>
        </p:txBody>
      </p:sp>
      <p:sp>
        <p:nvSpPr>
          <p:cNvPr id="42" name="Text 34"/>
          <p:cNvSpPr/>
          <p:nvPr/>
        </p:nvSpPr>
        <p:spPr>
          <a:xfrm>
            <a:off x="4724282" y="3378116"/>
            <a:ext cx="1757382"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Arial" pitchFamily="34" charset="0"/>
                <a:ea typeface="Arial" pitchFamily="34" charset="-122"/>
                <a:cs typeface="Arial" pitchFamily="34" charset="-120"/>
              </a:rPr>
              <a:t>把判断位置前移</a:t>
            </a:r>
            <a:endParaRPr lang="en-US" sz="1700" dirty="0"/>
          </a:p>
        </p:txBody>
      </p:sp>
      <p:sp>
        <p:nvSpPr>
          <p:cNvPr id="43" name="Text 35"/>
          <p:cNvSpPr/>
          <p:nvPr/>
        </p:nvSpPr>
        <p:spPr>
          <a:xfrm>
            <a:off x="4965576" y="3987700"/>
            <a:ext cx="2152469"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定义目标、非目标和风险边界</a:t>
            </a:r>
            <a:endParaRPr lang="en-US" sz="1150" dirty="0"/>
          </a:p>
        </p:txBody>
      </p:sp>
      <p:sp>
        <p:nvSpPr>
          <p:cNvPr id="44" name="Text 36"/>
          <p:cNvSpPr/>
          <p:nvPr/>
        </p:nvSpPr>
        <p:spPr>
          <a:xfrm>
            <a:off x="4965576" y="4381390"/>
            <a:ext cx="1705567"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核验事实与可信上下文</a:t>
            </a:r>
            <a:endParaRPr lang="en-US" sz="1150" dirty="0"/>
          </a:p>
        </p:txBody>
      </p:sp>
      <p:sp>
        <p:nvSpPr>
          <p:cNvPr id="45" name="Text 37"/>
          <p:cNvSpPr/>
          <p:nvPr/>
        </p:nvSpPr>
        <p:spPr>
          <a:xfrm>
            <a:off x="4965576" y="4775081"/>
            <a:ext cx="1556600"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解释风险并承接责任</a:t>
            </a:r>
            <a:endParaRPr lang="en-US" sz="1150" dirty="0"/>
          </a:p>
        </p:txBody>
      </p:sp>
      <p:sp>
        <p:nvSpPr>
          <p:cNvPr id="46" name="Text 38"/>
          <p:cNvSpPr/>
          <p:nvPr/>
        </p:nvSpPr>
        <p:spPr>
          <a:xfrm>
            <a:off x="9016775" y="2743131"/>
            <a:ext cx="526783" cy="220974"/>
          </a:xfrm>
          <a:prstGeom prst="rect">
            <a:avLst/>
          </a:prstGeom>
          <a:noFill/>
          <a:ln/>
        </p:spPr>
        <p:txBody>
          <a:bodyPr wrap="square" lIns="0" tIns="0" rIns="0" bIns="0" rtlCol="0" anchor="t">
            <a:normAutofit/>
          </a:bodyPr>
          <a:lstStyle/>
          <a:p>
            <a:pPr algn="l" indent="0" marL="0">
              <a:buNone/>
            </a:pPr>
            <a:r>
              <a:rPr lang="en-US" sz="1200" b="1" dirty="0">
                <a:solidFill>
                  <a:srgbClr val="106BEF"/>
                </a:solidFill>
                <a:latin typeface="Microsoft YaHei" pitchFamily="34" charset="0"/>
                <a:ea typeface="Microsoft YaHei" pitchFamily="34" charset="-122"/>
                <a:cs typeface="Microsoft YaHei" pitchFamily="34" charset="-120"/>
              </a:rPr>
              <a:t>新人</a:t>
            </a:r>
            <a:endParaRPr lang="en-US" sz="1200" dirty="0"/>
          </a:p>
        </p:txBody>
      </p:sp>
      <p:sp>
        <p:nvSpPr>
          <p:cNvPr id="47" name="Text 39"/>
          <p:cNvSpPr/>
          <p:nvPr/>
        </p:nvSpPr>
        <p:spPr>
          <a:xfrm>
            <a:off x="8419889" y="3378116"/>
            <a:ext cx="2638232"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Arial" pitchFamily="34" charset="0"/>
                <a:ea typeface="Arial" pitchFamily="34" charset="-122"/>
                <a:cs typeface="Arial" pitchFamily="34" charset="-120"/>
              </a:rPr>
              <a:t>从实现者走向系统参与者</a:t>
            </a:r>
            <a:endParaRPr lang="en-US" sz="1700" dirty="0"/>
          </a:p>
        </p:txBody>
      </p:sp>
      <p:sp>
        <p:nvSpPr>
          <p:cNvPr id="48" name="Text 40"/>
          <p:cNvSpPr/>
          <p:nvPr/>
        </p:nvSpPr>
        <p:spPr>
          <a:xfrm>
            <a:off x="8661183" y="3987700"/>
            <a:ext cx="2301436"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理解需求、用户场景、产品定位</a:t>
            </a:r>
            <a:endParaRPr lang="en-US" sz="1150" dirty="0"/>
          </a:p>
        </p:txBody>
      </p:sp>
      <p:sp>
        <p:nvSpPr>
          <p:cNvPr id="49" name="Text 41"/>
          <p:cNvSpPr/>
          <p:nvPr/>
        </p:nvSpPr>
        <p:spPr>
          <a:xfrm>
            <a:off x="8661183" y="4381390"/>
            <a:ext cx="1854535"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理解架构约束和运行证据</a:t>
            </a:r>
            <a:endParaRPr lang="en-US" sz="1150" dirty="0"/>
          </a:p>
        </p:txBody>
      </p:sp>
      <p:sp>
        <p:nvSpPr>
          <p:cNvPr id="50" name="Text 42"/>
          <p:cNvSpPr/>
          <p:nvPr/>
        </p:nvSpPr>
        <p:spPr>
          <a:xfrm>
            <a:off x="8661183" y="4775081"/>
            <a:ext cx="2593529" cy="211767"/>
          </a:xfrm>
          <a:prstGeom prst="rect">
            <a:avLst/>
          </a:prstGeom>
          <a:noFill/>
          <a:ln/>
        </p:spPr>
        <p:txBody>
          <a:bodyPr wrap="square" lIns="0" tIns="0" rIns="0" bIns="0" rtlCol="0" anchor="t">
            <a:normAutofit/>
          </a:bodyPr>
          <a:lstStyle/>
          <a:p>
            <a:pPr algn="l" indent="0" marL="0">
              <a:buNone/>
            </a:pPr>
            <a:r>
              <a:rPr lang="en-US" sz="1150" b="1" dirty="0">
                <a:solidFill>
                  <a:srgbClr val="050608"/>
                </a:solidFill>
                <a:latin typeface="Microsoft YaHei" pitchFamily="34" charset="0"/>
                <a:ea typeface="Microsoft YaHei" pitchFamily="34" charset="-122"/>
                <a:cs typeface="Microsoft YaHei" pitchFamily="34" charset="-120"/>
              </a:rPr>
              <a:t>让 AI 放大专业判断，而非替代判断</a:t>
            </a:r>
            <a:endParaRPr lang="en-US" sz="1150" dirty="0"/>
          </a:p>
        </p:txBody>
      </p:sp>
      <p:sp>
        <p:nvSpPr>
          <p:cNvPr id="51" name="Text 43"/>
          <p:cNvSpPr/>
          <p:nvPr/>
        </p:nvSpPr>
        <p:spPr>
          <a:xfrm>
            <a:off x="1079473" y="6060447"/>
            <a:ext cx="10032749" cy="248596"/>
          </a:xfrm>
          <a:prstGeom prst="rect">
            <a:avLst/>
          </a:prstGeom>
          <a:noFill/>
          <a:ln/>
        </p:spPr>
        <p:txBody>
          <a:bodyPr wrap="square" lIns="0" tIns="0" rIns="0" bIns="0" rtlCol="0" anchor="ctr">
            <a:normAutofit/>
          </a:bodyPr>
          <a:lstStyle/>
          <a:p>
            <a:pPr algn="ctr" indent="0" marL="0">
              <a:buNone/>
            </a:pPr>
            <a:r>
              <a:rPr lang="en-US" sz="1350" b="1" dirty="0">
                <a:solidFill>
                  <a:srgbClr val="050608"/>
                </a:solidFill>
                <a:latin typeface="Microsoft YaHei" pitchFamily="34" charset="0"/>
                <a:ea typeface="Microsoft YaHei" pitchFamily="34" charset="-122"/>
                <a:cs typeface="Microsoft YaHei" pitchFamily="34" charset="-120"/>
              </a:rPr>
              <a:t>开发者价值从实现动作扩展到问题定义、系统理解、证据判断与责任承接。</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7"/>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8\slide-12-layer-01.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1385265" y="4451239"/>
            <a:ext cx="88898" cy="88898"/>
          </a:xfrm>
          <a:prstGeom prst="ellipse">
            <a:avLst/>
          </a:prstGeom>
          <a:solidFill>
            <a:srgbClr val="FFFFFF"/>
          </a:solidFill>
          <a:ln w="12700">
            <a:solidFill>
              <a:srgbClr val="C4C6C1"/>
            </a:solidFill>
            <a:prstDash val="solid"/>
          </a:ln>
        </p:spPr>
      </p:sp>
      <p:sp>
        <p:nvSpPr>
          <p:cNvPr id="4" name="Shape 1"/>
          <p:cNvSpPr/>
          <p:nvPr/>
        </p:nvSpPr>
        <p:spPr>
          <a:xfrm>
            <a:off x="11143971" y="5162421"/>
            <a:ext cx="88898" cy="88898"/>
          </a:xfrm>
          <a:prstGeom prst="ellipse">
            <a:avLst/>
          </a:prstGeom>
          <a:solidFill>
            <a:srgbClr val="106BEF"/>
          </a:solidFill>
          <a:ln w="12700">
            <a:solidFill>
              <a:srgbClr val="FFFFFF">
                <a:alpha val="0"/>
              </a:srgbClr>
            </a:solidFill>
            <a:prstDash val="solid"/>
          </a:ln>
        </p:spPr>
      </p:sp>
      <p:sp>
        <p:nvSpPr>
          <p:cNvPr id="5" name="Shape 2"/>
          <p:cNvSpPr/>
          <p:nvPr/>
        </p:nvSpPr>
        <p:spPr>
          <a:xfrm>
            <a:off x="11696408" y="3911502"/>
            <a:ext cx="76198" cy="76198"/>
          </a:xfrm>
          <a:prstGeom prst="ellipse">
            <a:avLst/>
          </a:prstGeom>
          <a:solidFill>
            <a:srgbClr val="FF5A1F"/>
          </a:solidFill>
          <a:ln w="12700">
            <a:solidFill>
              <a:srgbClr val="FFFFFF">
                <a:alpha val="0"/>
              </a:srgbClr>
            </a:solidFill>
            <a:prstDash val="solid"/>
          </a:ln>
        </p:spPr>
      </p:sp>
      <p:pic>
        <p:nvPicPr>
          <p:cNvPr id="6" name="Image 1" descr="D:\workspace\worktree_for_vcoder\BitFun\docs\report\ai-redefines-software-development-presentation\agents_are_the_new_Agile-slides-png-v0.18\slide-12-layer-05.png">    </p:cNvPr>
          <p:cNvPicPr>
            <a:picLocks noChangeAspect="1"/>
          </p:cNvPicPr>
          <p:nvPr/>
        </p:nvPicPr>
        <p:blipFill>
          <a:blip r:embed="rId2"/>
          <a:stretch>
            <a:fillRect/>
          </a:stretch>
        </p:blipFill>
        <p:spPr>
          <a:xfrm>
            <a:off x="0" y="0"/>
            <a:ext cx="12191695" cy="6858000"/>
          </a:xfrm>
          <a:prstGeom prst="rect">
            <a:avLst/>
          </a:prstGeom>
        </p:spPr>
      </p:pic>
      <p:sp>
        <p:nvSpPr>
          <p:cNvPr id="7" name="Shape 3"/>
          <p:cNvSpPr/>
          <p:nvPr/>
        </p:nvSpPr>
        <p:spPr>
          <a:xfrm>
            <a:off x="920727" y="5410065"/>
            <a:ext cx="63498" cy="63498"/>
          </a:xfrm>
          <a:prstGeom prst="ellipse">
            <a:avLst/>
          </a:prstGeom>
          <a:solidFill>
            <a:srgbClr val="FF5A1F"/>
          </a:solidFill>
          <a:ln w="12700">
            <a:solidFill>
              <a:srgbClr val="FFFFFF">
                <a:alpha val="0"/>
              </a:srgbClr>
            </a:solidFill>
            <a:prstDash val="solid"/>
          </a:ln>
        </p:spPr>
      </p:sp>
      <p:pic>
        <p:nvPicPr>
          <p:cNvPr id="8" name="Image 2" descr="D:\workspace\worktree_for_vcoder\BitFun\docs\report\ai-redefines-software-development-presentation\agents_are_the_new_Agile-slides-png-v0.18\slide-12-layer-07.png">    </p:cNvPr>
          <p:cNvPicPr>
            <a:picLocks noChangeAspect="1"/>
          </p:cNvPicPr>
          <p:nvPr/>
        </p:nvPicPr>
        <p:blipFill>
          <a:blip r:embed="rId3"/>
          <a:stretch>
            <a:fillRect/>
          </a:stretch>
        </p:blipFill>
        <p:spPr>
          <a:xfrm>
            <a:off x="0" y="0"/>
            <a:ext cx="12191695" cy="6858000"/>
          </a:xfrm>
          <a:prstGeom prst="rect">
            <a:avLst/>
          </a:prstGeom>
        </p:spPr>
      </p:pic>
      <p:sp>
        <p:nvSpPr>
          <p:cNvPr id="9" name="Shape 4"/>
          <p:cNvSpPr/>
          <p:nvPr/>
        </p:nvSpPr>
        <p:spPr>
          <a:xfrm>
            <a:off x="609585" y="2197045"/>
            <a:ext cx="952476" cy="0"/>
          </a:xfrm>
          <a:prstGeom prst="line">
            <a:avLst/>
          </a:prstGeom>
          <a:noFill/>
          <a:ln w="57149">
            <a:solidFill>
              <a:srgbClr val="106BEF"/>
            </a:solidFill>
            <a:prstDash val="solid"/>
            <a:headEnd type="none"/>
            <a:tailEnd type="none"/>
          </a:ln>
        </p:spPr>
      </p:sp>
      <p:sp>
        <p:nvSpPr>
          <p:cNvPr id="10" name="Shape 5"/>
          <p:cNvSpPr/>
          <p:nvPr/>
        </p:nvSpPr>
        <p:spPr>
          <a:xfrm>
            <a:off x="1714457" y="2158946"/>
            <a:ext cx="76198" cy="76198"/>
          </a:xfrm>
          <a:prstGeom prst="ellipse">
            <a:avLst/>
          </a:prstGeom>
          <a:solidFill>
            <a:srgbClr val="FF5A1F"/>
          </a:solidFill>
          <a:ln w="12700">
            <a:solidFill>
              <a:srgbClr val="FFFFFF">
                <a:alpha val="0"/>
              </a:srgbClr>
            </a:solidFill>
            <a:prstDash val="solid"/>
          </a:ln>
        </p:spPr>
      </p:sp>
      <p:sp>
        <p:nvSpPr>
          <p:cNvPr id="11" name="Shape 6"/>
          <p:cNvSpPr/>
          <p:nvPr/>
        </p:nvSpPr>
        <p:spPr>
          <a:xfrm>
            <a:off x="1003275" y="3124122"/>
            <a:ext cx="10185145" cy="2133547"/>
          </a:xfrm>
          <a:prstGeom prst="roundRect">
            <a:avLst/>
          </a:prstGeom>
          <a:solidFill>
            <a:srgbClr val="FFFFFF"/>
          </a:solidFill>
          <a:ln w="12700">
            <a:solidFill>
              <a:srgbClr val="C4C6C1"/>
            </a:solidFill>
            <a:prstDash val="solid"/>
          </a:ln>
          <a:effectLst>
            <a:outerShdw sx="100000" sy="100000" kx="0" ky="0" algn="bl" rotWithShape="0" blurRad="20320" dist="50800" dir="2700000">
              <a:srgbClr val="4B5563">
                <a:alpha val="13000"/>
              </a:srgbClr>
            </a:outerShdw>
          </a:effectLst>
        </p:spPr>
      </p:sp>
      <p:sp>
        <p:nvSpPr>
          <p:cNvPr id="12" name="Shape 7"/>
          <p:cNvSpPr/>
          <p:nvPr/>
        </p:nvSpPr>
        <p:spPr>
          <a:xfrm>
            <a:off x="7111822" y="1523962"/>
            <a:ext cx="2793930" cy="1079473"/>
          </a:xfrm>
          <a:prstGeom prst="roundRect">
            <a:avLst/>
          </a:prstGeom>
          <a:solidFill>
            <a:srgbClr val="FBFAF7"/>
          </a:solidFill>
          <a:ln w="12700">
            <a:solidFill>
              <a:srgbClr val="C4C6C1"/>
            </a:solidFill>
            <a:prstDash val="solid"/>
          </a:ln>
        </p:spPr>
      </p:sp>
      <p:pic>
        <p:nvPicPr>
          <p:cNvPr id="13" name="Image 3" descr="D:\workspace\worktree_for_vcoder\BitFun\docs\report\ai-redefines-software-development-presentation\agents_are_the_new_Agile-slides-png-v0.18\slide-12-layer-12.png">    </p:cNvPr>
          <p:cNvPicPr>
            <a:picLocks noChangeAspect="1"/>
          </p:cNvPicPr>
          <p:nvPr/>
        </p:nvPicPr>
        <p:blipFill>
          <a:blip r:embed="rId4"/>
          <a:stretch>
            <a:fillRect/>
          </a:stretch>
        </p:blipFill>
        <p:spPr>
          <a:xfrm>
            <a:off x="0" y="0"/>
            <a:ext cx="12191695" cy="6858000"/>
          </a:xfrm>
          <a:prstGeom prst="rect">
            <a:avLst/>
          </a:prstGeom>
        </p:spPr>
      </p:pic>
      <p:sp>
        <p:nvSpPr>
          <p:cNvPr id="14" name="Shape 8"/>
          <p:cNvSpPr/>
          <p:nvPr/>
        </p:nvSpPr>
        <p:spPr>
          <a:xfrm>
            <a:off x="3555911" y="5384665"/>
            <a:ext cx="5079873" cy="368291"/>
          </a:xfrm>
          <a:prstGeom prst="roundRect">
            <a:avLst/>
          </a:prstGeom>
          <a:solidFill>
            <a:srgbClr val="FBFAF7"/>
          </a:solidFill>
          <a:ln w="12700">
            <a:solidFill>
              <a:srgbClr val="C4C6C1"/>
            </a:solidFill>
            <a:prstDash val="solid"/>
          </a:ln>
        </p:spPr>
      </p:sp>
      <p:sp>
        <p:nvSpPr>
          <p:cNvPr id="15" name="Text 9"/>
          <p:cNvSpPr/>
          <p:nvPr/>
        </p:nvSpPr>
        <p:spPr>
          <a:xfrm>
            <a:off x="609585" y="965176"/>
            <a:ext cx="2397827" cy="211767"/>
          </a:xfrm>
          <a:prstGeom prst="rect">
            <a:avLst/>
          </a:prstGeom>
          <a:noFill/>
          <a:ln/>
        </p:spPr>
        <p:txBody>
          <a:bodyPr wrap="square" lIns="0" tIns="0" rIns="0" bIns="0" rtlCol="0" anchor="t">
            <a:normAutofit/>
          </a:bodyPr>
          <a:lstStyle/>
          <a:p>
            <a:pPr algn="l" indent="0" marL="0">
              <a:buNone/>
            </a:pPr>
            <a:r>
              <a:rPr lang="en-US" sz="1150" b="1" dirty="0">
                <a:solidFill>
                  <a:srgbClr val="106BEF"/>
                </a:solidFill>
                <a:latin typeface="Microsoft YaHei" pitchFamily="34" charset="0"/>
                <a:ea typeface="Microsoft YaHei" pitchFamily="34" charset="-122"/>
                <a:cs typeface="Microsoft YaHei" pitchFamily="34" charset="-120"/>
              </a:rPr>
              <a:t>AI 编程、工程治理、开发者角色</a:t>
            </a:r>
            <a:endParaRPr lang="en-US" sz="1150" dirty="0"/>
          </a:p>
        </p:txBody>
      </p:sp>
      <p:sp>
        <p:nvSpPr>
          <p:cNvPr id="16" name="Text 10"/>
          <p:cNvSpPr/>
          <p:nvPr/>
        </p:nvSpPr>
        <p:spPr>
          <a:xfrm>
            <a:off x="609585" y="1574761"/>
            <a:ext cx="993115" cy="552436"/>
          </a:xfrm>
          <a:prstGeom prst="rect">
            <a:avLst/>
          </a:prstGeom>
          <a:noFill/>
          <a:ln/>
        </p:spPr>
        <p:txBody>
          <a:bodyPr wrap="square" lIns="0" tIns="0" rIns="0" bIns="0" rtlCol="0" anchor="t">
            <a:normAutofit/>
          </a:bodyPr>
          <a:lstStyle/>
          <a:p>
            <a:pPr algn="l" indent="0" marL="0">
              <a:buNone/>
            </a:pPr>
            <a:r>
              <a:rPr lang="en-US" sz="3000" b="1" dirty="0">
                <a:solidFill>
                  <a:srgbClr val="050608"/>
                </a:solidFill>
                <a:latin typeface="Microsoft YaHei" pitchFamily="34" charset="0"/>
                <a:ea typeface="Microsoft YaHei" pitchFamily="34" charset="-122"/>
                <a:cs typeface="Microsoft YaHei" pitchFamily="34" charset="-120"/>
              </a:rPr>
              <a:t>谢谢</a:t>
            </a:r>
            <a:endParaRPr lang="en-US" sz="3000" dirty="0"/>
          </a:p>
        </p:txBody>
      </p:sp>
      <p:sp>
        <p:nvSpPr>
          <p:cNvPr id="17" name="Text 11"/>
          <p:cNvSpPr/>
          <p:nvPr/>
        </p:nvSpPr>
        <p:spPr>
          <a:xfrm>
            <a:off x="1460463" y="3479713"/>
            <a:ext cx="1537170" cy="313047"/>
          </a:xfrm>
          <a:prstGeom prst="rect">
            <a:avLst/>
          </a:prstGeom>
          <a:noFill/>
          <a:ln/>
        </p:spPr>
        <p:txBody>
          <a:bodyPr wrap="square" lIns="0" tIns="0" rIns="0" bIns="0" rtlCol="0" anchor="t">
            <a:normAutofit/>
          </a:bodyPr>
          <a:lstStyle/>
          <a:p>
            <a:pPr algn="l" indent="0" marL="0">
              <a:buNone/>
            </a:pPr>
            <a:r>
              <a:rPr lang="en-US" sz="1700" b="1" dirty="0">
                <a:solidFill>
                  <a:srgbClr val="050608"/>
                </a:solidFill>
                <a:latin typeface="Microsoft YaHei" pitchFamily="34" charset="0"/>
                <a:ea typeface="Microsoft YaHei" pitchFamily="34" charset="-122"/>
                <a:cs typeface="Microsoft YaHei" pitchFamily="34" charset="-120"/>
              </a:rPr>
              <a:t>三个未来追问</a:t>
            </a:r>
            <a:endParaRPr lang="en-US" sz="1700" dirty="0"/>
          </a:p>
        </p:txBody>
      </p:sp>
      <p:sp>
        <p:nvSpPr>
          <p:cNvPr id="18" name="Text 12"/>
          <p:cNvSpPr/>
          <p:nvPr/>
        </p:nvSpPr>
        <p:spPr>
          <a:xfrm>
            <a:off x="1549361" y="3962301"/>
            <a:ext cx="507987" cy="257804"/>
          </a:xfrm>
          <a:prstGeom prst="rect">
            <a:avLst/>
          </a:prstGeom>
          <a:noFill/>
          <a:ln/>
        </p:spPr>
        <p:txBody>
          <a:bodyPr wrap="square" lIns="0" tIns="0" rIns="0" bIns="0" rtlCol="0" anchor="t">
            <a:normAutofit/>
          </a:bodyPr>
          <a:lstStyle/>
          <a:p>
            <a:pPr algn="l" indent="0" marL="0">
              <a:buNone/>
            </a:pPr>
            <a:r>
              <a:rPr lang="en-US" sz="1400" b="1" dirty="0">
                <a:solidFill>
                  <a:srgbClr val="106BEF"/>
                </a:solidFill>
                <a:latin typeface="Arial" pitchFamily="34" charset="0"/>
                <a:ea typeface="Arial" pitchFamily="34" charset="-122"/>
                <a:cs typeface="Arial" pitchFamily="34" charset="-120"/>
              </a:rPr>
              <a:t>01</a:t>
            </a:r>
            <a:endParaRPr lang="en-US" sz="1400" dirty="0"/>
          </a:p>
        </p:txBody>
      </p:sp>
      <p:sp>
        <p:nvSpPr>
          <p:cNvPr id="19" name="Text 13"/>
          <p:cNvSpPr/>
          <p:nvPr/>
        </p:nvSpPr>
        <p:spPr>
          <a:xfrm>
            <a:off x="1993850" y="3962301"/>
            <a:ext cx="1723601" cy="257804"/>
          </a:xfrm>
          <a:prstGeom prst="rect">
            <a:avLst/>
          </a:prstGeom>
          <a:noFill/>
          <a:ln/>
        </p:spPr>
        <p:txBody>
          <a:bodyPr wrap="square" lIns="0" tIns="0" rIns="0" bIns="0" rtlCol="0" anchor="t">
            <a:normAutofit/>
          </a:bodyPr>
          <a:lstStyle/>
          <a:p>
            <a:pPr algn="l" indent="0" marL="0">
              <a:buNone/>
            </a:pPr>
            <a:r>
              <a:rPr lang="en-US" sz="1400" b="1" dirty="0">
                <a:solidFill>
                  <a:srgbClr val="050608"/>
                </a:solidFill>
                <a:latin typeface="Microsoft YaHei" pitchFamily="34" charset="0"/>
                <a:ea typeface="Microsoft YaHei" pitchFamily="34" charset="-122"/>
                <a:cs typeface="Microsoft YaHei" pitchFamily="34" charset="-120"/>
              </a:rPr>
              <a:t>IDE 会走到哪里？</a:t>
            </a:r>
            <a:endParaRPr lang="en-US" sz="1400" dirty="0"/>
          </a:p>
        </p:txBody>
      </p:sp>
      <p:sp>
        <p:nvSpPr>
          <p:cNvPr id="20" name="Text 14"/>
          <p:cNvSpPr/>
          <p:nvPr/>
        </p:nvSpPr>
        <p:spPr>
          <a:xfrm>
            <a:off x="3962301" y="3981350"/>
            <a:ext cx="2993061" cy="202560"/>
          </a:xfrm>
          <a:prstGeom prst="rect">
            <a:avLst/>
          </a:prstGeom>
          <a:noFill/>
          <a:ln/>
        </p:spPr>
        <p:txBody>
          <a:bodyPr wrap="square" lIns="0" tIns="0" rIns="0" bIns="0" rtlCol="0" anchor="t">
            <a:normAutofit/>
          </a:bodyPr>
          <a:lstStyle/>
          <a:p>
            <a:pPr algn="l" indent="0" marL="0">
              <a:buNone/>
            </a:pPr>
            <a:r>
              <a:rPr lang="en-US" sz="1100" b="1" dirty="0">
                <a:solidFill>
                  <a:srgbClr val="5F6670"/>
                </a:solidFill>
                <a:latin typeface="Microsoft YaHei" pitchFamily="34" charset="0"/>
                <a:ea typeface="Microsoft YaHei" pitchFamily="34" charset="-122"/>
                <a:cs typeface="Microsoft YaHei" pitchFamily="34" charset="-120"/>
              </a:rPr>
              <a:t>从编辑器，走向 Agent 运行面与工程控制面</a:t>
            </a:r>
            <a:endParaRPr lang="en-US" sz="1100" dirty="0"/>
          </a:p>
        </p:txBody>
      </p:sp>
      <p:sp>
        <p:nvSpPr>
          <p:cNvPr id="21" name="Text 15"/>
          <p:cNvSpPr/>
          <p:nvPr/>
        </p:nvSpPr>
        <p:spPr>
          <a:xfrm>
            <a:off x="1549361" y="4470288"/>
            <a:ext cx="507987" cy="257804"/>
          </a:xfrm>
          <a:prstGeom prst="rect">
            <a:avLst/>
          </a:prstGeom>
          <a:noFill/>
          <a:ln/>
        </p:spPr>
        <p:txBody>
          <a:bodyPr wrap="square" lIns="0" tIns="0" rIns="0" bIns="0" rtlCol="0" anchor="t">
            <a:normAutofit/>
          </a:bodyPr>
          <a:lstStyle/>
          <a:p>
            <a:pPr algn="l" indent="0" marL="0">
              <a:buNone/>
            </a:pPr>
            <a:r>
              <a:rPr lang="en-US" sz="1400" b="1" dirty="0">
                <a:solidFill>
                  <a:srgbClr val="FF5A1F"/>
                </a:solidFill>
                <a:latin typeface="Arial" pitchFamily="34" charset="0"/>
                <a:ea typeface="Arial" pitchFamily="34" charset="-122"/>
                <a:cs typeface="Arial" pitchFamily="34" charset="-120"/>
              </a:rPr>
              <a:t>02</a:t>
            </a:r>
            <a:endParaRPr lang="en-US" sz="1400" dirty="0"/>
          </a:p>
        </p:txBody>
      </p:sp>
      <p:sp>
        <p:nvSpPr>
          <p:cNvPr id="22" name="Text 16"/>
          <p:cNvSpPr/>
          <p:nvPr/>
        </p:nvSpPr>
        <p:spPr>
          <a:xfrm>
            <a:off x="1993850" y="4470288"/>
            <a:ext cx="1684486" cy="257804"/>
          </a:xfrm>
          <a:prstGeom prst="rect">
            <a:avLst/>
          </a:prstGeom>
          <a:noFill/>
          <a:ln/>
        </p:spPr>
        <p:txBody>
          <a:bodyPr wrap="square" lIns="0" tIns="0" rIns="0" bIns="0" rtlCol="0" anchor="t">
            <a:normAutofit/>
          </a:bodyPr>
          <a:lstStyle/>
          <a:p>
            <a:pPr algn="l" indent="0" marL="0">
              <a:buNone/>
            </a:pPr>
            <a:r>
              <a:rPr lang="en-US" sz="1400" b="1" dirty="0">
                <a:solidFill>
                  <a:srgbClr val="050608"/>
                </a:solidFill>
                <a:latin typeface="Microsoft YaHei" pitchFamily="34" charset="0"/>
                <a:ea typeface="Microsoft YaHei" pitchFamily="34" charset="-122"/>
                <a:cs typeface="Microsoft YaHei" pitchFamily="34" charset="-120"/>
              </a:rPr>
              <a:t>“信任”如何量化？</a:t>
            </a:r>
            <a:endParaRPr lang="en-US" sz="1400" dirty="0"/>
          </a:p>
        </p:txBody>
      </p:sp>
      <p:sp>
        <p:nvSpPr>
          <p:cNvPr id="23" name="Text 17"/>
          <p:cNvSpPr/>
          <p:nvPr/>
        </p:nvSpPr>
        <p:spPr>
          <a:xfrm>
            <a:off x="3962301" y="4489338"/>
            <a:ext cx="3065703" cy="202560"/>
          </a:xfrm>
          <a:prstGeom prst="rect">
            <a:avLst/>
          </a:prstGeom>
          <a:noFill/>
          <a:ln/>
        </p:spPr>
        <p:txBody>
          <a:bodyPr wrap="square" lIns="0" tIns="0" rIns="0" bIns="0" rtlCol="0" anchor="t">
            <a:normAutofit/>
          </a:bodyPr>
          <a:lstStyle/>
          <a:p>
            <a:pPr algn="l" indent="0" marL="0">
              <a:buNone/>
            </a:pPr>
            <a:r>
              <a:rPr lang="en-US" sz="1100" b="1" dirty="0">
                <a:solidFill>
                  <a:srgbClr val="5F6670"/>
                </a:solidFill>
                <a:latin typeface="Microsoft YaHei" pitchFamily="34" charset="0"/>
                <a:ea typeface="Microsoft YaHei" pitchFamily="34" charset="-122"/>
                <a:cs typeface="Microsoft YaHei" pitchFamily="34" charset="-120"/>
              </a:rPr>
              <a:t>当产出快速放大，稀缺的是证据、责任与回滚</a:t>
            </a:r>
            <a:endParaRPr lang="en-US" sz="1100" dirty="0"/>
          </a:p>
        </p:txBody>
      </p:sp>
      <p:sp>
        <p:nvSpPr>
          <p:cNvPr id="24" name="Text 18"/>
          <p:cNvSpPr/>
          <p:nvPr/>
        </p:nvSpPr>
        <p:spPr>
          <a:xfrm>
            <a:off x="1549361" y="4978276"/>
            <a:ext cx="507987" cy="257804"/>
          </a:xfrm>
          <a:prstGeom prst="rect">
            <a:avLst/>
          </a:prstGeom>
          <a:noFill/>
          <a:ln/>
        </p:spPr>
        <p:txBody>
          <a:bodyPr wrap="square" lIns="0" tIns="0" rIns="0" bIns="0" rtlCol="0" anchor="t">
            <a:normAutofit/>
          </a:bodyPr>
          <a:lstStyle/>
          <a:p>
            <a:pPr algn="l" indent="0" marL="0">
              <a:buNone/>
            </a:pPr>
            <a:r>
              <a:rPr lang="en-US" sz="1400" b="1" dirty="0">
                <a:solidFill>
                  <a:srgbClr val="106BEF"/>
                </a:solidFill>
                <a:latin typeface="Arial" pitchFamily="34" charset="0"/>
                <a:ea typeface="Arial" pitchFamily="34" charset="-122"/>
                <a:cs typeface="Arial" pitchFamily="34" charset="-120"/>
              </a:rPr>
              <a:t>03</a:t>
            </a:r>
            <a:endParaRPr lang="en-US" sz="1400" dirty="0"/>
          </a:p>
        </p:txBody>
      </p:sp>
      <p:sp>
        <p:nvSpPr>
          <p:cNvPr id="25" name="Text 19"/>
          <p:cNvSpPr/>
          <p:nvPr/>
        </p:nvSpPr>
        <p:spPr>
          <a:xfrm>
            <a:off x="1993850" y="4978276"/>
            <a:ext cx="1485355" cy="257804"/>
          </a:xfrm>
          <a:prstGeom prst="rect">
            <a:avLst/>
          </a:prstGeom>
          <a:noFill/>
          <a:ln/>
        </p:spPr>
        <p:txBody>
          <a:bodyPr wrap="square" lIns="0" tIns="0" rIns="0" bIns="0" rtlCol="0" anchor="t">
            <a:normAutofit/>
          </a:bodyPr>
          <a:lstStyle/>
          <a:p>
            <a:pPr algn="l" indent="0" marL="0">
              <a:buNone/>
            </a:pPr>
            <a:r>
              <a:rPr lang="en-US" sz="1400" b="1" dirty="0">
                <a:solidFill>
                  <a:srgbClr val="050608"/>
                </a:solidFill>
                <a:latin typeface="Microsoft YaHei" pitchFamily="34" charset="0"/>
                <a:ea typeface="Microsoft YaHei" pitchFamily="34" charset="-122"/>
                <a:cs typeface="Microsoft YaHei" pitchFamily="34" charset="-120"/>
              </a:rPr>
              <a:t>人要站在哪里？</a:t>
            </a:r>
            <a:endParaRPr lang="en-US" sz="1400" dirty="0"/>
          </a:p>
        </p:txBody>
      </p:sp>
      <p:sp>
        <p:nvSpPr>
          <p:cNvPr id="26" name="Text 20"/>
          <p:cNvSpPr/>
          <p:nvPr/>
        </p:nvSpPr>
        <p:spPr>
          <a:xfrm>
            <a:off x="3962301" y="4997325"/>
            <a:ext cx="3350684" cy="202560"/>
          </a:xfrm>
          <a:prstGeom prst="rect">
            <a:avLst/>
          </a:prstGeom>
          <a:noFill/>
          <a:ln/>
        </p:spPr>
        <p:txBody>
          <a:bodyPr wrap="square" lIns="0" tIns="0" rIns="0" bIns="0" rtlCol="0" anchor="t">
            <a:normAutofit/>
          </a:bodyPr>
          <a:lstStyle/>
          <a:p>
            <a:pPr algn="l" indent="0" marL="0">
              <a:buNone/>
            </a:pPr>
            <a:r>
              <a:rPr lang="en-US" sz="1100" b="1" dirty="0">
                <a:solidFill>
                  <a:srgbClr val="5F6670"/>
                </a:solidFill>
                <a:latin typeface="Microsoft YaHei" pitchFamily="34" charset="0"/>
                <a:ea typeface="Microsoft YaHei" pitchFamily="34" charset="-122"/>
                <a:cs typeface="Microsoft YaHei" pitchFamily="34" charset="-120"/>
              </a:rPr>
              <a:t>从实现动作，转向问题定义、风险解释和最终责任</a:t>
            </a:r>
            <a:endParaRPr lang="en-US" sz="1100" dirty="0"/>
          </a:p>
        </p:txBody>
      </p:sp>
      <p:sp>
        <p:nvSpPr>
          <p:cNvPr id="27" name="Text 21"/>
          <p:cNvSpPr/>
          <p:nvPr/>
        </p:nvSpPr>
        <p:spPr>
          <a:xfrm>
            <a:off x="7442014" y="1803355"/>
            <a:ext cx="874246" cy="497193"/>
          </a:xfrm>
          <a:prstGeom prst="rect">
            <a:avLst/>
          </a:prstGeom>
          <a:noFill/>
          <a:ln/>
        </p:spPr>
        <p:txBody>
          <a:bodyPr wrap="square" lIns="0" tIns="0" rIns="0" bIns="0" rtlCol="0" anchor="t">
            <a:normAutofit/>
          </a:bodyPr>
          <a:lstStyle/>
          <a:p>
            <a:pPr algn="l" indent="0" marL="0">
              <a:buNone/>
            </a:pPr>
            <a:r>
              <a:rPr lang="en-US" sz="2700" b="1" dirty="0">
                <a:solidFill>
                  <a:srgbClr val="106BEF"/>
                </a:solidFill>
                <a:latin typeface="Arial" pitchFamily="34" charset="0"/>
                <a:ea typeface="Arial" pitchFamily="34" charset="-122"/>
                <a:cs typeface="Arial" pitchFamily="34" charset="-120"/>
              </a:rPr>
              <a:t>Q&amp;A</a:t>
            </a:r>
            <a:endParaRPr lang="en-US" sz="2700" dirty="0"/>
          </a:p>
        </p:txBody>
      </p:sp>
      <p:sp>
        <p:nvSpPr>
          <p:cNvPr id="28" name="Text 22"/>
          <p:cNvSpPr/>
          <p:nvPr/>
        </p:nvSpPr>
        <p:spPr>
          <a:xfrm>
            <a:off x="4186133" y="5492613"/>
            <a:ext cx="3819430" cy="230182"/>
          </a:xfrm>
          <a:prstGeom prst="rect">
            <a:avLst/>
          </a:prstGeom>
          <a:noFill/>
          <a:ln/>
        </p:spPr>
        <p:txBody>
          <a:bodyPr wrap="square" lIns="0" tIns="0" rIns="0" bIns="0" rtlCol="0" anchor="t">
            <a:normAutofit/>
          </a:bodyPr>
          <a:lstStyle/>
          <a:p>
            <a:pPr algn="ctr" indent="0" marL="0">
              <a:buNone/>
            </a:pPr>
            <a:r>
              <a:rPr lang="en-US" sz="1250" b="1" dirty="0">
                <a:solidFill>
                  <a:srgbClr val="050608"/>
                </a:solidFill>
                <a:latin typeface="Microsoft YaHei" pitchFamily="34" charset="0"/>
                <a:ea typeface="Microsoft YaHei" pitchFamily="34" charset="-122"/>
                <a:cs typeface="Microsoft YaHei" pitchFamily="34" charset="-120"/>
              </a:rPr>
              <a:t>让概率性的智能能力进入可治理的 Agentic SDLC</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BitFun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如何重新定义软件开发</dc:title>
  <dc:subject>AI 如何重新定义软件开发</dc:subject>
  <dc:creator>BitFun</dc:creator>
  <cp:lastModifiedBy>BitFun</cp:lastModifiedBy>
  <cp:revision>1</cp:revision>
  <dcterms:created xsi:type="dcterms:W3CDTF">2026-05-26T08:15:20Z</dcterms:created>
  <dcterms:modified xsi:type="dcterms:W3CDTF">2026-05-26T08:15:20Z</dcterms:modified>
</cp:coreProperties>
</file>